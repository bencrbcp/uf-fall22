
<file path=[Content_Types].xml><?xml version="1.0" encoding="utf-8"?>
<Types xmlns="http://schemas.openxmlformats.org/package/2006/content-types">
  <Default Extension="crdownload"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63" r:id="rId4"/>
    <p:sldId id="264"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93"/>
    <p:restoredTop sz="94877"/>
  </p:normalViewPr>
  <p:slideViewPr>
    <p:cSldViewPr snapToGrid="0">
      <p:cViewPr varScale="1">
        <p:scale>
          <a:sx n="105" d="100"/>
          <a:sy n="105" d="100"/>
        </p:scale>
        <p:origin x="200" y="2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3B7FA-D9E7-A928-A8F8-218CD87D5B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5851EF-8B75-D80F-3FC4-51C3CF27B0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494CA0-1234-3D79-C2CA-F91C63A8C3C8}"/>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5" name="Footer Placeholder 4">
            <a:extLst>
              <a:ext uri="{FF2B5EF4-FFF2-40B4-BE49-F238E27FC236}">
                <a16:creationId xmlns:a16="http://schemas.microsoft.com/office/drawing/2014/main" id="{62A7622A-5E8C-FD37-E6D5-8315B5523D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AACBB-9706-B5C9-6A6A-A55F979681C5}"/>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182558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9FB1-3270-4990-4CFA-925EA716B3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E54023-B5FC-5943-EB56-302FAB8386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F6B37-A312-D44F-E6CF-24CBA3DA37B5}"/>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5" name="Footer Placeholder 4">
            <a:extLst>
              <a:ext uri="{FF2B5EF4-FFF2-40B4-BE49-F238E27FC236}">
                <a16:creationId xmlns:a16="http://schemas.microsoft.com/office/drawing/2014/main" id="{58BE2903-51BD-0563-C9A6-195D1779B8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DAB65-8AC8-A9CE-036D-B6A59F00BF70}"/>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3155428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906B-8E53-BF4F-24AA-0C9D477866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1E198A-208F-4007-F259-56CC4FE787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34B518-366C-DEC8-FD4F-999B183ABE5C}"/>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5" name="Footer Placeholder 4">
            <a:extLst>
              <a:ext uri="{FF2B5EF4-FFF2-40B4-BE49-F238E27FC236}">
                <a16:creationId xmlns:a16="http://schemas.microsoft.com/office/drawing/2014/main" id="{B296FF3F-ECCE-32A6-4BCE-579A428A7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40448-7E4E-3C6E-F944-CE4552050785}"/>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1590283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6A8D-EE3B-69B7-8503-FDD1611D69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11DA6B-AF4B-B4F3-B579-3832711644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03B94A-9848-DE6B-8762-65717DEBCE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E569A5-5647-7329-CC72-D5D8EB71D5E0}"/>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6" name="Footer Placeholder 5">
            <a:extLst>
              <a:ext uri="{FF2B5EF4-FFF2-40B4-BE49-F238E27FC236}">
                <a16:creationId xmlns:a16="http://schemas.microsoft.com/office/drawing/2014/main" id="{A5FE4EBC-3EFA-0F0F-4B99-120BEE9930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2D029D-FCD0-29E4-9259-9BAB7213CC78}"/>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427031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118E-686C-C525-AC05-5E3B86A3DE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EB8AED-5157-AE35-9D21-666A4A60D4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E5FEC0-46AA-1E6B-9700-291EAFC008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E950CC-7E86-40ED-9699-793947E2EB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D180D-B8CB-E08F-C1A7-B2CDF09B2A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F1553B-07E4-B514-0FD8-31671D4F6372}"/>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8" name="Footer Placeholder 7">
            <a:extLst>
              <a:ext uri="{FF2B5EF4-FFF2-40B4-BE49-F238E27FC236}">
                <a16:creationId xmlns:a16="http://schemas.microsoft.com/office/drawing/2014/main" id="{1D96ACF7-D04E-1422-DBC3-D523B200D7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635D18-CCC7-5DC6-C4FF-51AD1347CF7C}"/>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2221881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65BC-EFF5-F7BC-DBFF-0E965A0473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E6D9B1-BF98-F7CF-2BD8-95306B782D4D}"/>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4" name="Footer Placeholder 3">
            <a:extLst>
              <a:ext uri="{FF2B5EF4-FFF2-40B4-BE49-F238E27FC236}">
                <a16:creationId xmlns:a16="http://schemas.microsoft.com/office/drawing/2014/main" id="{3B5F0B7E-BACA-511C-47CF-A48267B47E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021273-9760-E6C2-E7BA-0D4AC67E7198}"/>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361006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A2E7F2-2124-CBF1-E18B-DE0A0DAECF0B}"/>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3" name="Footer Placeholder 2">
            <a:extLst>
              <a:ext uri="{FF2B5EF4-FFF2-40B4-BE49-F238E27FC236}">
                <a16:creationId xmlns:a16="http://schemas.microsoft.com/office/drawing/2014/main" id="{90C0FA66-3913-FDB1-FEE1-F6EDFD017F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E01D50-0072-9AD9-B017-B9631DAF0DBF}"/>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4277094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F15AE-D709-0BCC-6130-4610E2A1B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978A8A-F54B-CDA1-3D1F-9C205A4AEA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DB2811-DE09-1A8E-5003-49E5DF4FE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EDABB0-498F-A226-5E09-354371AF8D70}"/>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6" name="Footer Placeholder 5">
            <a:extLst>
              <a:ext uri="{FF2B5EF4-FFF2-40B4-BE49-F238E27FC236}">
                <a16:creationId xmlns:a16="http://schemas.microsoft.com/office/drawing/2014/main" id="{93FF0BDA-0972-DCAB-37FF-7398EB8C28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195FB7-328D-DBF1-DACC-7B632A2AB3E5}"/>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3268898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9477-B870-34D4-C003-DDC5323ECA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9ADCCF-7D00-E386-76CF-037DD9178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20DD35-D5A1-6F22-E641-F7C27A412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6BC045-B66A-F486-3C76-C6A30F1DFFB1}"/>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6" name="Footer Placeholder 5">
            <a:extLst>
              <a:ext uri="{FF2B5EF4-FFF2-40B4-BE49-F238E27FC236}">
                <a16:creationId xmlns:a16="http://schemas.microsoft.com/office/drawing/2014/main" id="{BE60BB7C-8B2E-AB2E-156B-B09A7C5D9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0F5E5-A564-C7B2-97F2-5268BE9414DB}"/>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2683808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DEBBF-E741-C23C-A8FE-98927A70F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FA3C41-7ED9-2732-1D28-FD7BF0F1F1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D99200-F205-907F-3D08-5F6BD101AAF0}"/>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5" name="Footer Placeholder 4">
            <a:extLst>
              <a:ext uri="{FF2B5EF4-FFF2-40B4-BE49-F238E27FC236}">
                <a16:creationId xmlns:a16="http://schemas.microsoft.com/office/drawing/2014/main" id="{FC7E307F-6BA7-89D5-E929-FF71F123D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096D5-E52A-78E6-F985-8860AA4D5A9D}"/>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329908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D3C50A-2D2E-CE97-FB9E-D69794327E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A84885-9EC4-6C5D-0A5D-D2B80C5349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702DC4-6502-68B9-572A-BEE8A605D3AD}"/>
              </a:ext>
            </a:extLst>
          </p:cNvPr>
          <p:cNvSpPr>
            <a:spLocks noGrp="1"/>
          </p:cNvSpPr>
          <p:nvPr>
            <p:ph type="dt" sz="half" idx="10"/>
          </p:nvPr>
        </p:nvSpPr>
        <p:spPr/>
        <p:txBody>
          <a:bodyPr/>
          <a:lstStyle/>
          <a:p>
            <a:fld id="{822A7584-7F1B-4549-A2B5-D6BF6B3BD660}" type="datetimeFigureOut">
              <a:rPr lang="en-US" smtClean="0"/>
              <a:t>10/3/22</a:t>
            </a:fld>
            <a:endParaRPr lang="en-US"/>
          </a:p>
        </p:txBody>
      </p:sp>
      <p:sp>
        <p:nvSpPr>
          <p:cNvPr id="5" name="Footer Placeholder 4">
            <a:extLst>
              <a:ext uri="{FF2B5EF4-FFF2-40B4-BE49-F238E27FC236}">
                <a16:creationId xmlns:a16="http://schemas.microsoft.com/office/drawing/2014/main" id="{19C86D2D-CD55-D5AA-5A35-74B9BA271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1C942-B6F3-DB45-F151-51B5F235BB28}"/>
              </a:ext>
            </a:extLst>
          </p:cNvPr>
          <p:cNvSpPr>
            <a:spLocks noGrp="1"/>
          </p:cNvSpPr>
          <p:nvPr>
            <p:ph type="sldNum" sz="quarter" idx="12"/>
          </p:nvPr>
        </p:nvSpPr>
        <p:spPr/>
        <p:txBody>
          <a:bodyPr/>
          <a:lstStyle/>
          <a:p>
            <a:fld id="{E079FCFC-9482-DD45-B404-7CBCBD4F98EF}" type="slidenum">
              <a:rPr lang="en-US" smtClean="0"/>
              <a:t>‹#›</a:t>
            </a:fld>
            <a:endParaRPr lang="en-US"/>
          </a:p>
        </p:txBody>
      </p:sp>
    </p:spTree>
    <p:extLst>
      <p:ext uri="{BB962C8B-B14F-4D97-AF65-F5344CB8AC3E}">
        <p14:creationId xmlns:p14="http://schemas.microsoft.com/office/powerpoint/2010/main" val="203168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7B54A8-155F-A6A5-C84E-A6D107236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B9B5B8-F3D6-1E77-7CDD-7F5D454BEE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CD3A0-5073-754C-7459-5DDCA3F419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2A7584-7F1B-4549-A2B5-D6BF6B3BD660}" type="datetimeFigureOut">
              <a:rPr lang="en-US" smtClean="0"/>
              <a:t>10/3/22</a:t>
            </a:fld>
            <a:endParaRPr lang="en-US"/>
          </a:p>
        </p:txBody>
      </p:sp>
      <p:sp>
        <p:nvSpPr>
          <p:cNvPr id="5" name="Footer Placeholder 4">
            <a:extLst>
              <a:ext uri="{FF2B5EF4-FFF2-40B4-BE49-F238E27FC236}">
                <a16:creationId xmlns:a16="http://schemas.microsoft.com/office/drawing/2014/main" id="{15DEDCDB-2D99-B688-9F64-6A5B140FB9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E3020D-670F-6464-8383-389E154175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79FCFC-9482-DD45-B404-7CBCBD4F98EF}" type="slidenum">
              <a:rPr lang="en-US" smtClean="0"/>
              <a:t>‹#›</a:t>
            </a:fld>
            <a:endParaRPr lang="en-US"/>
          </a:p>
        </p:txBody>
      </p:sp>
    </p:spTree>
    <p:extLst>
      <p:ext uri="{BB962C8B-B14F-4D97-AF65-F5344CB8AC3E}">
        <p14:creationId xmlns:p14="http://schemas.microsoft.com/office/powerpoint/2010/main" val="612402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crdownload"/><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4" descr="A picture containing text&#10;&#10;Description automatically generated">
            <a:extLst>
              <a:ext uri="{FF2B5EF4-FFF2-40B4-BE49-F238E27FC236}">
                <a16:creationId xmlns:a16="http://schemas.microsoft.com/office/drawing/2014/main" id="{BDE640CB-7C5B-C7AB-4621-F12EBF5B9BBE}"/>
              </a:ext>
            </a:extLst>
          </p:cNvPr>
          <p:cNvPicPr>
            <a:picLocks noChangeAspect="1"/>
          </p:cNvPicPr>
          <p:nvPr/>
        </p:nvPicPr>
        <p:blipFill rotWithShape="1">
          <a:blip r:embed="rId2">
            <a:alphaModFix amt="50000"/>
          </a:blip>
          <a:srcRect r="-1" b="6226"/>
          <a:stretch/>
        </p:blipFill>
        <p:spPr>
          <a:xfrm>
            <a:off x="20" y="10"/>
            <a:ext cx="12188930" cy="6857990"/>
          </a:xfrm>
          <a:prstGeom prst="rect">
            <a:avLst/>
          </a:prstGeom>
        </p:spPr>
      </p:pic>
      <p:sp>
        <p:nvSpPr>
          <p:cNvPr id="2" name="Title 1">
            <a:extLst>
              <a:ext uri="{FF2B5EF4-FFF2-40B4-BE49-F238E27FC236}">
                <a16:creationId xmlns:a16="http://schemas.microsoft.com/office/drawing/2014/main" id="{85BB24E3-05AE-EA87-9655-8B8D2171265C}"/>
              </a:ext>
            </a:extLst>
          </p:cNvPr>
          <p:cNvSpPr>
            <a:spLocks noGrp="1"/>
          </p:cNvSpPr>
          <p:nvPr>
            <p:ph type="ctrTitle"/>
          </p:nvPr>
        </p:nvSpPr>
        <p:spPr>
          <a:xfrm>
            <a:off x="1524000" y="1122363"/>
            <a:ext cx="9144000" cy="3063240"/>
          </a:xfrm>
        </p:spPr>
        <p:txBody>
          <a:bodyPr>
            <a:normAutofit/>
          </a:bodyPr>
          <a:lstStyle/>
          <a:p>
            <a:r>
              <a:rPr lang="en-US" sz="6600">
                <a:solidFill>
                  <a:srgbClr val="FFFFFF"/>
                </a:solidFill>
              </a:rPr>
              <a:t>American Masculinity </a:t>
            </a:r>
          </a:p>
        </p:txBody>
      </p:sp>
      <p:sp>
        <p:nvSpPr>
          <p:cNvPr id="3" name="Subtitle 2">
            <a:extLst>
              <a:ext uri="{FF2B5EF4-FFF2-40B4-BE49-F238E27FC236}">
                <a16:creationId xmlns:a16="http://schemas.microsoft.com/office/drawing/2014/main" id="{F8509CCA-D0CF-2552-68D1-81ADB7C66718}"/>
              </a:ext>
            </a:extLst>
          </p:cNvPr>
          <p:cNvSpPr>
            <a:spLocks noGrp="1"/>
          </p:cNvSpPr>
          <p:nvPr>
            <p:ph type="subTitle" idx="1"/>
          </p:nvPr>
        </p:nvSpPr>
        <p:spPr>
          <a:xfrm>
            <a:off x="1527048" y="4599432"/>
            <a:ext cx="9144000" cy="1536192"/>
          </a:xfrm>
        </p:spPr>
        <p:txBody>
          <a:bodyPr>
            <a:normAutofit/>
          </a:bodyPr>
          <a:lstStyle/>
          <a:p>
            <a:r>
              <a:rPr lang="en-US">
                <a:solidFill>
                  <a:srgbClr val="FFFFFF"/>
                </a:solidFill>
              </a:rPr>
              <a:t>The Crisis and Chaos </a:t>
            </a:r>
          </a:p>
        </p:txBody>
      </p:sp>
      <p:sp>
        <p:nvSpPr>
          <p:cNvPr id="18"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746970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sculpture, building&#10;&#10;Description automatically generated">
            <a:extLst>
              <a:ext uri="{FF2B5EF4-FFF2-40B4-BE49-F238E27FC236}">
                <a16:creationId xmlns:a16="http://schemas.microsoft.com/office/drawing/2014/main" id="{9CE527A2-4B70-806F-45C6-A047EA153CD0}"/>
              </a:ext>
            </a:extLst>
          </p:cNvPr>
          <p:cNvPicPr>
            <a:picLocks noChangeAspect="1"/>
          </p:cNvPicPr>
          <p:nvPr/>
        </p:nvPicPr>
        <p:blipFill rotWithShape="1">
          <a:blip r:embed="rId2"/>
          <a:srcRect b="15730"/>
          <a:stretch/>
        </p:blipFill>
        <p:spPr>
          <a:xfrm>
            <a:off x="-78828" y="-91856"/>
            <a:ext cx="12192000" cy="6857990"/>
          </a:xfrm>
          <a:prstGeom prst="rect">
            <a:avLst/>
          </a:prstGeom>
        </p:spPr>
      </p:pic>
      <p:sp>
        <p:nvSpPr>
          <p:cNvPr id="10"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AEBDFA40-74BB-935A-C55A-48374056D885}"/>
              </a:ext>
            </a:extLst>
          </p:cNvPr>
          <p:cNvSpPr>
            <a:spLocks noGrp="1"/>
          </p:cNvSpPr>
          <p:nvPr>
            <p:ph type="title"/>
          </p:nvPr>
        </p:nvSpPr>
        <p:spPr>
          <a:xfrm>
            <a:off x="1658754" y="2158710"/>
            <a:ext cx="2192014" cy="1058627"/>
          </a:xfrm>
        </p:spPr>
        <p:txBody>
          <a:bodyPr>
            <a:normAutofit/>
          </a:bodyPr>
          <a:lstStyle/>
          <a:p>
            <a:pPr algn="ctr"/>
            <a:r>
              <a:rPr lang="en-US" sz="3600" dirty="0"/>
              <a:t>Who?</a:t>
            </a:r>
          </a:p>
        </p:txBody>
      </p:sp>
      <p:cxnSp>
        <p:nvCxnSpPr>
          <p:cNvPr id="12" name="Straight Connector 11">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7CBB625-FAB3-B3BC-8792-BB9C71841DBD}"/>
              </a:ext>
            </a:extLst>
          </p:cNvPr>
          <p:cNvSpPr>
            <a:spLocks noGrp="1"/>
          </p:cNvSpPr>
          <p:nvPr>
            <p:ph idx="1"/>
          </p:nvPr>
        </p:nvSpPr>
        <p:spPr>
          <a:xfrm>
            <a:off x="78828" y="3576743"/>
            <a:ext cx="5564808" cy="2949788"/>
          </a:xfrm>
        </p:spPr>
        <p:txBody>
          <a:bodyPr anchor="ctr">
            <a:normAutofit fontScale="92500" lnSpcReduction="10000"/>
          </a:bodyPr>
          <a:lstStyle/>
          <a:p>
            <a:r>
              <a:rPr lang="en-US" sz="2400" dirty="0"/>
              <a:t>Man: An adult male human being</a:t>
            </a:r>
          </a:p>
          <a:p>
            <a:pPr lvl="1"/>
            <a:r>
              <a:rPr lang="en-US" dirty="0"/>
              <a:t>A biological and immutable human characteristic  </a:t>
            </a:r>
          </a:p>
          <a:p>
            <a:r>
              <a:rPr lang="en-US" sz="2400" dirty="0"/>
              <a:t>Masculinity: Qualities or attributes regarded as characteristic of men.</a:t>
            </a:r>
          </a:p>
          <a:p>
            <a:pPr lvl="1"/>
            <a:r>
              <a:rPr lang="en-US" dirty="0"/>
              <a:t>A socially constructed set of behaviors associated with men and boys. </a:t>
            </a:r>
          </a:p>
          <a:p>
            <a:pPr lvl="1"/>
            <a:r>
              <a:rPr lang="en-US" dirty="0"/>
              <a:t>Standards of masculinity can vary across space, place, and time. </a:t>
            </a:r>
          </a:p>
          <a:p>
            <a:endParaRPr lang="en-US" sz="1700" dirty="0"/>
          </a:p>
        </p:txBody>
      </p:sp>
    </p:spTree>
    <p:extLst>
      <p:ext uri="{BB962C8B-B14F-4D97-AF65-F5344CB8AC3E}">
        <p14:creationId xmlns:p14="http://schemas.microsoft.com/office/powerpoint/2010/main" val="2753589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7DD29C-C1C9-0303-46EB-336FA6594B42}"/>
              </a:ext>
            </a:extLst>
          </p:cNvPr>
          <p:cNvSpPr>
            <a:spLocks noGrp="1"/>
          </p:cNvSpPr>
          <p:nvPr>
            <p:ph type="title"/>
          </p:nvPr>
        </p:nvSpPr>
        <p:spPr>
          <a:xfrm>
            <a:off x="6116569" y="-510136"/>
            <a:ext cx="5791703" cy="1807305"/>
          </a:xfrm>
        </p:spPr>
        <p:txBody>
          <a:bodyPr>
            <a:normAutofit/>
          </a:bodyPr>
          <a:lstStyle/>
          <a:p>
            <a:r>
              <a:rPr lang="en-US" dirty="0"/>
              <a:t>The Study of Masculinity</a:t>
            </a:r>
          </a:p>
        </p:txBody>
      </p:sp>
      <p:pic>
        <p:nvPicPr>
          <p:cNvPr id="5" name="Picture 4" descr="A person sitting at a table&#10;&#10;Description automatically generated with low confidence">
            <a:extLst>
              <a:ext uri="{FF2B5EF4-FFF2-40B4-BE49-F238E27FC236}">
                <a16:creationId xmlns:a16="http://schemas.microsoft.com/office/drawing/2014/main" id="{F924C397-912C-1A1E-B79A-D7C9FC8B5F03}"/>
              </a:ext>
            </a:extLst>
          </p:cNvPr>
          <p:cNvPicPr>
            <a:picLocks noChangeAspect="1"/>
          </p:cNvPicPr>
          <p:nvPr/>
        </p:nvPicPr>
        <p:blipFill rotWithShape="1">
          <a:blip r:embed="rId2"/>
          <a:srcRect t="2534" b="2534"/>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58A63732-FA98-6D94-06B6-CE8C353C500E}"/>
              </a:ext>
            </a:extLst>
          </p:cNvPr>
          <p:cNvSpPr>
            <a:spLocks noGrp="1"/>
          </p:cNvSpPr>
          <p:nvPr>
            <p:ph idx="1"/>
          </p:nvPr>
        </p:nvSpPr>
        <p:spPr>
          <a:xfrm>
            <a:off x="5522976" y="743712"/>
            <a:ext cx="6453510" cy="5567289"/>
          </a:xfrm>
        </p:spPr>
        <p:txBody>
          <a:bodyPr>
            <a:noAutofit/>
          </a:bodyPr>
          <a:lstStyle/>
          <a:p>
            <a:r>
              <a:rPr lang="en-US" sz="1800" dirty="0"/>
              <a:t>Joan Scott: Gender: A Useful Category of Analysis (1986) </a:t>
            </a:r>
          </a:p>
          <a:p>
            <a:pPr lvl="1"/>
            <a:r>
              <a:rPr lang="en-US" sz="1800" dirty="0"/>
              <a:t>“Women and men [are] defined in terms of one another, and no understanding of either [can] be achieved by entirely separate study” (29).</a:t>
            </a:r>
          </a:p>
          <a:p>
            <a:pPr lvl="1"/>
            <a:r>
              <a:rPr lang="en-US" sz="1800" dirty="0"/>
              <a:t>Her approach “insists on the need to examine gender concretely and in context and to consider it a historical phenomenon, produced, reproduced, and transformed in different situations and over time” (6).</a:t>
            </a:r>
          </a:p>
          <a:p>
            <a:pPr lvl="1"/>
            <a:r>
              <a:rPr lang="en-US" sz="1800" dirty="0"/>
              <a:t>Scott asks readers to stop and completely reanalyze situations in history and to ask how society was organized around sexual difference and the resulting power inequalities.</a:t>
            </a:r>
          </a:p>
          <a:p>
            <a:pPr lvl="1"/>
            <a:r>
              <a:rPr lang="en-US" sz="1800" dirty="0"/>
              <a:t>Emergent rulers (in a variety of places) have legitimized domination, strength, central authority, and ruling power as masculine (enemies, outsiders, subversives, weakness as feminine) and made that code literal in laws (forbidding women’s political participation, outlawing abortion, prohibiting wage-earning by mothers, imposing female dress codes) that put women in their place.</a:t>
            </a:r>
          </a:p>
          <a:p>
            <a:r>
              <a:rPr lang="en-US" sz="1800" dirty="0"/>
              <a:t>This analysis is a result of biological sex differences. Whether or not men (or women) </a:t>
            </a:r>
            <a:r>
              <a:rPr lang="en-US" sz="1800" i="1" dirty="0"/>
              <a:t>want </a:t>
            </a:r>
            <a:r>
              <a:rPr lang="en-US" sz="1800" dirty="0"/>
              <a:t>these categories assigned to them, society does so automatically based on assumptions or expectations of behavior. </a:t>
            </a:r>
          </a:p>
        </p:txBody>
      </p:sp>
    </p:spTree>
    <p:extLst>
      <p:ext uri="{BB962C8B-B14F-4D97-AF65-F5344CB8AC3E}">
        <p14:creationId xmlns:p14="http://schemas.microsoft.com/office/powerpoint/2010/main" val="1659445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C7BE9F-9625-D7BF-9DA6-CBCCE30D9AED}"/>
              </a:ext>
            </a:extLst>
          </p:cNvPr>
          <p:cNvSpPr>
            <a:spLocks noGrp="1"/>
          </p:cNvSpPr>
          <p:nvPr>
            <p:ph type="title"/>
          </p:nvPr>
        </p:nvSpPr>
        <p:spPr>
          <a:xfrm>
            <a:off x="879144" y="0"/>
            <a:ext cx="5458613" cy="1076323"/>
          </a:xfrm>
        </p:spPr>
        <p:txBody>
          <a:bodyPr>
            <a:normAutofit/>
          </a:bodyPr>
          <a:lstStyle/>
          <a:p>
            <a:r>
              <a:rPr lang="en-US" sz="4000" dirty="0"/>
              <a:t>The Study of Masculinity </a:t>
            </a:r>
          </a:p>
        </p:txBody>
      </p:sp>
      <p:sp>
        <p:nvSpPr>
          <p:cNvPr id="3" name="Content Placeholder 2">
            <a:extLst>
              <a:ext uri="{FF2B5EF4-FFF2-40B4-BE49-F238E27FC236}">
                <a16:creationId xmlns:a16="http://schemas.microsoft.com/office/drawing/2014/main" id="{29E9D73D-DB72-0F18-7704-3EAE918A3A40}"/>
              </a:ext>
            </a:extLst>
          </p:cNvPr>
          <p:cNvSpPr>
            <a:spLocks noGrp="1"/>
          </p:cNvSpPr>
          <p:nvPr>
            <p:ph idx="1"/>
          </p:nvPr>
        </p:nvSpPr>
        <p:spPr>
          <a:xfrm>
            <a:off x="190503" y="1259018"/>
            <a:ext cx="7005888" cy="5166166"/>
          </a:xfrm>
        </p:spPr>
        <p:txBody>
          <a:bodyPr>
            <a:noAutofit/>
          </a:bodyPr>
          <a:lstStyle/>
          <a:p>
            <a:r>
              <a:rPr lang="en-US" sz="2600" dirty="0"/>
              <a:t>Judith Butler: </a:t>
            </a:r>
            <a:r>
              <a:rPr lang="en-US" sz="2600" i="1" dirty="0"/>
              <a:t>Gender Trouble: Feminism and the Subversion of Identity </a:t>
            </a:r>
            <a:r>
              <a:rPr lang="en-US" sz="2600" dirty="0"/>
              <a:t>(1990) </a:t>
            </a:r>
          </a:p>
          <a:p>
            <a:r>
              <a:rPr lang="en-US" sz="2600" dirty="0"/>
              <a:t>Introduces the concept of gender as a performance or gender performativity.</a:t>
            </a:r>
          </a:p>
          <a:p>
            <a:r>
              <a:rPr lang="en-US" sz="2600" dirty="0"/>
              <a:t>Relies on Foucauldian deconstruction of normativity. Foucault’s focus was mainly on homosexuality, criminality, madness. Foucault argued certain identities </a:t>
            </a:r>
            <a:r>
              <a:rPr lang="en-US" sz="2600" i="1" dirty="0"/>
              <a:t>produce </a:t>
            </a:r>
            <a:r>
              <a:rPr lang="en-US" sz="2600" dirty="0"/>
              <a:t>people in line with those identities and lead to what Butler would call “performativity”</a:t>
            </a:r>
          </a:p>
          <a:p>
            <a:r>
              <a:rPr lang="en-US" sz="2600" dirty="0"/>
              <a:t>Ultimately, Butler arrives at the conclusion that binary relation between men and women are just another bad disciplinary form of normativity. </a:t>
            </a:r>
          </a:p>
        </p:txBody>
      </p:sp>
      <p:pic>
        <p:nvPicPr>
          <p:cNvPr id="5" name="Picture 4" descr="A child and child posing for a picture&#10;&#10;Description automatically generated with medium confidence">
            <a:extLst>
              <a:ext uri="{FF2B5EF4-FFF2-40B4-BE49-F238E27FC236}">
                <a16:creationId xmlns:a16="http://schemas.microsoft.com/office/drawing/2014/main" id="{2C158995-78FC-D955-BE94-AE5F6C2631A8}"/>
              </a:ext>
            </a:extLst>
          </p:cNvPr>
          <p:cNvPicPr>
            <a:picLocks noChangeAspect="1"/>
          </p:cNvPicPr>
          <p:nvPr/>
        </p:nvPicPr>
        <p:blipFill rotWithShape="1">
          <a:blip r:embed="rId2"/>
          <a:srcRect r="1" b="7061"/>
          <a:stretch/>
        </p:blipFill>
        <p:spPr>
          <a:xfrm>
            <a:off x="7199440" y="10"/>
            <a:ext cx="4992560" cy="6857990"/>
          </a:xfrm>
          <a:prstGeom prst="rect">
            <a:avLst/>
          </a:prstGeom>
          <a:effectLst/>
        </p:spPr>
      </p:pic>
    </p:spTree>
    <p:extLst>
      <p:ext uri="{BB962C8B-B14F-4D97-AF65-F5344CB8AC3E}">
        <p14:creationId xmlns:p14="http://schemas.microsoft.com/office/powerpoint/2010/main" val="3044572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7D0CC2-3719-3719-668E-8D5B3EAE650B}"/>
              </a:ext>
            </a:extLst>
          </p:cNvPr>
          <p:cNvSpPr>
            <a:spLocks noGrp="1"/>
          </p:cNvSpPr>
          <p:nvPr>
            <p:ph type="title"/>
          </p:nvPr>
        </p:nvSpPr>
        <p:spPr>
          <a:xfrm>
            <a:off x="478536" y="640080"/>
            <a:ext cx="4193477" cy="1718512"/>
          </a:xfrm>
        </p:spPr>
        <p:txBody>
          <a:bodyPr vert="horz" lIns="91440" tIns="45720" rIns="91440" bIns="45720" rtlCol="0" anchor="b">
            <a:normAutofit fontScale="90000"/>
          </a:bodyPr>
          <a:lstStyle/>
          <a:p>
            <a:r>
              <a:rPr lang="en-US" sz="4200" kern="1200" dirty="0">
                <a:solidFill>
                  <a:schemeClr val="tx1"/>
                </a:solidFill>
                <a:latin typeface="+mj-lt"/>
                <a:ea typeface="+mj-ea"/>
                <a:cs typeface="+mj-cs"/>
              </a:rPr>
              <a:t>The Dark Side of Masculinity </a:t>
            </a:r>
            <a:br>
              <a:rPr lang="en-US" sz="4200" kern="1200" dirty="0">
                <a:solidFill>
                  <a:schemeClr val="tx1"/>
                </a:solidFill>
                <a:latin typeface="+mj-lt"/>
                <a:ea typeface="+mj-ea"/>
                <a:cs typeface="+mj-cs"/>
              </a:rPr>
            </a:br>
            <a:endParaRPr lang="en-US" sz="4200" kern="1200" dirty="0">
              <a:solidFill>
                <a:schemeClr val="tx1"/>
              </a:solidFill>
              <a:latin typeface="+mj-lt"/>
              <a:ea typeface="+mj-ea"/>
              <a:cs typeface="+mj-cs"/>
            </a:endParaRPr>
          </a:p>
        </p:txBody>
      </p:sp>
      <p:sp>
        <p:nvSpPr>
          <p:cNvPr id="24"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86FE247-91F1-DCD2-1294-B1DD57BCEE7B}"/>
              </a:ext>
            </a:extLst>
          </p:cNvPr>
          <p:cNvSpPr txBox="1"/>
          <p:nvPr/>
        </p:nvSpPr>
        <p:spPr>
          <a:xfrm>
            <a:off x="104678" y="2681770"/>
            <a:ext cx="7739159" cy="3853052"/>
          </a:xfrm>
          <a:prstGeom prst="rect">
            <a:avLst/>
          </a:prstGeom>
        </p:spPr>
        <p:txBody>
          <a:bodyPr vert="horz" lIns="91440" tIns="45720" rIns="91440" bIns="45720" rtlCol="0" anchor="t">
            <a:noAutofit/>
          </a:bodyPr>
          <a:lstStyle/>
          <a:p>
            <a:pPr marL="285750" indent="-228600">
              <a:lnSpc>
                <a:spcPct val="90000"/>
              </a:lnSpc>
              <a:spcAft>
                <a:spcPts val="600"/>
              </a:spcAft>
              <a:buFont typeface="Arial" panose="020B0604020202020204" pitchFamily="34" charset="0"/>
              <a:buChar char="•"/>
            </a:pPr>
            <a:r>
              <a:rPr lang="en-US" sz="2000" dirty="0"/>
              <a:t>Violence</a:t>
            </a:r>
          </a:p>
          <a:p>
            <a:pPr marL="285750" indent="-228600">
              <a:lnSpc>
                <a:spcPct val="90000"/>
              </a:lnSpc>
              <a:spcAft>
                <a:spcPts val="600"/>
              </a:spcAft>
              <a:buFont typeface="Arial" panose="020B0604020202020204" pitchFamily="34" charset="0"/>
              <a:buChar char="•"/>
            </a:pPr>
            <a:r>
              <a:rPr lang="en-US" sz="2000" dirty="0"/>
              <a:t>Rape and Sexual Assault</a:t>
            </a:r>
          </a:p>
          <a:p>
            <a:pPr marL="285750" indent="-228600">
              <a:lnSpc>
                <a:spcPct val="90000"/>
              </a:lnSpc>
              <a:spcAft>
                <a:spcPts val="600"/>
              </a:spcAft>
              <a:buFont typeface="Arial" panose="020B0604020202020204" pitchFamily="34" charset="0"/>
              <a:buChar char="•"/>
            </a:pPr>
            <a:r>
              <a:rPr lang="en-US" sz="2000" dirty="0"/>
              <a:t>Sexual Harassment</a:t>
            </a:r>
          </a:p>
          <a:p>
            <a:pPr marL="285750" indent="-228600">
              <a:lnSpc>
                <a:spcPct val="90000"/>
              </a:lnSpc>
              <a:spcAft>
                <a:spcPts val="600"/>
              </a:spcAft>
              <a:buFont typeface="Arial" panose="020B0604020202020204" pitchFamily="34" charset="0"/>
              <a:buChar char="•"/>
            </a:pPr>
            <a:r>
              <a:rPr lang="en-US" sz="2000" dirty="0"/>
              <a:t>Male sexual misconduct as a group norm </a:t>
            </a:r>
          </a:p>
          <a:p>
            <a:pPr marL="285750" indent="-228600">
              <a:lnSpc>
                <a:spcPct val="90000"/>
              </a:lnSpc>
              <a:spcAft>
                <a:spcPts val="600"/>
              </a:spcAft>
              <a:buFont typeface="Arial" panose="020B0604020202020204" pitchFamily="34" charset="0"/>
              <a:buChar char="•"/>
            </a:pPr>
            <a:r>
              <a:rPr lang="en-US" sz="2000" dirty="0"/>
              <a:t>Substance Abuse </a:t>
            </a:r>
          </a:p>
          <a:p>
            <a:pPr marL="285750" indent="-228600">
              <a:lnSpc>
                <a:spcPct val="90000"/>
              </a:lnSpc>
              <a:spcAft>
                <a:spcPts val="600"/>
              </a:spcAft>
              <a:buFont typeface="Arial" panose="020B0604020202020204" pitchFamily="34" charset="0"/>
              <a:buChar char="•"/>
            </a:pPr>
            <a:r>
              <a:rPr lang="en-US" sz="2000" dirty="0"/>
              <a:t>High Risk Behavior</a:t>
            </a:r>
          </a:p>
          <a:p>
            <a:pPr marL="285750" indent="-228600">
              <a:lnSpc>
                <a:spcPct val="90000"/>
              </a:lnSpc>
              <a:spcAft>
                <a:spcPts val="600"/>
              </a:spcAft>
              <a:buFont typeface="Arial" panose="020B0604020202020204" pitchFamily="34" charset="0"/>
              <a:buChar char="•"/>
            </a:pPr>
            <a:r>
              <a:rPr lang="en-US" sz="2000" dirty="0"/>
              <a:t>Absent Fathering</a:t>
            </a:r>
          </a:p>
          <a:p>
            <a:pPr marL="285750" indent="-228600">
              <a:lnSpc>
                <a:spcPct val="90000"/>
              </a:lnSpc>
              <a:spcAft>
                <a:spcPts val="600"/>
              </a:spcAft>
              <a:buFont typeface="Arial" panose="020B0604020202020204" pitchFamily="34" charset="0"/>
              <a:buChar char="•"/>
            </a:pPr>
            <a:r>
              <a:rPr lang="en-US" sz="2000" dirty="0"/>
              <a:t>Homelessness and Vagrancy </a:t>
            </a:r>
          </a:p>
          <a:p>
            <a:pPr marL="285750" indent="-228600">
              <a:lnSpc>
                <a:spcPct val="90000"/>
              </a:lnSpc>
              <a:spcAft>
                <a:spcPts val="600"/>
              </a:spcAft>
              <a:buFont typeface="Arial" panose="020B0604020202020204" pitchFamily="34" charset="0"/>
              <a:buChar char="•"/>
            </a:pPr>
            <a:r>
              <a:rPr lang="en-US" sz="2000" dirty="0"/>
              <a:t>Inadequate Partnering </a:t>
            </a:r>
          </a:p>
          <a:p>
            <a:pPr marL="285750" indent="-228600">
              <a:lnSpc>
                <a:spcPct val="90000"/>
              </a:lnSpc>
              <a:spcAft>
                <a:spcPts val="600"/>
              </a:spcAft>
              <a:buFont typeface="Arial" panose="020B0604020202020204" pitchFamily="34" charset="0"/>
              <a:buChar char="•"/>
            </a:pPr>
            <a:endParaRPr lang="en-US" sz="2000" dirty="0"/>
          </a:p>
          <a:p>
            <a:pPr marL="57150">
              <a:lnSpc>
                <a:spcPct val="90000"/>
              </a:lnSpc>
              <a:spcAft>
                <a:spcPts val="600"/>
              </a:spcAft>
            </a:pPr>
            <a:r>
              <a:rPr lang="en-US" sz="2400" b="1" dirty="0"/>
              <a:t>*Question to consider: </a:t>
            </a:r>
            <a:r>
              <a:rPr lang="en-US" sz="2400" i="1" dirty="0"/>
              <a:t>Is race a factor in this paradigm?</a:t>
            </a:r>
          </a:p>
        </p:txBody>
      </p:sp>
      <p:pic>
        <p:nvPicPr>
          <p:cNvPr id="14" name="Content Placeholder 13" descr="Diagram&#10;&#10;Description automatically generated">
            <a:extLst>
              <a:ext uri="{FF2B5EF4-FFF2-40B4-BE49-F238E27FC236}">
                <a16:creationId xmlns:a16="http://schemas.microsoft.com/office/drawing/2014/main" id="{3FB18086-F8A6-E38C-D90E-A8E1969943F6}"/>
              </a:ext>
            </a:extLst>
          </p:cNvPr>
          <p:cNvPicPr>
            <a:picLocks noGrp="1" noChangeAspect="1"/>
          </p:cNvPicPr>
          <p:nvPr>
            <p:ph idx="1"/>
          </p:nvPr>
        </p:nvPicPr>
        <p:blipFill>
          <a:blip r:embed="rId2"/>
          <a:stretch>
            <a:fillRect/>
          </a:stretch>
        </p:blipFill>
        <p:spPr>
          <a:xfrm>
            <a:off x="5150549" y="897780"/>
            <a:ext cx="6814798" cy="4702209"/>
          </a:xfrm>
          <a:prstGeom prst="rect">
            <a:avLst/>
          </a:prstGeom>
        </p:spPr>
      </p:pic>
    </p:spTree>
    <p:extLst>
      <p:ext uri="{BB962C8B-B14F-4D97-AF65-F5344CB8AC3E}">
        <p14:creationId xmlns:p14="http://schemas.microsoft.com/office/powerpoint/2010/main" val="3640071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erson sitting on the floor&#10;&#10;Description automatically generated with low confidence">
            <a:extLst>
              <a:ext uri="{FF2B5EF4-FFF2-40B4-BE49-F238E27FC236}">
                <a16:creationId xmlns:a16="http://schemas.microsoft.com/office/drawing/2014/main" id="{EF876D92-E485-75BE-5039-F512F4945AFB}"/>
              </a:ext>
            </a:extLst>
          </p:cNvPr>
          <p:cNvPicPr>
            <a:picLocks noChangeAspect="1"/>
          </p:cNvPicPr>
          <p:nvPr/>
        </p:nvPicPr>
        <p:blipFill rotWithShape="1">
          <a:blip r:embed="rId2"/>
          <a:srcRect l="5063" r="6813"/>
          <a:stretch/>
        </p:blipFill>
        <p:spPr>
          <a:xfrm>
            <a:off x="1" y="10"/>
            <a:ext cx="9669642" cy="6857990"/>
          </a:xfrm>
          <a:prstGeom prst="rect">
            <a:avLst/>
          </a:prstGeom>
        </p:spPr>
      </p:pic>
      <p:sp>
        <p:nvSpPr>
          <p:cNvPr id="19" name="Rectangle 1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4880D51-734B-B11C-A996-E35A29BA678B}"/>
              </a:ext>
            </a:extLst>
          </p:cNvPr>
          <p:cNvSpPr>
            <a:spLocks noGrp="1"/>
          </p:cNvSpPr>
          <p:nvPr>
            <p:ph type="title"/>
          </p:nvPr>
        </p:nvSpPr>
        <p:spPr>
          <a:xfrm>
            <a:off x="7566493" y="195793"/>
            <a:ext cx="4829723" cy="1899912"/>
          </a:xfrm>
        </p:spPr>
        <p:txBody>
          <a:bodyPr>
            <a:normAutofit/>
          </a:bodyPr>
          <a:lstStyle/>
          <a:p>
            <a:r>
              <a:rPr lang="en-US" sz="3100" dirty="0"/>
              <a:t>Masculine Norms Inventory </a:t>
            </a:r>
            <a:br>
              <a:rPr lang="en-US" sz="3100" dirty="0"/>
            </a:br>
            <a:r>
              <a:rPr lang="en-US" sz="3100" dirty="0" err="1"/>
              <a:t>Mahalik</a:t>
            </a:r>
            <a:r>
              <a:rPr lang="en-US" sz="3100" dirty="0"/>
              <a:t> et. al. (2003) </a:t>
            </a:r>
          </a:p>
        </p:txBody>
      </p:sp>
      <p:sp>
        <p:nvSpPr>
          <p:cNvPr id="3" name="Content Placeholder 2">
            <a:extLst>
              <a:ext uri="{FF2B5EF4-FFF2-40B4-BE49-F238E27FC236}">
                <a16:creationId xmlns:a16="http://schemas.microsoft.com/office/drawing/2014/main" id="{56DA9D08-E9A0-1EBF-7BC4-714418A2152A}"/>
              </a:ext>
            </a:extLst>
          </p:cNvPr>
          <p:cNvSpPr>
            <a:spLocks noGrp="1"/>
          </p:cNvSpPr>
          <p:nvPr>
            <p:ph idx="1"/>
          </p:nvPr>
        </p:nvSpPr>
        <p:spPr>
          <a:xfrm>
            <a:off x="7949186" y="2265037"/>
            <a:ext cx="5423914" cy="3742762"/>
          </a:xfrm>
        </p:spPr>
        <p:txBody>
          <a:bodyPr numCol="3">
            <a:normAutofit/>
          </a:bodyPr>
          <a:lstStyle/>
          <a:p>
            <a:r>
              <a:rPr lang="en-US" sz="2000" dirty="0"/>
              <a:t>Winning</a:t>
            </a:r>
          </a:p>
          <a:p>
            <a:r>
              <a:rPr lang="en-US" sz="2000" dirty="0"/>
              <a:t>Emotional Control </a:t>
            </a:r>
          </a:p>
          <a:p>
            <a:r>
              <a:rPr lang="en-US" sz="2000" dirty="0"/>
              <a:t>Risk-Taking</a:t>
            </a:r>
          </a:p>
          <a:p>
            <a:r>
              <a:rPr lang="en-US" sz="2000" dirty="0"/>
              <a:t>Violence</a:t>
            </a:r>
          </a:p>
          <a:p>
            <a:r>
              <a:rPr lang="en-US" sz="2000" dirty="0"/>
              <a:t>Power over Women</a:t>
            </a:r>
          </a:p>
          <a:p>
            <a:r>
              <a:rPr lang="en-US" sz="2000" dirty="0"/>
              <a:t>Dominance</a:t>
            </a:r>
          </a:p>
          <a:p>
            <a:endParaRPr lang="en-US" sz="2000" dirty="0"/>
          </a:p>
          <a:p>
            <a:endParaRPr lang="en-US" sz="2000" dirty="0"/>
          </a:p>
          <a:p>
            <a:r>
              <a:rPr lang="en-US" sz="2000" dirty="0"/>
              <a:t>Playboy </a:t>
            </a:r>
          </a:p>
          <a:p>
            <a:r>
              <a:rPr lang="en-US" sz="2000" dirty="0"/>
              <a:t>Self-Reliance</a:t>
            </a:r>
          </a:p>
          <a:p>
            <a:r>
              <a:rPr lang="en-US" sz="2000" dirty="0"/>
              <a:t>Primacy of Work </a:t>
            </a:r>
          </a:p>
          <a:p>
            <a:r>
              <a:rPr lang="en-US" sz="2000" dirty="0"/>
              <a:t>Disdain for homosexuality </a:t>
            </a:r>
          </a:p>
          <a:p>
            <a:r>
              <a:rPr lang="en-US" sz="2000" dirty="0"/>
              <a:t>Pursuit of Status </a:t>
            </a:r>
          </a:p>
        </p:txBody>
      </p:sp>
    </p:spTree>
    <p:extLst>
      <p:ext uri="{BB962C8B-B14F-4D97-AF65-F5344CB8AC3E}">
        <p14:creationId xmlns:p14="http://schemas.microsoft.com/office/powerpoint/2010/main" val="1661837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DB347A-517E-78E5-2AEB-0D8771A1A0B9}"/>
              </a:ext>
            </a:extLst>
          </p:cNvPr>
          <p:cNvSpPr>
            <a:spLocks noGrp="1"/>
          </p:cNvSpPr>
          <p:nvPr>
            <p:ph type="title"/>
          </p:nvPr>
        </p:nvSpPr>
        <p:spPr>
          <a:xfrm>
            <a:off x="630936" y="640823"/>
            <a:ext cx="3419856" cy="5583148"/>
          </a:xfrm>
        </p:spPr>
        <p:txBody>
          <a:bodyPr anchor="ctr">
            <a:normAutofit/>
          </a:bodyPr>
          <a:lstStyle/>
          <a:p>
            <a:r>
              <a:rPr lang="en-US" sz="5400" dirty="0"/>
              <a:t>Male Roles Inventory </a:t>
            </a:r>
            <a:br>
              <a:rPr lang="en-US" sz="5400" dirty="0"/>
            </a:br>
            <a:br>
              <a:rPr lang="en-US" sz="5400" dirty="0"/>
            </a:br>
            <a:r>
              <a:rPr lang="en-US" sz="5400" dirty="0"/>
              <a:t>Levant (2010)</a:t>
            </a:r>
          </a:p>
        </p:txBody>
      </p:sp>
      <p:sp>
        <p:nvSpPr>
          <p:cNvPr id="1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book&#10;&#10;Description automatically generated">
            <a:extLst>
              <a:ext uri="{FF2B5EF4-FFF2-40B4-BE49-F238E27FC236}">
                <a16:creationId xmlns:a16="http://schemas.microsoft.com/office/drawing/2014/main" id="{294F563E-EA93-1C68-32C0-DCF235B0CDB6}"/>
              </a:ext>
            </a:extLst>
          </p:cNvPr>
          <p:cNvPicPr>
            <a:picLocks noChangeAspect="1"/>
          </p:cNvPicPr>
          <p:nvPr/>
        </p:nvPicPr>
        <p:blipFill>
          <a:blip r:embed="rId2"/>
          <a:stretch>
            <a:fillRect/>
          </a:stretch>
        </p:blipFill>
        <p:spPr>
          <a:xfrm>
            <a:off x="4654296" y="1002000"/>
            <a:ext cx="6894576" cy="3171504"/>
          </a:xfrm>
          <a:prstGeom prst="rect">
            <a:avLst/>
          </a:prstGeom>
        </p:spPr>
      </p:pic>
      <p:sp>
        <p:nvSpPr>
          <p:cNvPr id="3" name="Content Placeholder 2">
            <a:extLst>
              <a:ext uri="{FF2B5EF4-FFF2-40B4-BE49-F238E27FC236}">
                <a16:creationId xmlns:a16="http://schemas.microsoft.com/office/drawing/2014/main" id="{4253ABAA-78E5-42E7-6DBC-F4F7D9831317}"/>
              </a:ext>
            </a:extLst>
          </p:cNvPr>
          <p:cNvSpPr>
            <a:spLocks noGrp="1"/>
          </p:cNvSpPr>
          <p:nvPr>
            <p:ph idx="1"/>
          </p:nvPr>
        </p:nvSpPr>
        <p:spPr>
          <a:xfrm>
            <a:off x="4364736" y="4594985"/>
            <a:ext cx="7906512" cy="1841534"/>
          </a:xfrm>
        </p:spPr>
        <p:txBody>
          <a:bodyPr numCol="2" anchor="t">
            <a:noAutofit/>
          </a:bodyPr>
          <a:lstStyle/>
          <a:p>
            <a:r>
              <a:rPr lang="en-US" dirty="0"/>
              <a:t>Avoidance of Femininity </a:t>
            </a:r>
          </a:p>
          <a:p>
            <a:r>
              <a:rPr lang="en-US" dirty="0"/>
              <a:t>Fear and Hatred of Homosexuality</a:t>
            </a:r>
          </a:p>
          <a:p>
            <a:r>
              <a:rPr lang="en-US" dirty="0"/>
              <a:t>Extreme Self-Reliance</a:t>
            </a:r>
          </a:p>
          <a:p>
            <a:r>
              <a:rPr lang="en-US" dirty="0"/>
              <a:t>Aggression </a:t>
            </a:r>
          </a:p>
          <a:p>
            <a:r>
              <a:rPr lang="en-US" dirty="0"/>
              <a:t>Dominance</a:t>
            </a:r>
          </a:p>
          <a:p>
            <a:r>
              <a:rPr lang="en-US" dirty="0"/>
              <a:t>Non-Relational Sexuality </a:t>
            </a:r>
          </a:p>
          <a:p>
            <a:r>
              <a:rPr lang="en-US" dirty="0"/>
              <a:t>Restrictive Emotionality </a:t>
            </a:r>
          </a:p>
        </p:txBody>
      </p:sp>
    </p:spTree>
    <p:extLst>
      <p:ext uri="{BB962C8B-B14F-4D97-AF65-F5344CB8AC3E}">
        <p14:creationId xmlns:p14="http://schemas.microsoft.com/office/powerpoint/2010/main" val="1626822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holding a sign&#10;&#10;Description automatically generated with low confidence">
            <a:extLst>
              <a:ext uri="{FF2B5EF4-FFF2-40B4-BE49-F238E27FC236}">
                <a16:creationId xmlns:a16="http://schemas.microsoft.com/office/drawing/2014/main" id="{8EC68856-4372-1186-1497-EC140C19396B}"/>
              </a:ext>
            </a:extLst>
          </p:cNvPr>
          <p:cNvPicPr>
            <a:picLocks noChangeAspect="1"/>
          </p:cNvPicPr>
          <p:nvPr/>
        </p:nvPicPr>
        <p:blipFill rotWithShape="1">
          <a:blip r:embed="rId2"/>
          <a:srcRect t="366" b="9858"/>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A9C449B-AAA1-9155-CFB2-12FFA660AE22}"/>
              </a:ext>
            </a:extLst>
          </p:cNvPr>
          <p:cNvSpPr>
            <a:spLocks noGrp="1"/>
          </p:cNvSpPr>
          <p:nvPr>
            <p:ph type="title"/>
          </p:nvPr>
        </p:nvSpPr>
        <p:spPr>
          <a:xfrm>
            <a:off x="7788785" y="-204343"/>
            <a:ext cx="4660390" cy="1899912"/>
          </a:xfrm>
        </p:spPr>
        <p:txBody>
          <a:bodyPr>
            <a:normAutofit/>
          </a:bodyPr>
          <a:lstStyle/>
          <a:p>
            <a:r>
              <a:rPr lang="en-US" sz="4000" dirty="0"/>
              <a:t>Masculine Identities &amp; Intersectionality </a:t>
            </a:r>
          </a:p>
        </p:txBody>
      </p:sp>
      <p:sp>
        <p:nvSpPr>
          <p:cNvPr id="3" name="Content Placeholder 2">
            <a:extLst>
              <a:ext uri="{FF2B5EF4-FFF2-40B4-BE49-F238E27FC236}">
                <a16:creationId xmlns:a16="http://schemas.microsoft.com/office/drawing/2014/main" id="{549F8B42-3FD1-799F-C18A-95C97343750F}"/>
              </a:ext>
            </a:extLst>
          </p:cNvPr>
          <p:cNvSpPr>
            <a:spLocks noGrp="1"/>
          </p:cNvSpPr>
          <p:nvPr>
            <p:ph idx="1"/>
          </p:nvPr>
        </p:nvSpPr>
        <p:spPr>
          <a:xfrm>
            <a:off x="7531610" y="1343026"/>
            <a:ext cx="4660390" cy="5686424"/>
          </a:xfrm>
        </p:spPr>
        <p:txBody>
          <a:bodyPr>
            <a:normAutofit fontScale="92500" lnSpcReduction="20000"/>
          </a:bodyPr>
          <a:lstStyle/>
          <a:p>
            <a:pPr>
              <a:defRPr/>
            </a:pPr>
            <a:r>
              <a:rPr lang="en-US" sz="2300" dirty="0"/>
              <a:t>SYSTEMIC ISSUES</a:t>
            </a:r>
          </a:p>
          <a:p>
            <a:pPr>
              <a:defRPr/>
            </a:pPr>
            <a:r>
              <a:rPr lang="en-US" sz="2300" dirty="0"/>
              <a:t>Impact of Slavery on Black men &amp; masculinity </a:t>
            </a:r>
          </a:p>
          <a:p>
            <a:pPr lvl="1">
              <a:defRPr/>
            </a:pPr>
            <a:r>
              <a:rPr lang="en-US" sz="2300" dirty="0"/>
              <a:t>Emasculating black men through rape, torture, and exploitation of black women</a:t>
            </a:r>
          </a:p>
          <a:p>
            <a:pPr lvl="1">
              <a:defRPr/>
            </a:pPr>
            <a:r>
              <a:rPr lang="en-US" sz="2300" dirty="0"/>
              <a:t>Purposely separating families </a:t>
            </a:r>
          </a:p>
          <a:p>
            <a:pPr lvl="2">
              <a:defRPr/>
            </a:pPr>
            <a:r>
              <a:rPr lang="en-US" sz="2300" dirty="0"/>
              <a:t>Anger, resentment, powerlessness </a:t>
            </a:r>
          </a:p>
          <a:p>
            <a:pPr>
              <a:defRPr/>
            </a:pPr>
            <a:r>
              <a:rPr lang="en-US" sz="2300" dirty="0"/>
              <a:t>Impact of systemic racism and oppression</a:t>
            </a:r>
          </a:p>
          <a:p>
            <a:pPr lvl="1">
              <a:defRPr/>
            </a:pPr>
            <a:r>
              <a:rPr lang="en-US" sz="2300" dirty="0"/>
              <a:t>Unemployment</a:t>
            </a:r>
          </a:p>
          <a:p>
            <a:pPr lvl="1">
              <a:defRPr/>
            </a:pPr>
            <a:r>
              <a:rPr lang="en-US" sz="2300" dirty="0"/>
              <a:t>Life Expectancy</a:t>
            </a:r>
          </a:p>
          <a:p>
            <a:pPr lvl="1">
              <a:defRPr/>
            </a:pPr>
            <a:r>
              <a:rPr lang="en-US" sz="2300" dirty="0"/>
              <a:t>Incarceration </a:t>
            </a:r>
          </a:p>
          <a:p>
            <a:pPr lvl="1">
              <a:defRPr/>
            </a:pPr>
            <a:r>
              <a:rPr lang="en-US" sz="2300" dirty="0"/>
              <a:t>Substance Abuse</a:t>
            </a:r>
          </a:p>
          <a:p>
            <a:pPr>
              <a:defRPr/>
            </a:pPr>
            <a:r>
              <a:rPr lang="en-US" sz="2300" dirty="0"/>
              <a:t>Impact of Colonialism on masculine identity</a:t>
            </a:r>
          </a:p>
          <a:p>
            <a:pPr lvl="1">
              <a:defRPr/>
            </a:pPr>
            <a:r>
              <a:rPr lang="en-US" sz="2300" dirty="0"/>
              <a:t>Introduction of gender binaries and European/Christian ideals </a:t>
            </a:r>
          </a:p>
          <a:p>
            <a:endParaRPr lang="en-US" sz="1100" dirty="0"/>
          </a:p>
        </p:txBody>
      </p:sp>
    </p:spTree>
    <p:extLst>
      <p:ext uri="{BB962C8B-B14F-4D97-AF65-F5344CB8AC3E}">
        <p14:creationId xmlns:p14="http://schemas.microsoft.com/office/powerpoint/2010/main" val="319291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922D44AC-4461-FF95-C0B0-4B2045827070}"/>
              </a:ext>
            </a:extLst>
          </p:cNvPr>
          <p:cNvPicPr>
            <a:picLocks noGrp="1" noChangeAspect="1"/>
          </p:cNvPicPr>
          <p:nvPr>
            <p:ph idx="1"/>
          </p:nvPr>
        </p:nvPicPr>
        <p:blipFill>
          <a:blip r:embed="rId2"/>
          <a:stretch>
            <a:fillRect/>
          </a:stretch>
        </p:blipFill>
        <p:spPr>
          <a:xfrm>
            <a:off x="2082799" y="0"/>
            <a:ext cx="7501467" cy="7106653"/>
          </a:xfrm>
        </p:spPr>
      </p:pic>
    </p:spTree>
    <p:extLst>
      <p:ext uri="{BB962C8B-B14F-4D97-AF65-F5344CB8AC3E}">
        <p14:creationId xmlns:p14="http://schemas.microsoft.com/office/powerpoint/2010/main" val="1395784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532</Words>
  <Application>Microsoft Macintosh PowerPoint</Application>
  <PresentationFormat>Widescreen</PresentationFormat>
  <Paragraphs>67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American Masculinity </vt:lpstr>
      <vt:lpstr>Who?</vt:lpstr>
      <vt:lpstr>The Study of Masculinity</vt:lpstr>
      <vt:lpstr>The Study of Masculinity </vt:lpstr>
      <vt:lpstr>The Dark Side of Masculinity  </vt:lpstr>
      <vt:lpstr>Masculine Norms Inventory  Mahalik et. al. (2003) </vt:lpstr>
      <vt:lpstr>Male Roles Inventory   Levant (2010)</vt:lpstr>
      <vt:lpstr>Masculine Identities &amp; Intersectionality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Masculinity </dc:title>
  <dc:creator>Coulson, Hilary</dc:creator>
  <cp:lastModifiedBy>Coulson, Hilary</cp:lastModifiedBy>
  <cp:revision>8</cp:revision>
  <dcterms:created xsi:type="dcterms:W3CDTF">2022-07-18T21:20:30Z</dcterms:created>
  <dcterms:modified xsi:type="dcterms:W3CDTF">2022-10-03T15:34:43Z</dcterms:modified>
</cp:coreProperties>
</file>