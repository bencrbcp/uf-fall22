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62" r:id="rId3"/>
    <p:sldId id="257" r:id="rId4"/>
    <p:sldId id="258" r:id="rId5"/>
    <p:sldId id="259" r:id="rId6"/>
    <p:sldId id="261" r:id="rId7"/>
    <p:sldId id="271" r:id="rId8"/>
    <p:sldId id="274" r:id="rId9"/>
    <p:sldId id="275" r:id="rId10"/>
    <p:sldId id="276" r:id="rId11"/>
    <p:sldId id="272" r:id="rId12"/>
    <p:sldId id="273" r:id="rId13"/>
    <p:sldId id="260"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703"/>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483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548910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904921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10374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6500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676425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66797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267149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p:cNvSpPr>
          <p:nvPr>
            <p:ph type="pic" idx="1"/>
          </p:nvPr>
        </p:nvSpPr>
        <p:spPr>
          <a:xfrm>
            <a:off x="5334001"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98000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56459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3C2B07E4-CDF9-4C88-A2F3-04620E58224D}" type="datetimeFigureOut">
              <a:rPr lang="en-US" smtClean="0"/>
              <a:t>8/29/22</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666604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C2B07E4-CDF9-4C88-A2F3-04620E58224D}" type="datetimeFigureOut">
              <a:rPr lang="en-US" smtClean="0"/>
              <a:pPr/>
              <a:t>8/29/22</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2343339380"/>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phere of mesh and nodes">
            <a:extLst>
              <a:ext uri="{FF2B5EF4-FFF2-40B4-BE49-F238E27FC236}">
                <a16:creationId xmlns:a16="http://schemas.microsoft.com/office/drawing/2014/main" id="{B6CA6702-E9EE-4B48-A25E-B6F1B0D5DDD6}"/>
              </a:ext>
            </a:extLst>
          </p:cNvPr>
          <p:cNvPicPr>
            <a:picLocks noChangeAspect="1"/>
          </p:cNvPicPr>
          <p:nvPr/>
        </p:nvPicPr>
        <p:blipFill rotWithShape="1">
          <a:blip r:embed="rId2">
            <a:alphaModFix/>
          </a:blip>
          <a:srcRect t="2686" b="22331"/>
          <a:stretch/>
        </p:blipFill>
        <p:spPr>
          <a:xfrm>
            <a:off x="20" y="1571"/>
            <a:ext cx="12191980" cy="6856429"/>
          </a:xfrm>
          <a:prstGeom prst="rect">
            <a:avLst/>
          </a:prstGeom>
        </p:spPr>
      </p:pic>
      <p:sp useBgFill="1">
        <p:nvSpPr>
          <p:cNvPr id="11" name="Rectangle 10">
            <a:extLst>
              <a:ext uri="{FF2B5EF4-FFF2-40B4-BE49-F238E27FC236}">
                <a16:creationId xmlns:a16="http://schemas.microsoft.com/office/drawing/2014/main" id="{3898FA35-B55D-44B7-9A7D-57C57A4A6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1524000"/>
            <a:ext cx="9144000" cy="381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8B9D5-A9AF-724E-94EC-81CA145CBA49}"/>
              </a:ext>
            </a:extLst>
          </p:cNvPr>
          <p:cNvSpPr>
            <a:spLocks noGrp="1"/>
          </p:cNvSpPr>
          <p:nvPr>
            <p:ph type="ctrTitle"/>
          </p:nvPr>
        </p:nvSpPr>
        <p:spPr>
          <a:xfrm>
            <a:off x="3048000" y="2320213"/>
            <a:ext cx="6095999" cy="1317493"/>
          </a:xfrm>
        </p:spPr>
        <p:txBody>
          <a:bodyPr anchor="b">
            <a:normAutofit/>
          </a:bodyPr>
          <a:lstStyle/>
          <a:p>
            <a:pPr algn="ctr"/>
            <a:r>
              <a:rPr lang="en-US"/>
              <a:t>Social Construction Theory</a:t>
            </a:r>
          </a:p>
        </p:txBody>
      </p:sp>
      <p:sp>
        <p:nvSpPr>
          <p:cNvPr id="3" name="Subtitle 2">
            <a:extLst>
              <a:ext uri="{FF2B5EF4-FFF2-40B4-BE49-F238E27FC236}">
                <a16:creationId xmlns:a16="http://schemas.microsoft.com/office/drawing/2014/main" id="{0C23FA7B-2274-364B-910E-F14BF1572755}"/>
              </a:ext>
            </a:extLst>
          </p:cNvPr>
          <p:cNvSpPr>
            <a:spLocks noGrp="1"/>
          </p:cNvSpPr>
          <p:nvPr>
            <p:ph type="subTitle" idx="1"/>
          </p:nvPr>
        </p:nvSpPr>
        <p:spPr>
          <a:xfrm>
            <a:off x="3102654" y="4249360"/>
            <a:ext cx="6041346" cy="688369"/>
          </a:xfrm>
        </p:spPr>
        <p:txBody>
          <a:bodyPr>
            <a:normAutofit fontScale="92500"/>
          </a:bodyPr>
          <a:lstStyle/>
          <a:p>
            <a:pPr algn="ctr"/>
            <a:r>
              <a:rPr lang="en-US" dirty="0"/>
              <a:t>WST3015: Interdisciplinary Perspectives in Women’s Studies </a:t>
            </a:r>
          </a:p>
        </p:txBody>
      </p:sp>
      <p:cxnSp>
        <p:nvCxnSpPr>
          <p:cNvPr id="13" name="Straight Connector 12">
            <a:extLst>
              <a:ext uri="{FF2B5EF4-FFF2-40B4-BE49-F238E27FC236}">
                <a16:creationId xmlns:a16="http://schemas.microsoft.com/office/drawing/2014/main" id="{414C5C93-B9E9-4392-ADCF-ABF21209DD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2"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94659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AEED5540-64E5-4258-ABA4-753F07B71B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1C3281D-A46F-4842-9340-4CBC29E1B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mpty calendar with pencil">
            <a:extLst>
              <a:ext uri="{FF2B5EF4-FFF2-40B4-BE49-F238E27FC236}">
                <a16:creationId xmlns:a16="http://schemas.microsoft.com/office/drawing/2014/main" id="{056A23A5-F530-467C-946B-6873A85E7D9D}"/>
              </a:ext>
            </a:extLst>
          </p:cNvPr>
          <p:cNvPicPr>
            <a:picLocks noChangeAspect="1"/>
          </p:cNvPicPr>
          <p:nvPr/>
        </p:nvPicPr>
        <p:blipFill rotWithShape="1">
          <a:blip r:embed="rId2">
            <a:alphaModFix amt="50000"/>
          </a:blip>
          <a:srcRect t="15730"/>
          <a:stretch/>
        </p:blipFill>
        <p:spPr>
          <a:xfrm>
            <a:off x="0" y="10"/>
            <a:ext cx="12191980" cy="6857990"/>
          </a:xfrm>
          <a:prstGeom prst="rect">
            <a:avLst/>
          </a:prstGeom>
        </p:spPr>
      </p:pic>
      <p:sp>
        <p:nvSpPr>
          <p:cNvPr id="2" name="Title 1">
            <a:extLst>
              <a:ext uri="{FF2B5EF4-FFF2-40B4-BE49-F238E27FC236}">
                <a16:creationId xmlns:a16="http://schemas.microsoft.com/office/drawing/2014/main" id="{3B54AA83-D60A-E345-BA36-802F62142477}"/>
              </a:ext>
            </a:extLst>
          </p:cNvPr>
          <p:cNvSpPr>
            <a:spLocks noGrp="1"/>
          </p:cNvSpPr>
          <p:nvPr>
            <p:ph type="title"/>
          </p:nvPr>
        </p:nvSpPr>
        <p:spPr>
          <a:xfrm>
            <a:off x="1429612" y="1013984"/>
            <a:ext cx="6952388" cy="3260635"/>
          </a:xfrm>
        </p:spPr>
        <p:txBody>
          <a:bodyPr vert="horz" lIns="91440" tIns="45720" rIns="91440" bIns="45720" rtlCol="0" anchor="b">
            <a:normAutofit/>
          </a:bodyPr>
          <a:lstStyle/>
          <a:p>
            <a:r>
              <a:rPr lang="en-US" sz="5600" dirty="0">
                <a:solidFill>
                  <a:srgbClr val="FFFFFF"/>
                </a:solidFill>
              </a:rPr>
              <a:t>WHAT YEAR IS IT?</a:t>
            </a:r>
          </a:p>
        </p:txBody>
      </p:sp>
      <p:cxnSp>
        <p:nvCxnSpPr>
          <p:cNvPr id="13" name="Straight Connector 12">
            <a:extLst>
              <a:ext uri="{FF2B5EF4-FFF2-40B4-BE49-F238E27FC236}">
                <a16:creationId xmlns:a16="http://schemas.microsoft.com/office/drawing/2014/main" id="{313FECB8-44EE-4A45-9F7B-66ECF1C3C8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64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949130-F4C8-4E64-AD1A-B3611E435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0DB4423-716D-4B40-9498-69F5F3E5E0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Oval 18">
            <a:extLst>
              <a:ext uri="{FF2B5EF4-FFF2-40B4-BE49-F238E27FC236}">
                <a16:creationId xmlns:a16="http://schemas.microsoft.com/office/drawing/2014/main" id="{0B339CD8-1850-4DF2-BCDF-1CAAE5F872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6532F-42E0-BC45-B085-15F0A1F83654}"/>
              </a:ext>
            </a:extLst>
          </p:cNvPr>
          <p:cNvSpPr>
            <a:spLocks noGrp="1"/>
          </p:cNvSpPr>
          <p:nvPr>
            <p:ph type="title"/>
          </p:nvPr>
        </p:nvSpPr>
        <p:spPr>
          <a:xfrm>
            <a:off x="1044054" y="2286000"/>
            <a:ext cx="3965456" cy="2285999"/>
          </a:xfrm>
        </p:spPr>
        <p:txBody>
          <a:bodyPr anchor="ctr">
            <a:normAutofit/>
          </a:bodyPr>
          <a:lstStyle/>
          <a:p>
            <a:pPr algn="ctr"/>
            <a:r>
              <a:rPr lang="en-US" sz="2600"/>
              <a:t>What is social constructionism?</a:t>
            </a:r>
          </a:p>
        </p:txBody>
      </p:sp>
      <p:sp>
        <p:nvSpPr>
          <p:cNvPr id="3" name="Content Placeholder 2">
            <a:extLst>
              <a:ext uri="{FF2B5EF4-FFF2-40B4-BE49-F238E27FC236}">
                <a16:creationId xmlns:a16="http://schemas.microsoft.com/office/drawing/2014/main" id="{3916C1AB-80DD-7E4A-BDDD-844CBA82FBB3}"/>
              </a:ext>
            </a:extLst>
          </p:cNvPr>
          <p:cNvSpPr>
            <a:spLocks noGrp="1"/>
          </p:cNvSpPr>
          <p:nvPr>
            <p:ph idx="1"/>
          </p:nvPr>
        </p:nvSpPr>
        <p:spPr>
          <a:xfrm>
            <a:off x="6898828" y="741218"/>
            <a:ext cx="4559975" cy="5375564"/>
          </a:xfrm>
        </p:spPr>
        <p:txBody>
          <a:bodyPr anchor="ctr">
            <a:noAutofit/>
          </a:bodyPr>
          <a:lstStyle/>
          <a:p>
            <a:r>
              <a:rPr lang="en-US" sz="2400" dirty="0"/>
              <a:t>A theory of knowledge that holds that traits normally thought to be </a:t>
            </a:r>
            <a:r>
              <a:rPr lang="en-US" sz="2400" i="1" dirty="0"/>
              <a:t>undisputable</a:t>
            </a:r>
            <a:r>
              <a:rPr lang="en-US" sz="2400" dirty="0"/>
              <a:t> and </a:t>
            </a:r>
            <a:r>
              <a:rPr lang="en-US" sz="2400" i="1" dirty="0"/>
              <a:t>biological</a:t>
            </a:r>
            <a:r>
              <a:rPr lang="en-US" sz="2400" dirty="0"/>
              <a:t>—such as gender, race, class, ability, and sexuality—</a:t>
            </a:r>
            <a:r>
              <a:rPr lang="en-US" sz="2400" b="1" dirty="0"/>
              <a:t>are products of human definition </a:t>
            </a:r>
            <a:r>
              <a:rPr lang="en-US" sz="2400" dirty="0"/>
              <a:t>and interpretation shaped by cultural and historical contexts.</a:t>
            </a:r>
          </a:p>
        </p:txBody>
      </p:sp>
    </p:spTree>
    <p:extLst>
      <p:ext uri="{BB962C8B-B14F-4D97-AF65-F5344CB8AC3E}">
        <p14:creationId xmlns:p14="http://schemas.microsoft.com/office/powerpoint/2010/main" val="4005093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15B3-FAF6-094A-A527-41EB2C3F0E7D}"/>
              </a:ext>
            </a:extLst>
          </p:cNvPr>
          <p:cNvSpPr>
            <a:spLocks noGrp="1"/>
          </p:cNvSpPr>
          <p:nvPr>
            <p:ph type="title"/>
          </p:nvPr>
        </p:nvSpPr>
        <p:spPr>
          <a:xfrm>
            <a:off x="2556402" y="191529"/>
            <a:ext cx="7129464" cy="1027670"/>
          </a:xfrm>
        </p:spPr>
        <p:txBody>
          <a:bodyPr/>
          <a:lstStyle/>
          <a:p>
            <a:r>
              <a:rPr lang="en-US" sz="3200" dirty="0"/>
              <a:t>What is real what is true?</a:t>
            </a:r>
          </a:p>
        </p:txBody>
      </p:sp>
      <p:pic>
        <p:nvPicPr>
          <p:cNvPr id="5" name="Content Placeholder 4" descr="Diagram&#10;&#10;Description automatically generated">
            <a:extLst>
              <a:ext uri="{FF2B5EF4-FFF2-40B4-BE49-F238E27FC236}">
                <a16:creationId xmlns:a16="http://schemas.microsoft.com/office/drawing/2014/main" id="{C2E5C127-6FED-774C-99A7-87E4E6AEA1BC}"/>
              </a:ext>
            </a:extLst>
          </p:cNvPr>
          <p:cNvPicPr>
            <a:picLocks noGrp="1" noChangeAspect="1"/>
          </p:cNvPicPr>
          <p:nvPr>
            <p:ph idx="1"/>
          </p:nvPr>
        </p:nvPicPr>
        <p:blipFill>
          <a:blip r:embed="rId2"/>
          <a:stretch>
            <a:fillRect/>
          </a:stretch>
        </p:blipFill>
        <p:spPr>
          <a:xfrm>
            <a:off x="2225433" y="1337590"/>
            <a:ext cx="7460433" cy="5328881"/>
          </a:xfrm>
        </p:spPr>
      </p:pic>
    </p:spTree>
    <p:extLst>
      <p:ext uri="{BB962C8B-B14F-4D97-AF65-F5344CB8AC3E}">
        <p14:creationId xmlns:p14="http://schemas.microsoft.com/office/powerpoint/2010/main" val="24721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669F72C-E3FB-4C48-AEBD-AF7AC0D74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BFDE77F2-18D0-49FF-860C-62E2AC424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1DBBF6-4AA9-E645-91A5-C89505D1303E}"/>
              </a:ext>
            </a:extLst>
          </p:cNvPr>
          <p:cNvSpPr>
            <a:spLocks noGrp="1"/>
          </p:cNvSpPr>
          <p:nvPr>
            <p:ph type="title"/>
          </p:nvPr>
        </p:nvSpPr>
        <p:spPr>
          <a:xfrm>
            <a:off x="939390" y="0"/>
            <a:ext cx="4324994" cy="1773958"/>
          </a:xfrm>
        </p:spPr>
        <p:txBody>
          <a:bodyPr vert="horz" lIns="91440" tIns="45720" rIns="91440" bIns="45720" rtlCol="0" anchor="ctr">
            <a:normAutofit fontScale="90000"/>
          </a:bodyPr>
          <a:lstStyle/>
          <a:p>
            <a:pPr algn="ctr">
              <a:lnSpc>
                <a:spcPct val="110000"/>
              </a:lnSpc>
            </a:pPr>
            <a:br>
              <a:rPr lang="en-US" sz="2200" dirty="0">
                <a:solidFill>
                  <a:schemeClr val="bg1"/>
                </a:solidFill>
              </a:rPr>
            </a:br>
            <a:br>
              <a:rPr lang="en-US" sz="2200" dirty="0">
                <a:solidFill>
                  <a:schemeClr val="bg1"/>
                </a:solidFill>
              </a:rPr>
            </a:br>
            <a:r>
              <a:rPr lang="en-US" sz="2200" dirty="0">
                <a:solidFill>
                  <a:schemeClr val="bg1"/>
                </a:solidFill>
              </a:rPr>
              <a:t>Is the woman stuck in concrete? Or is she standing ALONGSIDE a wall?</a:t>
            </a:r>
          </a:p>
        </p:txBody>
      </p:sp>
      <p:pic>
        <p:nvPicPr>
          <p:cNvPr id="5" name="Picture 4" descr="A close-up of a dress&#10;&#10;Description automatically generated with medium confidence">
            <a:extLst>
              <a:ext uri="{FF2B5EF4-FFF2-40B4-BE49-F238E27FC236}">
                <a16:creationId xmlns:a16="http://schemas.microsoft.com/office/drawing/2014/main" id="{38615CDC-19FE-E244-8BFC-89A318CDEE8A}"/>
              </a:ext>
            </a:extLst>
          </p:cNvPr>
          <p:cNvPicPr>
            <a:picLocks noChangeAspect="1"/>
          </p:cNvPicPr>
          <p:nvPr/>
        </p:nvPicPr>
        <p:blipFill>
          <a:blip r:embed="rId2"/>
          <a:stretch>
            <a:fillRect/>
          </a:stretch>
        </p:blipFill>
        <p:spPr>
          <a:xfrm>
            <a:off x="7451982" y="1920229"/>
            <a:ext cx="3368418" cy="4486125"/>
          </a:xfrm>
          <a:prstGeom prst="rect">
            <a:avLst/>
          </a:prstGeom>
        </p:spPr>
      </p:pic>
      <p:pic>
        <p:nvPicPr>
          <p:cNvPr id="7" name="Picture 6" descr="A child playing in the sand&#10;&#10;Description automatically generated with medium confidence">
            <a:extLst>
              <a:ext uri="{FF2B5EF4-FFF2-40B4-BE49-F238E27FC236}">
                <a16:creationId xmlns:a16="http://schemas.microsoft.com/office/drawing/2014/main" id="{FB7DEDE0-B098-0B43-8ECD-F03502EDC7FF}"/>
              </a:ext>
            </a:extLst>
          </p:cNvPr>
          <p:cNvPicPr>
            <a:picLocks noChangeAspect="1"/>
          </p:cNvPicPr>
          <p:nvPr/>
        </p:nvPicPr>
        <p:blipFill>
          <a:blip r:embed="rId3"/>
          <a:stretch>
            <a:fillRect/>
          </a:stretch>
        </p:blipFill>
        <p:spPr>
          <a:xfrm>
            <a:off x="260174" y="2072203"/>
            <a:ext cx="5628554" cy="4221416"/>
          </a:xfrm>
          <a:prstGeom prst="rect">
            <a:avLst/>
          </a:prstGeom>
        </p:spPr>
      </p:pic>
      <p:sp>
        <p:nvSpPr>
          <p:cNvPr id="8" name="Rectangle 7">
            <a:extLst>
              <a:ext uri="{FF2B5EF4-FFF2-40B4-BE49-F238E27FC236}">
                <a16:creationId xmlns:a16="http://schemas.microsoft.com/office/drawing/2014/main" id="{E0C745DF-F851-704D-B387-65F671E30705}"/>
              </a:ext>
            </a:extLst>
          </p:cNvPr>
          <p:cNvSpPr/>
          <p:nvPr/>
        </p:nvSpPr>
        <p:spPr>
          <a:xfrm>
            <a:off x="6275422" y="-592133"/>
            <a:ext cx="6380345" cy="3286842"/>
          </a:xfrm>
          <a:prstGeom prst="rect">
            <a:avLst/>
          </a:prstGeom>
        </p:spPr>
        <p:txBody>
          <a:bodyPr vert="horz" lIns="91440" tIns="45720" rIns="91440" bIns="45720" rtlCol="0" anchor="ctr">
            <a:normAutofit/>
          </a:bodyPr>
          <a:lstStyle/>
          <a:p>
            <a:pPr>
              <a:lnSpc>
                <a:spcPct val="130000"/>
              </a:lnSpc>
              <a:spcAft>
                <a:spcPts val="600"/>
              </a:spcAft>
              <a:buSzPct val="85000"/>
            </a:pPr>
            <a:r>
              <a:rPr lang="en-US" sz="3000" dirty="0"/>
              <a:t>IS THE DRESS WHITE AND GOLD?</a:t>
            </a:r>
          </a:p>
          <a:p>
            <a:pPr>
              <a:lnSpc>
                <a:spcPct val="130000"/>
              </a:lnSpc>
              <a:spcAft>
                <a:spcPts val="600"/>
              </a:spcAft>
              <a:buSzPct val="85000"/>
            </a:pPr>
            <a:r>
              <a:rPr lang="en-US" sz="3000" dirty="0"/>
              <a:t>OR IS IT BLUE AND BLACK?</a:t>
            </a:r>
          </a:p>
        </p:txBody>
      </p:sp>
    </p:spTree>
    <p:extLst>
      <p:ext uri="{BB962C8B-B14F-4D97-AF65-F5344CB8AC3E}">
        <p14:creationId xmlns:p14="http://schemas.microsoft.com/office/powerpoint/2010/main" val="1519824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286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2EF7088-3A36-C64A-8255-CEE65F40898E}"/>
              </a:ext>
            </a:extLst>
          </p:cNvPr>
          <p:cNvSpPr>
            <a:spLocks noGrp="1"/>
          </p:cNvSpPr>
          <p:nvPr>
            <p:ph idx="1"/>
          </p:nvPr>
        </p:nvSpPr>
        <p:spPr>
          <a:xfrm>
            <a:off x="210364" y="207716"/>
            <a:ext cx="10817853" cy="3221284"/>
          </a:xfrm>
        </p:spPr>
        <p:txBody>
          <a:bodyPr>
            <a:noAutofit/>
          </a:bodyPr>
          <a:lstStyle/>
          <a:p>
            <a:r>
              <a:rPr lang="en-US" sz="3200" dirty="0"/>
              <a:t>Social constructionism highlights the ways in which cultural categories—like “men,” “women,” “black,” “white”—</a:t>
            </a:r>
            <a:r>
              <a:rPr lang="en-US" sz="3200" dirty="0">
                <a:highlight>
                  <a:srgbClr val="00FF00"/>
                </a:highlight>
              </a:rPr>
              <a:t>are concepts created, changed, and reproduced through historical processes.</a:t>
            </a:r>
          </a:p>
          <a:p>
            <a:r>
              <a:rPr lang="en-US" sz="3200" dirty="0"/>
              <a:t>This is not to say that bodily variation among individuals does not exist, but that we construct categories based on certain bodily features, we attach meanings to these categories, and then we place people into the categories by considering their bodies or bodily aspects. </a:t>
            </a:r>
          </a:p>
          <a:p>
            <a:r>
              <a:rPr lang="en-US" sz="3200" dirty="0"/>
              <a:t>Example: The ”one drop” rule</a:t>
            </a:r>
          </a:p>
        </p:txBody>
      </p:sp>
    </p:spTree>
    <p:extLst>
      <p:ext uri="{BB962C8B-B14F-4D97-AF65-F5344CB8AC3E}">
        <p14:creationId xmlns:p14="http://schemas.microsoft.com/office/powerpoint/2010/main" val="325672311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E0197-E07B-E140-B3D7-1479D57B265B}"/>
              </a:ext>
            </a:extLst>
          </p:cNvPr>
          <p:cNvSpPr>
            <a:spLocks noGrp="1"/>
          </p:cNvSpPr>
          <p:nvPr>
            <p:ph type="title"/>
          </p:nvPr>
        </p:nvSpPr>
        <p:spPr/>
        <p:txBody>
          <a:bodyPr/>
          <a:lstStyle/>
          <a:p>
            <a:r>
              <a:rPr lang="en-US" dirty="0"/>
              <a:t>What does “Race” Mean? What race are these women?</a:t>
            </a:r>
          </a:p>
        </p:txBody>
      </p:sp>
      <p:pic>
        <p:nvPicPr>
          <p:cNvPr id="5" name="Content Placeholder 4">
            <a:extLst>
              <a:ext uri="{FF2B5EF4-FFF2-40B4-BE49-F238E27FC236}">
                <a16:creationId xmlns:a16="http://schemas.microsoft.com/office/drawing/2014/main" id="{2715B2AF-8EF0-DD4C-803E-AFD549B7E4D5}"/>
              </a:ext>
            </a:extLst>
          </p:cNvPr>
          <p:cNvPicPr>
            <a:picLocks noGrp="1" noChangeAspect="1"/>
          </p:cNvPicPr>
          <p:nvPr>
            <p:ph idx="1"/>
          </p:nvPr>
        </p:nvPicPr>
        <p:blipFill>
          <a:blip r:embed="rId2"/>
          <a:stretch>
            <a:fillRect/>
          </a:stretch>
        </p:blipFill>
        <p:spPr>
          <a:xfrm>
            <a:off x="4743398" y="2286000"/>
            <a:ext cx="2611541" cy="3810000"/>
          </a:xfrm>
        </p:spPr>
      </p:pic>
    </p:spTree>
    <p:extLst>
      <p:ext uri="{BB962C8B-B14F-4D97-AF65-F5344CB8AC3E}">
        <p14:creationId xmlns:p14="http://schemas.microsoft.com/office/powerpoint/2010/main" val="161078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E8517-60B3-1449-94BA-4B7E5FCF6516}"/>
              </a:ext>
            </a:extLst>
          </p:cNvPr>
          <p:cNvSpPr>
            <a:spLocks noGrp="1"/>
          </p:cNvSpPr>
          <p:nvPr>
            <p:ph type="title"/>
          </p:nvPr>
        </p:nvSpPr>
        <p:spPr>
          <a:xfrm>
            <a:off x="388706" y="0"/>
            <a:ext cx="3949830" cy="1377710"/>
          </a:xfrm>
        </p:spPr>
        <p:txBody>
          <a:bodyPr/>
          <a:lstStyle/>
          <a:p>
            <a:r>
              <a:rPr lang="en-US" dirty="0"/>
              <a:t>1860 Census </a:t>
            </a:r>
          </a:p>
        </p:txBody>
      </p:sp>
      <p:pic>
        <p:nvPicPr>
          <p:cNvPr id="5" name="Content Placeholder 4">
            <a:extLst>
              <a:ext uri="{FF2B5EF4-FFF2-40B4-BE49-F238E27FC236}">
                <a16:creationId xmlns:a16="http://schemas.microsoft.com/office/drawing/2014/main" id="{FE6CB0BA-C11F-1D49-A5F0-50DD4527C570}"/>
              </a:ext>
            </a:extLst>
          </p:cNvPr>
          <p:cNvPicPr>
            <a:picLocks noGrp="1" noChangeAspect="1"/>
          </p:cNvPicPr>
          <p:nvPr>
            <p:ph idx="1"/>
          </p:nvPr>
        </p:nvPicPr>
        <p:blipFill>
          <a:blip r:embed="rId2"/>
          <a:stretch>
            <a:fillRect/>
          </a:stretch>
        </p:blipFill>
        <p:spPr>
          <a:xfrm>
            <a:off x="2897272" y="1796293"/>
            <a:ext cx="6820660" cy="4671385"/>
          </a:xfrm>
        </p:spPr>
      </p:pic>
    </p:spTree>
    <p:extLst>
      <p:ext uri="{BB962C8B-B14F-4D97-AF65-F5344CB8AC3E}">
        <p14:creationId xmlns:p14="http://schemas.microsoft.com/office/powerpoint/2010/main" val="227605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07627-4EC1-8047-A6AF-36D276D667AA}"/>
              </a:ext>
            </a:extLst>
          </p:cNvPr>
          <p:cNvSpPr>
            <a:spLocks noGrp="1"/>
          </p:cNvSpPr>
          <p:nvPr>
            <p:ph type="title"/>
          </p:nvPr>
        </p:nvSpPr>
        <p:spPr>
          <a:xfrm>
            <a:off x="320613" y="762000"/>
            <a:ext cx="4445940" cy="588802"/>
          </a:xfrm>
        </p:spPr>
        <p:txBody>
          <a:bodyPr/>
          <a:lstStyle/>
          <a:p>
            <a:r>
              <a:rPr lang="en-US" dirty="0"/>
              <a:t>Race is a social construct: </a:t>
            </a:r>
          </a:p>
        </p:txBody>
      </p:sp>
      <p:pic>
        <p:nvPicPr>
          <p:cNvPr id="5" name="Content Placeholder 4">
            <a:extLst>
              <a:ext uri="{FF2B5EF4-FFF2-40B4-BE49-F238E27FC236}">
                <a16:creationId xmlns:a16="http://schemas.microsoft.com/office/drawing/2014/main" id="{6A287F9E-E40A-C342-B6A6-7052A8FE1E47}"/>
              </a:ext>
            </a:extLst>
          </p:cNvPr>
          <p:cNvPicPr>
            <a:picLocks noGrp="1" noChangeAspect="1"/>
          </p:cNvPicPr>
          <p:nvPr>
            <p:ph idx="1"/>
          </p:nvPr>
        </p:nvPicPr>
        <p:blipFill>
          <a:blip r:embed="rId2"/>
          <a:stretch>
            <a:fillRect/>
          </a:stretch>
        </p:blipFill>
        <p:spPr>
          <a:xfrm>
            <a:off x="5983061" y="192403"/>
            <a:ext cx="4902190" cy="6282975"/>
          </a:xfrm>
        </p:spPr>
      </p:pic>
    </p:spTree>
    <p:extLst>
      <p:ext uri="{BB962C8B-B14F-4D97-AF65-F5344CB8AC3E}">
        <p14:creationId xmlns:p14="http://schemas.microsoft.com/office/powerpoint/2010/main" val="3928445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B698-2F1B-FB4F-BB6B-709D20979EA7}"/>
              </a:ext>
            </a:extLst>
          </p:cNvPr>
          <p:cNvSpPr>
            <a:spLocks noGrp="1"/>
          </p:cNvSpPr>
          <p:nvPr>
            <p:ph type="title"/>
          </p:nvPr>
        </p:nvSpPr>
        <p:spPr>
          <a:xfrm>
            <a:off x="7015489" y="3039615"/>
            <a:ext cx="4971234" cy="929270"/>
          </a:xfrm>
        </p:spPr>
        <p:txBody>
          <a:bodyPr/>
          <a:lstStyle/>
          <a:p>
            <a:r>
              <a:rPr lang="en-US" dirty="0"/>
              <a:t>Proposed Changes Reflect current constructs.</a:t>
            </a:r>
          </a:p>
        </p:txBody>
      </p:sp>
      <p:pic>
        <p:nvPicPr>
          <p:cNvPr id="5" name="Content Placeholder 4">
            <a:extLst>
              <a:ext uri="{FF2B5EF4-FFF2-40B4-BE49-F238E27FC236}">
                <a16:creationId xmlns:a16="http://schemas.microsoft.com/office/drawing/2014/main" id="{27D939D7-536D-1742-8FA3-E92BACC4355F}"/>
              </a:ext>
            </a:extLst>
          </p:cNvPr>
          <p:cNvPicPr>
            <a:picLocks noGrp="1" noChangeAspect="1"/>
          </p:cNvPicPr>
          <p:nvPr>
            <p:ph idx="1"/>
          </p:nvPr>
        </p:nvPicPr>
        <p:blipFill>
          <a:blip r:embed="rId2"/>
          <a:stretch>
            <a:fillRect/>
          </a:stretch>
        </p:blipFill>
        <p:spPr>
          <a:xfrm>
            <a:off x="205277" y="1260197"/>
            <a:ext cx="6506407" cy="4337605"/>
          </a:xfrm>
        </p:spPr>
      </p:pic>
    </p:spTree>
    <p:extLst>
      <p:ext uri="{BB962C8B-B14F-4D97-AF65-F5344CB8AC3E}">
        <p14:creationId xmlns:p14="http://schemas.microsoft.com/office/powerpoint/2010/main" val="772793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6B17-15CC-814A-B062-0277EEECEA3D}"/>
              </a:ext>
            </a:extLst>
          </p:cNvPr>
          <p:cNvSpPr>
            <a:spLocks noGrp="1"/>
          </p:cNvSpPr>
          <p:nvPr>
            <p:ph type="title"/>
          </p:nvPr>
        </p:nvSpPr>
        <p:spPr>
          <a:xfrm>
            <a:off x="1604664" y="286687"/>
            <a:ext cx="9238434" cy="857559"/>
          </a:xfrm>
        </p:spPr>
        <p:txBody>
          <a:bodyPr/>
          <a:lstStyle/>
          <a:p>
            <a:r>
              <a:rPr lang="en-US" dirty="0"/>
              <a:t>Meanings of Race Shift over time</a:t>
            </a:r>
            <a:br>
              <a:rPr lang="en-US" dirty="0"/>
            </a:br>
            <a:r>
              <a:rPr lang="en-US" dirty="0"/>
              <a:t>1940 Census:</a:t>
            </a:r>
          </a:p>
        </p:txBody>
      </p:sp>
      <p:pic>
        <p:nvPicPr>
          <p:cNvPr id="5" name="Content Placeholder 4">
            <a:extLst>
              <a:ext uri="{FF2B5EF4-FFF2-40B4-BE49-F238E27FC236}">
                <a16:creationId xmlns:a16="http://schemas.microsoft.com/office/drawing/2014/main" id="{2872DFE8-A49B-F045-9EF1-ED29A02DCCC2}"/>
              </a:ext>
            </a:extLst>
          </p:cNvPr>
          <p:cNvPicPr>
            <a:picLocks noGrp="1" noChangeAspect="1"/>
          </p:cNvPicPr>
          <p:nvPr>
            <p:ph idx="1"/>
          </p:nvPr>
        </p:nvPicPr>
        <p:blipFill>
          <a:blip r:embed="rId2"/>
          <a:stretch>
            <a:fillRect/>
          </a:stretch>
        </p:blipFill>
        <p:spPr>
          <a:xfrm>
            <a:off x="2166313" y="1474987"/>
            <a:ext cx="6983883" cy="4853479"/>
          </a:xfrm>
        </p:spPr>
      </p:pic>
    </p:spTree>
    <p:extLst>
      <p:ext uri="{BB962C8B-B14F-4D97-AF65-F5344CB8AC3E}">
        <p14:creationId xmlns:p14="http://schemas.microsoft.com/office/powerpoint/2010/main" val="2631407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5F4FB-8E57-5247-B138-A5D407F03BA6}"/>
              </a:ext>
            </a:extLst>
          </p:cNvPr>
          <p:cNvSpPr>
            <a:spLocks noGrp="1"/>
          </p:cNvSpPr>
          <p:nvPr>
            <p:ph type="title"/>
          </p:nvPr>
        </p:nvSpPr>
        <p:spPr>
          <a:xfrm>
            <a:off x="952911" y="447473"/>
            <a:ext cx="2801966" cy="832961"/>
          </a:xfrm>
        </p:spPr>
        <p:txBody>
          <a:bodyPr/>
          <a:lstStyle/>
          <a:p>
            <a:r>
              <a:rPr lang="en-US" dirty="0"/>
              <a:t>2010 Census </a:t>
            </a:r>
          </a:p>
        </p:txBody>
      </p:sp>
      <p:pic>
        <p:nvPicPr>
          <p:cNvPr id="5" name="Content Placeholder 4">
            <a:extLst>
              <a:ext uri="{FF2B5EF4-FFF2-40B4-BE49-F238E27FC236}">
                <a16:creationId xmlns:a16="http://schemas.microsoft.com/office/drawing/2014/main" id="{7980A2C1-7F95-C443-878C-6C6708288885}"/>
              </a:ext>
            </a:extLst>
          </p:cNvPr>
          <p:cNvPicPr>
            <a:picLocks noGrp="1" noChangeAspect="1"/>
          </p:cNvPicPr>
          <p:nvPr>
            <p:ph idx="1"/>
          </p:nvPr>
        </p:nvPicPr>
        <p:blipFill>
          <a:blip r:embed="rId2"/>
          <a:stretch>
            <a:fillRect/>
          </a:stretch>
        </p:blipFill>
        <p:spPr>
          <a:xfrm>
            <a:off x="4669814" y="295273"/>
            <a:ext cx="5200964" cy="6267454"/>
          </a:xfrm>
        </p:spPr>
      </p:pic>
    </p:spTree>
    <p:extLst>
      <p:ext uri="{BB962C8B-B14F-4D97-AF65-F5344CB8AC3E}">
        <p14:creationId xmlns:p14="http://schemas.microsoft.com/office/powerpoint/2010/main" val="240256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EED5540-64E5-4258-ABA4-753F07B71B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1C3281D-A46F-4842-9340-4CBC29E1B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cture containing diagram&#10;&#10;Description automatically generated">
            <a:extLst>
              <a:ext uri="{FF2B5EF4-FFF2-40B4-BE49-F238E27FC236}">
                <a16:creationId xmlns:a16="http://schemas.microsoft.com/office/drawing/2014/main" id="{E987D4A1-0870-E844-B6AB-662EF19DFCEB}"/>
              </a:ext>
            </a:extLst>
          </p:cNvPr>
          <p:cNvPicPr>
            <a:picLocks noGrp="1" noChangeAspect="1"/>
          </p:cNvPicPr>
          <p:nvPr>
            <p:ph idx="1"/>
          </p:nvPr>
        </p:nvPicPr>
        <p:blipFill rotWithShape="1">
          <a:blip r:embed="rId2">
            <a:alphaModFix amt="50000"/>
          </a:blip>
          <a:srcRect b="22945"/>
          <a:stretch/>
        </p:blipFill>
        <p:spPr>
          <a:xfrm>
            <a:off x="-538" y="-104400"/>
            <a:ext cx="12191980" cy="6857990"/>
          </a:xfrm>
          <a:prstGeom prst="rect">
            <a:avLst/>
          </a:prstGeom>
        </p:spPr>
      </p:pic>
      <p:sp>
        <p:nvSpPr>
          <p:cNvPr id="2" name="Title 1">
            <a:extLst>
              <a:ext uri="{FF2B5EF4-FFF2-40B4-BE49-F238E27FC236}">
                <a16:creationId xmlns:a16="http://schemas.microsoft.com/office/drawing/2014/main" id="{871C19EC-7383-7548-988C-05B440C3B706}"/>
              </a:ext>
            </a:extLst>
          </p:cNvPr>
          <p:cNvSpPr>
            <a:spLocks noGrp="1"/>
          </p:cNvSpPr>
          <p:nvPr>
            <p:ph type="title"/>
          </p:nvPr>
        </p:nvSpPr>
        <p:spPr>
          <a:xfrm>
            <a:off x="720436" y="3713018"/>
            <a:ext cx="10400610" cy="2847601"/>
          </a:xfrm>
        </p:spPr>
        <p:txBody>
          <a:bodyPr vert="horz" lIns="91440" tIns="45720" rIns="91440" bIns="45720" rtlCol="0" anchor="b">
            <a:normAutofit/>
          </a:bodyPr>
          <a:lstStyle/>
          <a:p>
            <a:pPr algn="ctr"/>
            <a:r>
              <a:rPr lang="en-US" sz="3000" dirty="0">
                <a:solidFill>
                  <a:schemeClr val="bg1"/>
                </a:solidFill>
                <a:highlight>
                  <a:srgbClr val="FFFF00"/>
                </a:highlight>
              </a:rPr>
              <a:t>How does this relate to gender studies?</a:t>
            </a:r>
          </a:p>
        </p:txBody>
      </p:sp>
      <p:cxnSp>
        <p:nvCxnSpPr>
          <p:cNvPr id="14" name="Straight Connector 13">
            <a:extLst>
              <a:ext uri="{FF2B5EF4-FFF2-40B4-BE49-F238E27FC236}">
                <a16:creationId xmlns:a16="http://schemas.microsoft.com/office/drawing/2014/main" id="{D4EDB048-C82F-4E9B-BCE9-3D1DBE5D59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09875"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074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82BB-73B3-654F-970B-2F7F1850E64D}"/>
              </a:ext>
            </a:extLst>
          </p:cNvPr>
          <p:cNvSpPr>
            <a:spLocks noGrp="1"/>
          </p:cNvSpPr>
          <p:nvPr>
            <p:ph type="title"/>
          </p:nvPr>
        </p:nvSpPr>
        <p:spPr>
          <a:xfrm>
            <a:off x="5604934" y="372533"/>
            <a:ext cx="5972151" cy="4739097"/>
          </a:xfrm>
        </p:spPr>
        <p:txBody>
          <a:bodyPr/>
          <a:lstStyle/>
          <a:p>
            <a:r>
              <a:rPr lang="en-US" b="0" dirty="0"/>
              <a:t>a June 1918 article from the trade publication </a:t>
            </a:r>
            <a:r>
              <a:rPr lang="en-US" b="0" i="1" dirty="0"/>
              <a:t>Earnshaw's Infants' Department</a:t>
            </a:r>
            <a:r>
              <a:rPr lang="en-US" b="0" dirty="0"/>
              <a:t> said, “The generally accepted rule is pink for the boys, and blue for the girls</a:t>
            </a:r>
            <a:endParaRPr lang="en-US" dirty="0"/>
          </a:p>
        </p:txBody>
      </p:sp>
      <p:pic>
        <p:nvPicPr>
          <p:cNvPr id="5" name="Content Placeholder 4" descr="A picture containing text, person, child&#10;&#10;Description automatically generated">
            <a:extLst>
              <a:ext uri="{FF2B5EF4-FFF2-40B4-BE49-F238E27FC236}">
                <a16:creationId xmlns:a16="http://schemas.microsoft.com/office/drawing/2014/main" id="{385FCE97-287F-B54D-80DE-7D6CAD412328}"/>
              </a:ext>
            </a:extLst>
          </p:cNvPr>
          <p:cNvPicPr>
            <a:picLocks noGrp="1" noChangeAspect="1"/>
          </p:cNvPicPr>
          <p:nvPr>
            <p:ph idx="1"/>
          </p:nvPr>
        </p:nvPicPr>
        <p:blipFill>
          <a:blip r:embed="rId2"/>
          <a:stretch>
            <a:fillRect/>
          </a:stretch>
        </p:blipFill>
        <p:spPr>
          <a:xfrm>
            <a:off x="1106751" y="531368"/>
            <a:ext cx="4193381" cy="5376129"/>
          </a:xfrm>
        </p:spPr>
      </p:pic>
    </p:spTree>
    <p:extLst>
      <p:ext uri="{BB962C8B-B14F-4D97-AF65-F5344CB8AC3E}">
        <p14:creationId xmlns:p14="http://schemas.microsoft.com/office/powerpoint/2010/main" val="4088094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ED5540-64E5-4258-ABA4-753F07B71B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D5176BE-8078-4E8C-8FD1-4EE28C170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414C5C93-B9E9-4392-ADCF-ABF21209DD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pic>
        <p:nvPicPr>
          <p:cNvPr id="13" name="Picture 12" descr="A baby in a pink dress holding a sword&#10;&#10;Description automatically generated with low confidence">
            <a:extLst>
              <a:ext uri="{FF2B5EF4-FFF2-40B4-BE49-F238E27FC236}">
                <a16:creationId xmlns:a16="http://schemas.microsoft.com/office/drawing/2014/main" id="{7D86040F-166D-384D-AF60-341690C3518F}"/>
              </a:ext>
            </a:extLst>
          </p:cNvPr>
          <p:cNvPicPr>
            <a:picLocks noChangeAspect="1"/>
          </p:cNvPicPr>
          <p:nvPr/>
        </p:nvPicPr>
        <p:blipFill>
          <a:blip r:embed="rId2"/>
          <a:stretch>
            <a:fillRect/>
          </a:stretch>
        </p:blipFill>
        <p:spPr>
          <a:xfrm>
            <a:off x="6924963" y="158393"/>
            <a:ext cx="4686300" cy="6318607"/>
          </a:xfrm>
          <a:prstGeom prst="rect">
            <a:avLst/>
          </a:prstGeom>
        </p:spPr>
      </p:pic>
      <p:pic>
        <p:nvPicPr>
          <p:cNvPr id="17" name="Picture 16" descr="A person holding a baby&#10;&#10;Description automatically generated with low confidence">
            <a:extLst>
              <a:ext uri="{FF2B5EF4-FFF2-40B4-BE49-F238E27FC236}">
                <a16:creationId xmlns:a16="http://schemas.microsoft.com/office/drawing/2014/main" id="{201C1195-03A7-1146-902B-B24BA38A5364}"/>
              </a:ext>
            </a:extLst>
          </p:cNvPr>
          <p:cNvPicPr>
            <a:picLocks noChangeAspect="1"/>
          </p:cNvPicPr>
          <p:nvPr/>
        </p:nvPicPr>
        <p:blipFill>
          <a:blip r:embed="rId3"/>
          <a:stretch>
            <a:fillRect/>
          </a:stretch>
        </p:blipFill>
        <p:spPr>
          <a:xfrm>
            <a:off x="822128" y="157343"/>
            <a:ext cx="4858236" cy="6319657"/>
          </a:xfrm>
          <a:prstGeom prst="rect">
            <a:avLst/>
          </a:prstGeom>
        </p:spPr>
      </p:pic>
    </p:spTree>
    <p:extLst>
      <p:ext uri="{BB962C8B-B14F-4D97-AF65-F5344CB8AC3E}">
        <p14:creationId xmlns:p14="http://schemas.microsoft.com/office/powerpoint/2010/main" val="2757461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AEED5540-64E5-4258-ABA4-753F07B71B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C3281D-A46F-4842-9340-4CBC29E1B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llage of a person&#10;&#10;Description automatically generated with medium confidence">
            <a:extLst>
              <a:ext uri="{FF2B5EF4-FFF2-40B4-BE49-F238E27FC236}">
                <a16:creationId xmlns:a16="http://schemas.microsoft.com/office/drawing/2014/main" id="{94FF77A0-D807-B045-BB92-DAA039F2CBEA}"/>
              </a:ext>
            </a:extLst>
          </p:cNvPr>
          <p:cNvPicPr>
            <a:picLocks noChangeAspect="1"/>
          </p:cNvPicPr>
          <p:nvPr/>
        </p:nvPicPr>
        <p:blipFill rotWithShape="1">
          <a:blip r:embed="rId2">
            <a:alphaModFix amt="50000"/>
          </a:blip>
          <a:srcRect t="4865" b="7926"/>
          <a:stretch/>
        </p:blipFill>
        <p:spPr>
          <a:xfrm>
            <a:off x="20" y="10"/>
            <a:ext cx="12191980" cy="6857990"/>
          </a:xfrm>
          <a:prstGeom prst="rect">
            <a:avLst/>
          </a:prstGeom>
        </p:spPr>
      </p:pic>
      <p:sp>
        <p:nvSpPr>
          <p:cNvPr id="2" name="Title 1">
            <a:extLst>
              <a:ext uri="{FF2B5EF4-FFF2-40B4-BE49-F238E27FC236}">
                <a16:creationId xmlns:a16="http://schemas.microsoft.com/office/drawing/2014/main" id="{4A76EC26-286D-484A-8DC7-CDC58D707CBF}"/>
              </a:ext>
            </a:extLst>
          </p:cNvPr>
          <p:cNvSpPr>
            <a:spLocks noGrp="1"/>
          </p:cNvSpPr>
          <p:nvPr>
            <p:ph type="title"/>
          </p:nvPr>
        </p:nvSpPr>
        <p:spPr>
          <a:xfrm>
            <a:off x="2238258" y="1424473"/>
            <a:ext cx="7714388" cy="2850146"/>
          </a:xfrm>
        </p:spPr>
        <p:txBody>
          <a:bodyPr vert="horz" lIns="91440" tIns="45720" rIns="91440" bIns="45720" rtlCol="0" anchor="b">
            <a:normAutofit/>
          </a:bodyPr>
          <a:lstStyle/>
          <a:p>
            <a:pPr algn="ctr"/>
            <a:r>
              <a:rPr lang="en-US"/>
              <a:t>Yankee Doodle went to town</a:t>
            </a:r>
            <a:br>
              <a:rPr lang="en-US"/>
            </a:br>
            <a:r>
              <a:rPr lang="en-US"/>
              <a:t>riding on a pony. </a:t>
            </a:r>
            <a:br>
              <a:rPr lang="en-US"/>
            </a:br>
            <a:r>
              <a:rPr lang="en-US"/>
              <a:t>He stuck a feather in his cap </a:t>
            </a:r>
            <a:br>
              <a:rPr lang="en-US"/>
            </a:br>
            <a:r>
              <a:rPr lang="en-US"/>
              <a:t>and called it macaroni.</a:t>
            </a:r>
          </a:p>
        </p:txBody>
      </p:sp>
      <p:cxnSp>
        <p:nvCxnSpPr>
          <p:cNvPr id="20" name="Straight Connector 19">
            <a:extLst>
              <a:ext uri="{FF2B5EF4-FFF2-40B4-BE49-F238E27FC236}">
                <a16:creationId xmlns:a16="http://schemas.microsoft.com/office/drawing/2014/main" id="{D4EDB048-C82F-4E9B-BCE9-3D1DBE5D59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09875"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24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9">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10;&#10;Description automatically generated">
            <a:extLst>
              <a:ext uri="{FF2B5EF4-FFF2-40B4-BE49-F238E27FC236}">
                <a16:creationId xmlns:a16="http://schemas.microsoft.com/office/drawing/2014/main" id="{65ED4A93-4A1A-2948-86D7-DFA9324B7DFE}"/>
              </a:ext>
            </a:extLst>
          </p:cNvPr>
          <p:cNvPicPr>
            <a:picLocks noChangeAspect="1"/>
          </p:cNvPicPr>
          <p:nvPr/>
        </p:nvPicPr>
        <p:blipFill>
          <a:blip r:embed="rId2"/>
          <a:stretch>
            <a:fillRect/>
          </a:stretch>
        </p:blipFill>
        <p:spPr>
          <a:xfrm>
            <a:off x="3532716" y="-180522"/>
            <a:ext cx="5126567" cy="7219043"/>
          </a:xfrm>
          <a:prstGeom prst="rect">
            <a:avLst/>
          </a:prstGeom>
        </p:spPr>
      </p:pic>
    </p:spTree>
    <p:extLst>
      <p:ext uri="{BB962C8B-B14F-4D97-AF65-F5344CB8AC3E}">
        <p14:creationId xmlns:p14="http://schemas.microsoft.com/office/powerpoint/2010/main" val="1869221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7DD8518-4289-43CE-9E36-8E7E0D7DD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18CB70-DF25-5442-89D7-0305B69DEACC}"/>
              </a:ext>
            </a:extLst>
          </p:cNvPr>
          <p:cNvSpPr>
            <a:spLocks noGrp="1"/>
          </p:cNvSpPr>
          <p:nvPr>
            <p:ph type="title"/>
          </p:nvPr>
        </p:nvSpPr>
        <p:spPr>
          <a:xfrm>
            <a:off x="772388" y="382995"/>
            <a:ext cx="4991103" cy="1141004"/>
          </a:xfrm>
        </p:spPr>
        <p:txBody>
          <a:bodyPr>
            <a:normAutofit/>
          </a:bodyPr>
          <a:lstStyle/>
          <a:p>
            <a:r>
              <a:rPr lang="en-US" sz="4800" dirty="0"/>
              <a:t>Essentialism </a:t>
            </a:r>
          </a:p>
        </p:txBody>
      </p:sp>
      <p:sp>
        <p:nvSpPr>
          <p:cNvPr id="3" name="Content Placeholder 2">
            <a:extLst>
              <a:ext uri="{FF2B5EF4-FFF2-40B4-BE49-F238E27FC236}">
                <a16:creationId xmlns:a16="http://schemas.microsoft.com/office/drawing/2014/main" id="{98564ED4-7E6C-DF41-AC04-DD2CDB22EBCB}"/>
              </a:ext>
            </a:extLst>
          </p:cNvPr>
          <p:cNvSpPr>
            <a:spLocks noGrp="1"/>
          </p:cNvSpPr>
          <p:nvPr>
            <p:ph idx="1"/>
          </p:nvPr>
        </p:nvSpPr>
        <p:spPr>
          <a:xfrm>
            <a:off x="606133" y="1893139"/>
            <a:ext cx="4991103" cy="3809999"/>
          </a:xfrm>
        </p:spPr>
        <p:txBody>
          <a:bodyPr>
            <a:noAutofit/>
          </a:bodyPr>
          <a:lstStyle/>
          <a:p>
            <a:r>
              <a:rPr lang="en-US" sz="2800" b="1" dirty="0"/>
              <a:t>Essentialism</a:t>
            </a:r>
            <a:r>
              <a:rPr lang="en-US" sz="2800" dirty="0"/>
              <a:t> is the idea that the characteristics of persons or groups are significantly influenced by biological factors and are therefore largely similar in all human cultures and historical periods.</a:t>
            </a:r>
          </a:p>
        </p:txBody>
      </p:sp>
      <p:pic>
        <p:nvPicPr>
          <p:cNvPr id="5" name="Picture 4" descr="Chart, text, bubble chart&#10;&#10;Description automatically generated">
            <a:extLst>
              <a:ext uri="{FF2B5EF4-FFF2-40B4-BE49-F238E27FC236}">
                <a16:creationId xmlns:a16="http://schemas.microsoft.com/office/drawing/2014/main" id="{5520C3CD-2FF8-B74C-AB17-D8C0DBE270D9}"/>
              </a:ext>
            </a:extLst>
          </p:cNvPr>
          <p:cNvPicPr>
            <a:picLocks noChangeAspect="1"/>
          </p:cNvPicPr>
          <p:nvPr/>
        </p:nvPicPr>
        <p:blipFill>
          <a:blip r:embed="rId2"/>
          <a:stretch>
            <a:fillRect/>
          </a:stretch>
        </p:blipFill>
        <p:spPr>
          <a:xfrm>
            <a:off x="5597236" y="2200189"/>
            <a:ext cx="6428509" cy="2941042"/>
          </a:xfrm>
          <a:prstGeom prst="rect">
            <a:avLst/>
          </a:prstGeom>
        </p:spPr>
      </p:pic>
    </p:spTree>
    <p:extLst>
      <p:ext uri="{BB962C8B-B14F-4D97-AF65-F5344CB8AC3E}">
        <p14:creationId xmlns:p14="http://schemas.microsoft.com/office/powerpoint/2010/main" val="292249279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8B03-D38D-394A-8DCA-F7698F9040C9}"/>
              </a:ext>
            </a:extLst>
          </p:cNvPr>
          <p:cNvSpPr>
            <a:spLocks noGrp="1"/>
          </p:cNvSpPr>
          <p:nvPr>
            <p:ph type="title"/>
          </p:nvPr>
        </p:nvSpPr>
        <p:spPr>
          <a:xfrm>
            <a:off x="2682633" y="90708"/>
            <a:ext cx="9238434" cy="857559"/>
          </a:xfrm>
        </p:spPr>
        <p:txBody>
          <a:bodyPr/>
          <a:lstStyle/>
          <a:p>
            <a:r>
              <a:rPr lang="en-US" sz="4200" dirty="0"/>
              <a:t>Biological determinism </a:t>
            </a:r>
          </a:p>
        </p:txBody>
      </p:sp>
      <p:sp>
        <p:nvSpPr>
          <p:cNvPr id="3" name="Content Placeholder 2">
            <a:extLst>
              <a:ext uri="{FF2B5EF4-FFF2-40B4-BE49-F238E27FC236}">
                <a16:creationId xmlns:a16="http://schemas.microsoft.com/office/drawing/2014/main" id="{86DB2ECC-AD88-554F-8112-4BAE3B371A79}"/>
              </a:ext>
            </a:extLst>
          </p:cNvPr>
          <p:cNvSpPr>
            <a:spLocks noGrp="1"/>
          </p:cNvSpPr>
          <p:nvPr>
            <p:ph idx="1"/>
          </p:nvPr>
        </p:nvSpPr>
        <p:spPr>
          <a:xfrm>
            <a:off x="379698" y="1100667"/>
            <a:ext cx="12032435" cy="2709333"/>
          </a:xfrm>
        </p:spPr>
        <p:txBody>
          <a:bodyPr>
            <a:normAutofit/>
          </a:bodyPr>
          <a:lstStyle/>
          <a:p>
            <a:r>
              <a:rPr lang="en-US" sz="2400" dirty="0"/>
              <a:t>Can be defined as a general theory, which holds that a group’s biological or genetic makeup shapes its social, political, and economic destiny (Subramaniam 2014). For example, “sex” is typically thought to be a biological “fact,” where bodies are classified into two categories, male and female.</a:t>
            </a:r>
          </a:p>
        </p:txBody>
      </p:sp>
      <p:pic>
        <p:nvPicPr>
          <p:cNvPr id="5" name="Picture 4" descr="Text&#10;&#10;Description automatically generated">
            <a:extLst>
              <a:ext uri="{FF2B5EF4-FFF2-40B4-BE49-F238E27FC236}">
                <a16:creationId xmlns:a16="http://schemas.microsoft.com/office/drawing/2014/main" id="{E8D1CE91-99ED-4D42-BB6D-CF8387A5BBF0}"/>
              </a:ext>
            </a:extLst>
          </p:cNvPr>
          <p:cNvPicPr>
            <a:picLocks noChangeAspect="1"/>
          </p:cNvPicPr>
          <p:nvPr/>
        </p:nvPicPr>
        <p:blipFill>
          <a:blip r:embed="rId2"/>
          <a:stretch>
            <a:fillRect/>
          </a:stretch>
        </p:blipFill>
        <p:spPr>
          <a:xfrm>
            <a:off x="1388533" y="3254866"/>
            <a:ext cx="10024533" cy="3173596"/>
          </a:xfrm>
          <a:prstGeom prst="rect">
            <a:avLst/>
          </a:prstGeom>
        </p:spPr>
      </p:pic>
    </p:spTree>
    <p:extLst>
      <p:ext uri="{BB962C8B-B14F-4D97-AF65-F5344CB8AC3E}">
        <p14:creationId xmlns:p14="http://schemas.microsoft.com/office/powerpoint/2010/main" val="3906753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70E5A-E613-2549-AB96-7AB7312FD58C}"/>
              </a:ext>
            </a:extLst>
          </p:cNvPr>
          <p:cNvSpPr>
            <a:spLocks noGrp="1"/>
          </p:cNvSpPr>
          <p:nvPr>
            <p:ph type="title"/>
          </p:nvPr>
        </p:nvSpPr>
        <p:spPr/>
        <p:txBody>
          <a:bodyPr/>
          <a:lstStyle/>
          <a:p>
            <a:pPr algn="ctr"/>
            <a:r>
              <a:rPr lang="en-US" dirty="0"/>
              <a:t>Theories behind social constructionism </a:t>
            </a:r>
          </a:p>
        </p:txBody>
      </p:sp>
      <p:sp>
        <p:nvSpPr>
          <p:cNvPr id="3" name="Content Placeholder 2">
            <a:extLst>
              <a:ext uri="{FF2B5EF4-FFF2-40B4-BE49-F238E27FC236}">
                <a16:creationId xmlns:a16="http://schemas.microsoft.com/office/drawing/2014/main" id="{FD275777-58E3-D44E-A3C8-931E6EF423F7}"/>
              </a:ext>
            </a:extLst>
          </p:cNvPr>
          <p:cNvSpPr>
            <a:spLocks noGrp="1"/>
          </p:cNvSpPr>
          <p:nvPr>
            <p:ph idx="1"/>
          </p:nvPr>
        </p:nvSpPr>
        <p:spPr>
          <a:xfrm>
            <a:off x="387927" y="2008909"/>
            <a:ext cx="11222182" cy="4599709"/>
          </a:xfrm>
        </p:spPr>
        <p:txBody>
          <a:bodyPr>
            <a:normAutofit lnSpcReduction="10000"/>
          </a:bodyPr>
          <a:lstStyle/>
          <a:p>
            <a:r>
              <a:rPr lang="en-US" sz="2400" b="1" dirty="0">
                <a:latin typeface="Trade Gothic Next" panose="020B0403040303020004" pitchFamily="34" charset="0"/>
              </a:rPr>
              <a:t>Critical Theory </a:t>
            </a:r>
          </a:p>
          <a:p>
            <a:pPr lvl="1"/>
            <a:r>
              <a:rPr lang="en-US" sz="1700" dirty="0">
                <a:latin typeface="Trade Gothic Next" panose="020B0403040303020004" pitchFamily="34" charset="0"/>
              </a:rPr>
              <a:t>A challenge of the dominant discourse typically spearheaded by marginalized groups (feminists, BIPOC, differently abled communities, etc.)</a:t>
            </a:r>
          </a:p>
          <a:p>
            <a:pPr lvl="1"/>
            <a:r>
              <a:rPr lang="en-US" sz="1400" dirty="0">
                <a:latin typeface="Trade Gothic Next" panose="020B0403040303020004" pitchFamily="34" charset="0"/>
              </a:rPr>
              <a:t>Foucault and a discussion of the ”docile body”</a:t>
            </a:r>
          </a:p>
          <a:p>
            <a:r>
              <a:rPr lang="en-US" sz="2400" b="1" dirty="0">
                <a:latin typeface="Trade Gothic Next" panose="020B0403040303020004" pitchFamily="34" charset="0"/>
              </a:rPr>
              <a:t>Literary Theory </a:t>
            </a:r>
          </a:p>
          <a:p>
            <a:pPr lvl="1"/>
            <a:r>
              <a:rPr lang="en-US" sz="1700" dirty="0">
                <a:latin typeface="Trade Gothic Next" panose="020B0403040303020004" pitchFamily="34" charset="0"/>
              </a:rPr>
              <a:t>Posits language as the driving factor in the construction of categories. Every form of description we use asserts its own reality over what we want to describe. </a:t>
            </a:r>
          </a:p>
          <a:p>
            <a:r>
              <a:rPr lang="en-US" sz="2400" b="1" dirty="0">
                <a:latin typeface="Trade Gothic Next" panose="020B0403040303020004" pitchFamily="34" charset="0"/>
              </a:rPr>
              <a:t>Social Theory</a:t>
            </a:r>
            <a:r>
              <a:rPr lang="en-US" sz="1400" dirty="0">
                <a:latin typeface="Trade Gothic Next" panose="020B0403040303020004" pitchFamily="34" charset="0"/>
              </a:rPr>
              <a:t> </a:t>
            </a:r>
          </a:p>
          <a:p>
            <a:pPr lvl="1"/>
            <a:r>
              <a:rPr lang="en-US" sz="1700" dirty="0">
                <a:latin typeface="Trade Gothic Next" panose="020B0403040303020004" pitchFamily="34" charset="0"/>
              </a:rPr>
              <a:t>Whatever scientists do will manifest out of the enclave they exist. The scientific observer is a part of a community and will use the traditions of that community to create that study. They operate on a similar methodology, a similar language, how to write about it, how to use statistics. </a:t>
            </a:r>
          </a:p>
        </p:txBody>
      </p:sp>
    </p:spTree>
    <p:extLst>
      <p:ext uri="{BB962C8B-B14F-4D97-AF65-F5344CB8AC3E}">
        <p14:creationId xmlns:p14="http://schemas.microsoft.com/office/powerpoint/2010/main" val="3732665110"/>
      </p:ext>
    </p:extLst>
  </p:cSld>
  <p:clrMapOvr>
    <a:masterClrMapping/>
  </p:clrMapOvr>
</p:sld>
</file>

<file path=ppt/theme/theme1.xml><?xml version="1.0" encoding="utf-8"?>
<a:theme xmlns:a="http://schemas.openxmlformats.org/drawingml/2006/main" name="PortalVTI">
  <a:themeElements>
    <a:clrScheme name="AnalogousFromDarkSeedLeftStep">
      <a:dk1>
        <a:srgbClr val="000000"/>
      </a:dk1>
      <a:lt1>
        <a:srgbClr val="FFFFFF"/>
      </a:lt1>
      <a:dk2>
        <a:srgbClr val="1C2B32"/>
      </a:dk2>
      <a:lt2>
        <a:srgbClr val="E2E8E2"/>
      </a:lt2>
      <a:accent1>
        <a:srgbClr val="D838D6"/>
      </a:accent1>
      <a:accent2>
        <a:srgbClr val="8526C6"/>
      </a:accent2>
      <a:accent3>
        <a:srgbClr val="5538D8"/>
      </a:accent3>
      <a:accent4>
        <a:srgbClr val="264CC6"/>
      </a:accent4>
      <a:accent5>
        <a:srgbClr val="38A1D8"/>
      </a:accent5>
      <a:accent6>
        <a:srgbClr val="23B6AC"/>
      </a:accent6>
      <a:hlink>
        <a:srgbClr val="3F7DBF"/>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0E0D5035-C7F2-4607-91F4-D5D5F886A15A}" vid="{EAFF3D8B-AC13-4E90-80A9-182200FBC866}"/>
    </a:ext>
  </a:extLst>
</a:theme>
</file>

<file path=docProps/app.xml><?xml version="1.0" encoding="utf-8"?>
<Properties xmlns="http://schemas.openxmlformats.org/officeDocument/2006/extended-properties" xmlns:vt="http://schemas.openxmlformats.org/officeDocument/2006/docPropsVTypes">
  <TotalTime>247</TotalTime>
  <Words>512</Words>
  <Application>Microsoft Macintosh PowerPoint</Application>
  <PresentationFormat>Widescreen</PresentationFormat>
  <Paragraphs>33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Trade Gothic Next</vt:lpstr>
      <vt:lpstr>Trade Gothic Next Cond</vt:lpstr>
      <vt:lpstr>Trade Gothic Next Light</vt:lpstr>
      <vt:lpstr>PortalVTI</vt:lpstr>
      <vt:lpstr>Social Construction Theory</vt:lpstr>
      <vt:lpstr>WHAT YEAR IS IT?</vt:lpstr>
      <vt:lpstr>What is social constructionism?</vt:lpstr>
      <vt:lpstr>What is real what is true?</vt:lpstr>
      <vt:lpstr>  Is the woman stuck in concrete? Or is she standing ALONGSIDE a wall?</vt:lpstr>
      <vt:lpstr>PowerPoint Presentation</vt:lpstr>
      <vt:lpstr>What does “Race” Mean? What race are these women?</vt:lpstr>
      <vt:lpstr>1860 Census </vt:lpstr>
      <vt:lpstr>Race is a social construct: </vt:lpstr>
      <vt:lpstr>Proposed Changes Reflect current constructs.</vt:lpstr>
      <vt:lpstr>Meanings of Race Shift over time 1940 Census:</vt:lpstr>
      <vt:lpstr>2010 Census </vt:lpstr>
      <vt:lpstr>How does this relate to gender studies?</vt:lpstr>
      <vt:lpstr>a June 1918 article from the trade publication Earnshaw's Infants' Department said, “The generally accepted rule is pink for the boys, and blue for the girls</vt:lpstr>
      <vt:lpstr>PowerPoint Presentation</vt:lpstr>
      <vt:lpstr>Yankee Doodle went to town riding on a pony.  He stuck a feather in his cap  and called it macaroni.</vt:lpstr>
      <vt:lpstr>PowerPoint Presentation</vt:lpstr>
      <vt:lpstr>Essentialism </vt:lpstr>
      <vt:lpstr>Biological determinism </vt:lpstr>
      <vt:lpstr>Theories behind social constructionism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Construction Theory</dc:title>
  <dc:creator>Coulson, Hilary</dc:creator>
  <cp:lastModifiedBy>Coulson, Hilary</cp:lastModifiedBy>
  <cp:revision>8</cp:revision>
  <dcterms:created xsi:type="dcterms:W3CDTF">2021-08-24T21:52:03Z</dcterms:created>
  <dcterms:modified xsi:type="dcterms:W3CDTF">2022-08-29T14:38:34Z</dcterms:modified>
</cp:coreProperties>
</file>