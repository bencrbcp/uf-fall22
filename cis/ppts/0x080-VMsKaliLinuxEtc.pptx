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notesSlides/notesSlide2.xml" ContentType="application/vnd.openxmlformats-officedocument.presentationml.notesSlide+xml"/>
  <Override PartName="/ppt/tags/tag5.xml" ContentType="application/vnd.openxmlformats-officedocument.presentationml.tags+xml"/>
  <Override PartName="/ppt/notesSlides/notesSlide3.xml" ContentType="application/vnd.openxmlformats-officedocument.presentationml.notesSlide+xml"/>
  <Override PartName="/ppt/tags/tag6.xml" ContentType="application/vnd.openxmlformats-officedocument.presentationml.tags+xml"/>
  <Override PartName="/ppt/notesSlides/notesSlide4.xml" ContentType="application/vnd.openxmlformats-officedocument.presentationml.notesSlide+xml"/>
  <Override PartName="/ppt/tags/tag7.xml" ContentType="application/vnd.openxmlformats-officedocument.presentationml.tags+xml"/>
  <Override PartName="/ppt/notesSlides/notesSlide5.xml" ContentType="application/vnd.openxmlformats-officedocument.presentationml.notesSlide+xml"/>
  <Override PartName="/ppt/tags/tag8.xml" ContentType="application/vnd.openxmlformats-officedocument.presentationml.tags+xml"/>
  <Override PartName="/ppt/notesSlides/notesSlide6.xml" ContentType="application/vnd.openxmlformats-officedocument.presentationml.notesSlide+xml"/>
  <Override PartName="/ppt/tags/tag9.xml" ContentType="application/vnd.openxmlformats-officedocument.presentationml.tags+xml"/>
  <Override PartName="/ppt/notesSlides/notesSlide7.xml" ContentType="application/vnd.openxmlformats-officedocument.presentationml.notesSlide+xml"/>
  <Override PartName="/ppt/tags/tag10.xml" ContentType="application/vnd.openxmlformats-officedocument.presentationml.tags+xml"/>
  <Override PartName="/ppt/notesSlides/notesSlide8.xml" ContentType="application/vnd.openxmlformats-officedocument.presentationml.notesSlide+xml"/>
  <Override PartName="/ppt/tags/tag11.xml" ContentType="application/vnd.openxmlformats-officedocument.presentationml.tags+xml"/>
  <Override PartName="/ppt/notesSlides/notesSlide9.xml" ContentType="application/vnd.openxmlformats-officedocument.presentationml.notesSlide+xml"/>
  <Override PartName="/ppt/tags/tag12.xml" ContentType="application/vnd.openxmlformats-officedocument.presentationml.tags+xml"/>
  <Override PartName="/ppt/notesSlides/notesSlide10.xml" ContentType="application/vnd.openxmlformats-officedocument.presentationml.notesSlide+xml"/>
  <Override PartName="/ppt/tags/tag13.xml" ContentType="application/vnd.openxmlformats-officedocument.presentationml.tags+xml"/>
  <Override PartName="/ppt/notesSlides/notesSlide11.xml" ContentType="application/vnd.openxmlformats-officedocument.presentationml.notesSlide+xml"/>
  <Override PartName="/ppt/tags/tag1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302" r:id="rId3"/>
    <p:sldId id="303" r:id="rId4"/>
    <p:sldId id="304" r:id="rId5"/>
    <p:sldId id="305" r:id="rId6"/>
    <p:sldId id="306" r:id="rId7"/>
    <p:sldId id="307" r:id="rId8"/>
    <p:sldId id="308" r:id="rId9"/>
    <p:sldId id="309" r:id="rId10"/>
    <p:sldId id="310" r:id="rId11"/>
    <p:sldId id="282" r:id="rId12"/>
    <p:sldId id="318" r:id="rId13"/>
    <p:sldId id="319" r:id="rId14"/>
  </p:sldIdLst>
  <p:sldSz cx="24384000" cy="13716000"/>
  <p:notesSz cx="6858000" cy="9144000"/>
  <p:custDataLst>
    <p:tags r:id="rId16"/>
  </p:custData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Helvetica Neue UltraLight"/>
        <a:ea typeface="Helvetica Neue UltraLight"/>
        <a:cs typeface="Helvetica Neue UltraLight"/>
        <a:sym typeface="Helvetica Neue UltraLight"/>
      </a:defRPr>
    </a:lvl1pPr>
    <a:lvl2pPr marL="0" marR="0" indent="3429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Helvetica Neue UltraLight"/>
        <a:ea typeface="Helvetica Neue UltraLight"/>
        <a:cs typeface="Helvetica Neue UltraLight"/>
        <a:sym typeface="Helvetica Neue UltraLight"/>
      </a:defRPr>
    </a:lvl2pPr>
    <a:lvl3pPr marL="0" marR="0" indent="6858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Helvetica Neue UltraLight"/>
        <a:ea typeface="Helvetica Neue UltraLight"/>
        <a:cs typeface="Helvetica Neue UltraLight"/>
        <a:sym typeface="Helvetica Neue UltraLight"/>
      </a:defRPr>
    </a:lvl3pPr>
    <a:lvl4pPr marL="0" marR="0" indent="10287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Helvetica Neue UltraLight"/>
        <a:ea typeface="Helvetica Neue UltraLight"/>
        <a:cs typeface="Helvetica Neue UltraLight"/>
        <a:sym typeface="Helvetica Neue UltraLight"/>
      </a:defRPr>
    </a:lvl4pPr>
    <a:lvl5pPr marL="0" marR="0" indent="13716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Helvetica Neue UltraLight"/>
        <a:ea typeface="Helvetica Neue UltraLight"/>
        <a:cs typeface="Helvetica Neue UltraLight"/>
        <a:sym typeface="Helvetica Neue UltraLight"/>
      </a:defRPr>
    </a:lvl5pPr>
    <a:lvl6pPr marL="0" marR="0" indent="17145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Helvetica Neue UltraLight"/>
        <a:ea typeface="Helvetica Neue UltraLight"/>
        <a:cs typeface="Helvetica Neue UltraLight"/>
        <a:sym typeface="Helvetica Neue UltraLight"/>
      </a:defRPr>
    </a:lvl6pPr>
    <a:lvl7pPr marL="0" marR="0" indent="20574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Helvetica Neue UltraLight"/>
        <a:ea typeface="Helvetica Neue UltraLight"/>
        <a:cs typeface="Helvetica Neue UltraLight"/>
        <a:sym typeface="Helvetica Neue UltraLight"/>
      </a:defRPr>
    </a:lvl7pPr>
    <a:lvl8pPr marL="0" marR="0" indent="24003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Helvetica Neue UltraLight"/>
        <a:ea typeface="Helvetica Neue UltraLight"/>
        <a:cs typeface="Helvetica Neue UltraLight"/>
        <a:sym typeface="Helvetica Neue UltraLight"/>
      </a:defRPr>
    </a:lvl8pPr>
    <a:lvl9pPr marL="0" marR="0" indent="27432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Helvetica Neue UltraLight"/>
        <a:ea typeface="Helvetica Neue UltraLight"/>
        <a:cs typeface="Helvetica Neue UltraLight"/>
        <a:sym typeface="Helvetica Neue UltraLigh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484854"/>
    <a:srgbClr val="384F6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Avenir Next Medium"/>
          <a:ea typeface="Avenir Next Medium"/>
          <a:cs typeface="Avenir Next Medium"/>
        </a:font>
        <a:srgbClr val="5B5854"/>
      </a:tcTxStyle>
      <a:tcStyle>
        <a:tcBdr>
          <a:left>
            <a:ln w="25400" cap="flat">
              <a:solidFill>
                <a:srgbClr val="5B5854"/>
              </a:solidFill>
              <a:custDash>
                <a:ds d="200000" sp="200000"/>
              </a:custDash>
              <a:miter lim="400000"/>
            </a:ln>
          </a:left>
          <a:right>
            <a:ln w="25400" cap="flat">
              <a:solidFill>
                <a:srgbClr val="5B5854"/>
              </a:solidFill>
              <a:custDash>
                <a:ds d="200000" sp="200000"/>
              </a:custDash>
              <a:miter lim="400000"/>
            </a:ln>
          </a:right>
          <a:top>
            <a:ln w="12700" cap="flat">
              <a:solidFill>
                <a:srgbClr val="5B5854"/>
              </a:solidFill>
              <a:prstDash val="solid"/>
              <a:miter lim="400000"/>
            </a:ln>
          </a:top>
          <a:bottom>
            <a:ln w="12700" cap="flat">
              <a:solidFill>
                <a:srgbClr val="5B5854"/>
              </a:solidFill>
              <a:prstDash val="solid"/>
              <a:miter lim="400000"/>
            </a:ln>
          </a:bottom>
          <a:insideH>
            <a:ln w="12700" cap="flat">
              <a:solidFill>
                <a:srgbClr val="5B5854"/>
              </a:solidFill>
              <a:prstDash val="solid"/>
              <a:miter lim="400000"/>
            </a:ln>
          </a:insideH>
          <a:insideV>
            <a:ln w="25400" cap="flat">
              <a:solidFill>
                <a:srgbClr val="5B5854"/>
              </a:solidFill>
              <a:custDash>
                <a:ds d="200000" sp="200000"/>
              </a:custDash>
              <a:miter lim="400000"/>
            </a:ln>
          </a:insideV>
        </a:tcBdr>
        <a:fill>
          <a:noFill/>
        </a:fill>
      </a:tcStyle>
    </a:wholeTbl>
    <a:band2H>
      <a:tcTxStyle/>
      <a:tcStyle>
        <a:tcBdr/>
        <a:fill>
          <a:solidFill>
            <a:schemeClr val="accent2">
              <a:hueOff val="-1122706"/>
              <a:satOff val="6504"/>
              <a:lumOff val="15871"/>
              <a:alpha val="17000"/>
            </a:schemeClr>
          </a:solidFill>
        </a:fill>
      </a:tcStyle>
    </a:band2H>
    <a:firstCol>
      <a:tcTxStyle b="on" i="off">
        <a:font>
          <a:latin typeface="Avenir Next Demi Bold"/>
          <a:ea typeface="Avenir Next Demi Bold"/>
          <a:cs typeface="Avenir Next Demi Bold"/>
        </a:font>
        <a:srgbClr val="5B5854"/>
      </a:tcTxStyle>
      <a:tcStyle>
        <a:tcBdr>
          <a:left>
            <a:ln w="12700" cap="flat">
              <a:noFill/>
              <a:miter lim="400000"/>
            </a:ln>
          </a:left>
          <a:right>
            <a:ln w="38100" cap="flat">
              <a:solidFill>
                <a:srgbClr val="5B5854"/>
              </a:solidFill>
              <a:prstDash val="solid"/>
              <a:miter lim="400000"/>
            </a:ln>
          </a:right>
          <a:top>
            <a:ln w="12700" cap="flat">
              <a:solidFill>
                <a:srgbClr val="5B5854"/>
              </a:solidFill>
              <a:prstDash val="solid"/>
              <a:miter lim="400000"/>
            </a:ln>
          </a:top>
          <a:bottom>
            <a:ln w="12700" cap="flat">
              <a:solidFill>
                <a:srgbClr val="5B5854"/>
              </a:solidFill>
              <a:prstDash val="solid"/>
              <a:miter lim="400000"/>
            </a:ln>
          </a:bottom>
          <a:insideH>
            <a:ln w="12700" cap="flat">
              <a:solidFill>
                <a:srgbClr val="5B5854"/>
              </a:solidFill>
              <a:prstDash val="solid"/>
              <a:miter lim="400000"/>
            </a:ln>
          </a:insideH>
          <a:insideV>
            <a:ln w="12700" cap="flat">
              <a:solidFill>
                <a:srgbClr val="5B5854"/>
              </a:solidFill>
              <a:prstDash val="solid"/>
              <a:miter lim="400000"/>
            </a:ln>
          </a:insideV>
        </a:tcBdr>
        <a:fill>
          <a:solidFill>
            <a:srgbClr val="809E35">
              <a:alpha val="10000"/>
            </a:srgbClr>
          </a:solidFill>
        </a:fill>
      </a:tcStyle>
    </a:firstCol>
    <a:lastRow>
      <a:tcTxStyle b="on" i="off">
        <a:font>
          <a:latin typeface="Avenir Next Demi Bold"/>
          <a:ea typeface="Avenir Next Demi Bold"/>
          <a:cs typeface="Avenir Next Demi Bold"/>
        </a:font>
        <a:srgbClr val="5B5854"/>
      </a:tcTxStyle>
      <a:tcStyle>
        <a:tcBdr>
          <a:left>
            <a:ln w="12700" cap="flat">
              <a:solidFill>
                <a:srgbClr val="5B5854"/>
              </a:solidFill>
              <a:prstDash val="solid"/>
              <a:miter lim="400000"/>
            </a:ln>
          </a:left>
          <a:right>
            <a:ln w="12700" cap="flat">
              <a:solidFill>
                <a:srgbClr val="5B5854"/>
              </a:solidFill>
              <a:prstDash val="solid"/>
              <a:miter lim="400000"/>
            </a:ln>
          </a:right>
          <a:top>
            <a:ln w="38100" cap="flat">
              <a:solidFill>
                <a:srgbClr val="5B5854"/>
              </a:solidFill>
              <a:prstDash val="solid"/>
              <a:miter lim="400000"/>
            </a:ln>
          </a:top>
          <a:bottom>
            <a:ln w="12700" cap="flat">
              <a:noFill/>
              <a:miter lim="400000"/>
            </a:ln>
          </a:bottom>
          <a:insideH>
            <a:ln w="12700" cap="flat">
              <a:solidFill>
                <a:srgbClr val="5B5854"/>
              </a:solidFill>
              <a:prstDash val="solid"/>
              <a:miter lim="400000"/>
            </a:ln>
          </a:insideH>
          <a:insideV>
            <a:ln w="12700" cap="flat">
              <a:solidFill>
                <a:srgbClr val="5B5854"/>
              </a:solidFill>
              <a:prstDash val="solid"/>
              <a:miter lim="400000"/>
            </a:ln>
          </a:insideV>
        </a:tcBdr>
        <a:fill>
          <a:noFill/>
        </a:fill>
      </a:tcStyle>
    </a:lastRow>
    <a:firstRow>
      <a:tcTxStyle b="on" i="off">
        <a:font>
          <a:latin typeface="Avenir Next Demi Bold"/>
          <a:ea typeface="Avenir Next Demi Bold"/>
          <a:cs typeface="Avenir Next Demi Bold"/>
        </a:font>
        <a:srgbClr val="5B5854"/>
      </a:tcTxStyle>
      <a:tcStyle>
        <a:tcBdr>
          <a:left>
            <a:ln w="12700" cap="flat">
              <a:solidFill>
                <a:srgbClr val="5B5854"/>
              </a:solidFill>
              <a:prstDash val="solid"/>
              <a:miter lim="400000"/>
            </a:ln>
          </a:left>
          <a:right>
            <a:ln w="12700" cap="flat">
              <a:solidFill>
                <a:srgbClr val="5B5854"/>
              </a:solidFill>
              <a:prstDash val="solid"/>
              <a:miter lim="400000"/>
            </a:ln>
          </a:right>
          <a:top>
            <a:ln w="12700" cap="flat">
              <a:noFill/>
              <a:miter lim="400000"/>
            </a:ln>
          </a:top>
          <a:bottom>
            <a:ln w="38100" cap="flat">
              <a:solidFill>
                <a:srgbClr val="5B5854"/>
              </a:solidFill>
              <a:prstDash val="solid"/>
              <a:miter lim="400000"/>
            </a:ln>
          </a:bottom>
          <a:insideH>
            <a:ln w="12700" cap="flat">
              <a:solidFill>
                <a:srgbClr val="5B5854"/>
              </a:solidFill>
              <a:prstDash val="solid"/>
              <a:miter lim="400000"/>
            </a:ln>
          </a:insideH>
          <a:insideV>
            <a:ln w="12700" cap="flat">
              <a:solidFill>
                <a:srgbClr val="5B5854"/>
              </a:solidFill>
              <a:prstDash val="solid"/>
              <a:miter lim="400000"/>
            </a:ln>
          </a:insideV>
        </a:tcBdr>
        <a:fill>
          <a:solidFill>
            <a:srgbClr val="619E5C">
              <a:alpha val="15000"/>
            </a:srgbClr>
          </a:solidFill>
        </a:fill>
      </a:tcStyle>
    </a:firstRow>
  </a:tblStyle>
  <a:tblStyle styleId="{C7B018BB-80A7-4F77-B60F-C8B233D01FF8}" styleName="">
    <a:tblBg/>
    <a:wholeTbl>
      <a:tcTxStyle b="off" i="off">
        <a:font>
          <a:latin typeface="Avenir Next Medium"/>
          <a:ea typeface="Avenir Next Medium"/>
          <a:cs typeface="Avenir Next Medium"/>
        </a:font>
        <a:srgbClr val="5B5854"/>
      </a:tcTxStyle>
      <a:tcStyle>
        <a:tcBdr>
          <a:left>
            <a:ln w="12700" cap="flat">
              <a:solidFill>
                <a:srgbClr val="BDBBB3"/>
              </a:solidFill>
              <a:prstDash val="solid"/>
              <a:miter lim="400000"/>
            </a:ln>
          </a:left>
          <a:right>
            <a:ln w="12700" cap="flat">
              <a:solidFill>
                <a:srgbClr val="BDBBB3"/>
              </a:solidFill>
              <a:prstDash val="solid"/>
              <a:miter lim="400000"/>
            </a:ln>
          </a:right>
          <a:top>
            <a:ln w="12700" cap="flat">
              <a:solidFill>
                <a:srgbClr val="A5A59F"/>
              </a:solidFill>
              <a:prstDash val="solid"/>
              <a:miter lim="400000"/>
            </a:ln>
          </a:top>
          <a:bottom>
            <a:ln w="12700" cap="flat">
              <a:solidFill>
                <a:srgbClr val="A5A59F"/>
              </a:solidFill>
              <a:prstDash val="solid"/>
              <a:miter lim="400000"/>
            </a:ln>
          </a:bottom>
          <a:insideH>
            <a:ln w="12700" cap="flat">
              <a:solidFill>
                <a:srgbClr val="A5A59F"/>
              </a:solidFill>
              <a:prstDash val="solid"/>
              <a:miter lim="400000"/>
            </a:ln>
          </a:insideH>
          <a:insideV>
            <a:ln w="12700" cap="flat">
              <a:solidFill>
                <a:srgbClr val="BDBBB3"/>
              </a:solidFill>
              <a:prstDash val="solid"/>
              <a:miter lim="400000"/>
            </a:ln>
          </a:insideV>
        </a:tcBdr>
        <a:fill>
          <a:solidFill>
            <a:srgbClr val="E7E3D2"/>
          </a:solidFill>
        </a:fill>
      </a:tcStyle>
    </a:wholeTbl>
    <a:band2H>
      <a:tcTxStyle/>
      <a:tcStyle>
        <a:tcBdr/>
        <a:fill>
          <a:solidFill>
            <a:srgbClr val="F6F2E5"/>
          </a:solidFill>
        </a:fill>
      </a:tcStyle>
    </a:band2H>
    <a:firstCol>
      <a:tcTxStyle b="on" i="off">
        <a:font>
          <a:latin typeface="Avenir Next Demi Bold"/>
          <a:ea typeface="Avenir Next Demi Bold"/>
          <a:cs typeface="Avenir Next Demi Bold"/>
        </a:font>
        <a:srgbClr val="5B5854"/>
      </a:tcTxStyle>
      <a:tcStyle>
        <a:tcBdr>
          <a:left>
            <a:ln w="12700" cap="flat">
              <a:noFill/>
              <a:miter lim="400000"/>
            </a:ln>
          </a:left>
          <a:right>
            <a:ln w="12700" cap="flat">
              <a:solidFill>
                <a:srgbClr val="A5A59F"/>
              </a:solidFill>
              <a:prstDash val="solid"/>
              <a:miter lim="400000"/>
            </a:ln>
          </a:right>
          <a:top>
            <a:ln w="12700" cap="flat">
              <a:solidFill>
                <a:srgbClr val="A5A59F"/>
              </a:solidFill>
              <a:prstDash val="solid"/>
              <a:miter lim="400000"/>
            </a:ln>
          </a:top>
          <a:bottom>
            <a:ln w="12700" cap="flat">
              <a:solidFill>
                <a:srgbClr val="A5A59F"/>
              </a:solidFill>
              <a:prstDash val="solid"/>
              <a:miter lim="400000"/>
            </a:ln>
          </a:bottom>
          <a:insideH>
            <a:ln w="12700" cap="flat">
              <a:solidFill>
                <a:srgbClr val="A5A59F"/>
              </a:solidFill>
              <a:prstDash val="solid"/>
              <a:miter lim="400000"/>
            </a:ln>
          </a:insideH>
          <a:insideV>
            <a:ln w="12700" cap="flat">
              <a:solidFill>
                <a:srgbClr val="A5A59F"/>
              </a:solidFill>
              <a:prstDash val="solid"/>
              <a:miter lim="400000"/>
            </a:ln>
          </a:insideV>
        </a:tcBdr>
        <a:fill>
          <a:solidFill>
            <a:srgbClr val="D3CDB7"/>
          </a:solidFill>
        </a:fill>
      </a:tcStyle>
    </a:firstCol>
    <a:lastRow>
      <a:tcTxStyle b="on" i="off">
        <a:font>
          <a:latin typeface="Avenir Next Demi Bold"/>
          <a:ea typeface="Avenir Next Demi Bold"/>
          <a:cs typeface="Avenir Next Demi Bold"/>
        </a:font>
        <a:srgbClr val="5B5854"/>
      </a:tcTxStyle>
      <a:tcStyle>
        <a:tcBdr>
          <a:left>
            <a:ln w="12700" cap="flat">
              <a:solidFill>
                <a:srgbClr val="A5A59F"/>
              </a:solidFill>
              <a:prstDash val="solid"/>
              <a:miter lim="400000"/>
            </a:ln>
          </a:left>
          <a:right>
            <a:ln w="12700" cap="flat">
              <a:solidFill>
                <a:srgbClr val="A5A59F"/>
              </a:solidFill>
              <a:prstDash val="solid"/>
              <a:miter lim="400000"/>
            </a:ln>
          </a:right>
          <a:top>
            <a:ln w="12700" cap="flat">
              <a:solidFill>
                <a:srgbClr val="A5A59F"/>
              </a:solidFill>
              <a:prstDash val="solid"/>
              <a:miter lim="400000"/>
            </a:ln>
          </a:top>
          <a:bottom>
            <a:ln w="12700" cap="flat">
              <a:noFill/>
              <a:miter lim="400000"/>
            </a:ln>
          </a:bottom>
          <a:insideH>
            <a:ln w="12700" cap="flat">
              <a:solidFill>
                <a:srgbClr val="A5A59F"/>
              </a:solidFill>
              <a:prstDash val="solid"/>
              <a:miter lim="400000"/>
            </a:ln>
          </a:insideH>
          <a:insideV>
            <a:ln w="12700" cap="flat">
              <a:solidFill>
                <a:srgbClr val="A5A59F"/>
              </a:solidFill>
              <a:prstDash val="solid"/>
              <a:miter lim="400000"/>
            </a:ln>
          </a:insideV>
        </a:tcBdr>
        <a:fill>
          <a:noFill/>
        </a:fill>
      </a:tcStyle>
    </a:lastRow>
    <a:firstRow>
      <a:tcTxStyle b="on" i="off">
        <a:font>
          <a:latin typeface="Avenir Next Demi Bold"/>
          <a:ea typeface="Avenir Next Demi Bold"/>
          <a:cs typeface="Avenir Next Demi Bold"/>
        </a:font>
        <a:srgbClr val="FFFFFF"/>
      </a:tcTxStyle>
      <a:tcStyle>
        <a:tcBdr>
          <a:left>
            <a:ln w="12700" cap="flat">
              <a:solidFill>
                <a:srgbClr val="8E755A"/>
              </a:solidFill>
              <a:prstDash val="solid"/>
              <a:miter lim="400000"/>
            </a:ln>
          </a:left>
          <a:right>
            <a:ln w="12700" cap="flat">
              <a:solidFill>
                <a:srgbClr val="8E755A"/>
              </a:solidFill>
              <a:prstDash val="solid"/>
              <a:miter lim="400000"/>
            </a:ln>
          </a:right>
          <a:top>
            <a:ln w="12700" cap="flat">
              <a:noFill/>
              <a:miter lim="400000"/>
            </a:ln>
          </a:top>
          <a:bottom>
            <a:ln w="12700" cap="flat">
              <a:solidFill>
                <a:srgbClr val="A5A59F"/>
              </a:solidFill>
              <a:prstDash val="solid"/>
              <a:miter lim="400000"/>
            </a:ln>
          </a:bottom>
          <a:insideH>
            <a:ln w="12700" cap="flat">
              <a:solidFill>
                <a:srgbClr val="8E755A"/>
              </a:solidFill>
              <a:prstDash val="solid"/>
              <a:miter lim="400000"/>
            </a:ln>
          </a:insideH>
          <a:insideV>
            <a:ln w="12700" cap="flat">
              <a:solidFill>
                <a:srgbClr val="8E755A"/>
              </a:solidFill>
              <a:prstDash val="solid"/>
              <a:miter lim="400000"/>
            </a:ln>
          </a:insideV>
        </a:tcBdr>
        <a:fill>
          <a:noFill/>
        </a:fill>
      </a:tcStyle>
    </a:firstRow>
  </a:tblStyle>
  <a:tblStyle styleId="{EEE7283C-3CF3-47DC-8721-378D4A62B228}" styleName="">
    <a:tblBg/>
    <a:wholeTbl>
      <a:tcTxStyle b="off" i="off">
        <a:font>
          <a:latin typeface="Avenir Next Medium"/>
          <a:ea typeface="Avenir Next Medium"/>
          <a:cs typeface="Avenir Next Medium"/>
        </a:font>
        <a:srgbClr val="5B5854"/>
      </a:tcTxStyle>
      <a:tcStyle>
        <a:tcBdr>
          <a:left>
            <a:ln w="12700" cap="flat">
              <a:noFill/>
              <a:miter lim="400000"/>
            </a:ln>
          </a:left>
          <a:right>
            <a:ln w="12700" cap="flat">
              <a:noFill/>
              <a:miter lim="400000"/>
            </a:ln>
          </a:right>
          <a:top>
            <a:ln w="12700" cap="flat">
              <a:solidFill>
                <a:srgbClr val="BDBBB3"/>
              </a:solidFill>
              <a:prstDash val="solid"/>
              <a:miter lim="400000"/>
            </a:ln>
          </a:top>
          <a:bottom>
            <a:ln w="12700" cap="flat">
              <a:solidFill>
                <a:srgbClr val="BDBBB3"/>
              </a:solidFill>
              <a:prstDash val="solid"/>
              <a:miter lim="400000"/>
            </a:ln>
          </a:bottom>
          <a:insideH>
            <a:ln w="12700" cap="flat">
              <a:solidFill>
                <a:srgbClr val="BDBBB3"/>
              </a:solidFill>
              <a:prstDash val="solid"/>
              <a:miter lim="400000"/>
            </a:ln>
          </a:insideH>
          <a:insideV>
            <a:ln w="12700" cap="flat">
              <a:noFill/>
              <a:miter lim="400000"/>
            </a:ln>
          </a:insideV>
        </a:tcBdr>
        <a:fill>
          <a:solidFill>
            <a:srgbClr val="E6E3DA"/>
          </a:solidFill>
        </a:fill>
      </a:tcStyle>
    </a:wholeTbl>
    <a:band2H>
      <a:tcTxStyle/>
      <a:tcStyle>
        <a:tcBdr/>
        <a:fill>
          <a:solidFill>
            <a:srgbClr val="F9F5E8"/>
          </a:solidFill>
        </a:fill>
      </a:tcStyle>
    </a:band2H>
    <a:firstCol>
      <a:tcTxStyle b="on" i="off">
        <a:font>
          <a:latin typeface="Avenir Next Demi Bold"/>
          <a:ea typeface="Avenir Next Demi Bold"/>
          <a:cs typeface="Avenir Next Demi Bold"/>
        </a:font>
        <a:srgbClr val="5B5854"/>
      </a:tcTxStyle>
      <a:tcStyle>
        <a:tcBdr>
          <a:left>
            <a:ln w="12700" cap="flat">
              <a:solidFill>
                <a:srgbClr val="A5A59F"/>
              </a:solidFill>
              <a:prstDash val="solid"/>
              <a:miter lim="400000"/>
            </a:ln>
          </a:left>
          <a:right>
            <a:ln w="12700" cap="flat">
              <a:solidFill>
                <a:srgbClr val="A5A59F"/>
              </a:solidFill>
              <a:prstDash val="solid"/>
              <a:miter lim="400000"/>
            </a:ln>
          </a:right>
          <a:top>
            <a:ln w="12700" cap="flat">
              <a:solidFill>
                <a:srgbClr val="A5A59F"/>
              </a:solidFill>
              <a:prstDash val="solid"/>
              <a:miter lim="400000"/>
            </a:ln>
          </a:top>
          <a:bottom>
            <a:ln w="12700" cap="flat">
              <a:solidFill>
                <a:srgbClr val="A5A59F"/>
              </a:solidFill>
              <a:prstDash val="solid"/>
              <a:miter lim="400000"/>
            </a:ln>
          </a:bottom>
          <a:insideH>
            <a:ln w="12700" cap="flat">
              <a:solidFill>
                <a:srgbClr val="A5A59F"/>
              </a:solidFill>
              <a:prstDash val="solid"/>
              <a:miter lim="400000"/>
            </a:ln>
          </a:insideH>
          <a:insideV>
            <a:ln w="12700" cap="flat">
              <a:noFill/>
              <a:miter lim="400000"/>
            </a:ln>
          </a:insideV>
        </a:tcBdr>
        <a:fill>
          <a:solidFill>
            <a:srgbClr val="D6D5D0"/>
          </a:solidFill>
        </a:fill>
      </a:tcStyle>
    </a:firstCol>
    <a:lastRow>
      <a:tcTxStyle b="on" i="off">
        <a:font>
          <a:latin typeface="Avenir Next Demi Bold"/>
          <a:ea typeface="Avenir Next Demi Bold"/>
          <a:cs typeface="Avenir Next Demi Bold"/>
        </a:font>
        <a:srgbClr val="FFFFFF"/>
      </a:tcTxStyle>
      <a:tcStyle>
        <a:tcBdr>
          <a:left>
            <a:ln w="12700" cap="flat">
              <a:noFill/>
              <a:miter lim="400000"/>
            </a:ln>
          </a:left>
          <a:right>
            <a:ln w="12700" cap="flat">
              <a:noFill/>
              <a:miter lim="400000"/>
            </a:ln>
          </a:right>
          <a:top>
            <a:ln w="12700" cap="flat">
              <a:solidFill>
                <a:srgbClr val="BDBBB3"/>
              </a:solidFill>
              <a:prstDash val="solid"/>
              <a:miter lim="400000"/>
            </a:ln>
          </a:top>
          <a:bottom>
            <a:ln w="12700" cap="flat">
              <a:solidFill>
                <a:srgbClr val="A5A59F"/>
              </a:solidFill>
              <a:prstDash val="solid"/>
              <a:miter lim="400000"/>
            </a:ln>
          </a:bottom>
          <a:insideH>
            <a:ln w="12700" cap="flat">
              <a:solidFill>
                <a:srgbClr val="4D6166"/>
              </a:solidFill>
              <a:prstDash val="solid"/>
              <a:miter lim="400000"/>
            </a:ln>
          </a:insideH>
          <a:insideV>
            <a:ln w="12700" cap="flat">
              <a:noFill/>
              <a:miter lim="400000"/>
            </a:ln>
          </a:insideV>
        </a:tcBdr>
        <a:fill>
          <a:noFill/>
        </a:fill>
      </a:tcStyle>
    </a:lastRow>
    <a:firstRow>
      <a:tcTxStyle b="on" i="off">
        <a:font>
          <a:latin typeface="Avenir Next Demi Bold"/>
          <a:ea typeface="Avenir Next Demi Bold"/>
          <a:cs typeface="Avenir Next Demi Bold"/>
        </a:font>
        <a:srgbClr val="FFFFFF"/>
      </a:tcTxStyle>
      <a:tcStyle>
        <a:tcBdr>
          <a:left>
            <a:ln w="12700" cap="flat">
              <a:noFill/>
              <a:miter lim="400000"/>
            </a:ln>
          </a:left>
          <a:right>
            <a:ln w="12700" cap="flat">
              <a:noFill/>
              <a:miter lim="400000"/>
            </a:ln>
          </a:right>
          <a:top>
            <a:ln w="12700" cap="flat">
              <a:solidFill>
                <a:srgbClr val="A5A59F"/>
              </a:solidFill>
              <a:prstDash val="solid"/>
              <a:miter lim="400000"/>
            </a:ln>
          </a:top>
          <a:bottom>
            <a:ln w="12700" cap="flat">
              <a:solidFill>
                <a:srgbClr val="BDBBB3"/>
              </a:solidFill>
              <a:prstDash val="solid"/>
              <a:miter lim="400000"/>
            </a:ln>
          </a:bottom>
          <a:insideH>
            <a:ln w="12700" cap="flat">
              <a:solidFill>
                <a:srgbClr val="657477"/>
              </a:solidFill>
              <a:prstDash val="solid"/>
              <a:miter lim="400000"/>
            </a:ln>
          </a:insideH>
          <a:insideV>
            <a:ln w="12700" cap="flat">
              <a:noFill/>
              <a:miter lim="400000"/>
            </a:ln>
          </a:insideV>
        </a:tcBdr>
        <a:fill>
          <a:noFill/>
        </a:fill>
      </a:tcStyle>
    </a:firstRow>
  </a:tblStyle>
  <a:tblStyle styleId="{CF821DB8-F4EB-4A41-A1BA-3FCAFE7338EE}" styleName="">
    <a:tblBg/>
    <a:wholeTbl>
      <a:tcTxStyle b="off" i="off">
        <a:font>
          <a:latin typeface="Avenir Next Medium"/>
          <a:ea typeface="Avenir Next Medium"/>
          <a:cs typeface="Avenir Next Medium"/>
        </a:font>
        <a:srgbClr val="5B5854"/>
      </a:tcTxStyle>
      <a:tcStyle>
        <a:tcBdr>
          <a:left>
            <a:ln w="12700" cap="flat">
              <a:noFill/>
              <a:miter lim="400000"/>
            </a:ln>
          </a:left>
          <a:right>
            <a:ln w="12700" cap="flat">
              <a:noFill/>
              <a:miter lim="400000"/>
            </a:ln>
          </a:right>
          <a:top>
            <a:ln w="12700" cap="flat">
              <a:solidFill>
                <a:srgbClr val="AAA6A6"/>
              </a:solidFill>
              <a:custDash>
                <a:ds d="200000" sp="200000"/>
              </a:custDash>
              <a:miter lim="400000"/>
            </a:ln>
          </a:top>
          <a:bottom>
            <a:ln w="12700" cap="flat">
              <a:solidFill>
                <a:srgbClr val="AAA6A6"/>
              </a:solidFill>
              <a:custDash>
                <a:ds d="200000" sp="200000"/>
              </a:custDash>
              <a:miter lim="400000"/>
            </a:ln>
          </a:bottom>
          <a:insideH>
            <a:ln w="12700" cap="flat">
              <a:solidFill>
                <a:srgbClr val="AAA6A6"/>
              </a:solidFill>
              <a:custDash>
                <a:ds d="200000" sp="200000"/>
              </a:custDash>
              <a:miter lim="400000"/>
            </a:ln>
          </a:insideH>
          <a:insideV>
            <a:ln w="12700" cap="flat">
              <a:noFill/>
              <a:miter lim="400000"/>
            </a:ln>
          </a:insideV>
        </a:tcBdr>
        <a:fill>
          <a:solidFill>
            <a:srgbClr val="EFECE2"/>
          </a:solidFill>
        </a:fill>
      </a:tcStyle>
    </a:wholeTbl>
    <a:band2H>
      <a:tcTxStyle/>
      <a:tcStyle>
        <a:tcBdr/>
        <a:fill>
          <a:solidFill>
            <a:srgbClr val="FFFBF1"/>
          </a:solidFill>
        </a:fill>
      </a:tcStyle>
    </a:band2H>
    <a:firstCol>
      <a:tcTxStyle b="on" i="off">
        <a:font>
          <a:latin typeface="Avenir Next Demi Bold"/>
          <a:ea typeface="Avenir Next Demi Bold"/>
          <a:cs typeface="Avenir Next Demi Bold"/>
        </a:font>
        <a:srgbClr val="5B5854"/>
      </a:tcTxStyle>
      <a:tcStyle>
        <a:tcBdr>
          <a:left>
            <a:ln w="12700" cap="flat">
              <a:solidFill>
                <a:srgbClr val="000000"/>
              </a:solidFill>
              <a:prstDash val="solid"/>
              <a:miter lim="400000"/>
            </a:ln>
          </a:left>
          <a:right>
            <a:ln w="12700" cap="flat">
              <a:solidFill>
                <a:srgbClr val="A29A85"/>
              </a:solidFill>
              <a:prstDash val="solid"/>
              <a:miter lim="400000"/>
            </a:ln>
          </a:right>
          <a:top>
            <a:ln w="12700" cap="flat">
              <a:solidFill>
                <a:srgbClr val="AAA6A6"/>
              </a:solidFill>
              <a:custDash>
                <a:ds d="200000" sp="200000"/>
              </a:custDash>
              <a:miter lim="400000"/>
            </a:ln>
          </a:top>
          <a:bottom>
            <a:ln w="12700" cap="flat">
              <a:solidFill>
                <a:srgbClr val="AAA6A6"/>
              </a:solidFill>
              <a:custDash>
                <a:ds d="200000" sp="200000"/>
              </a:custDash>
              <a:miter lim="400000"/>
            </a:ln>
          </a:bottom>
          <a:insideH>
            <a:ln w="12700" cap="flat">
              <a:solidFill>
                <a:srgbClr val="AAA6A6"/>
              </a:solidFill>
              <a:custDash>
                <a:ds d="200000" sp="200000"/>
              </a:custDash>
              <a:miter lim="400000"/>
            </a:ln>
          </a:insideH>
          <a:insideV>
            <a:ln w="12700" cap="flat">
              <a:noFill/>
              <a:miter lim="400000"/>
            </a:ln>
          </a:insideV>
        </a:tcBdr>
        <a:fill>
          <a:solidFill>
            <a:srgbClr val="E8E4D8"/>
          </a:solidFill>
        </a:fill>
      </a:tcStyle>
    </a:firstCol>
    <a:lastRow>
      <a:tcTxStyle b="on" i="off">
        <a:font>
          <a:latin typeface="Avenir Next Demi Bold"/>
          <a:ea typeface="Avenir Next Demi Bold"/>
          <a:cs typeface="Avenir Next Demi Bold"/>
        </a:font>
        <a:srgbClr val="FFFFFF"/>
      </a:tcTxStyle>
      <a:tcStyle>
        <a:tcBdr>
          <a:left>
            <a:ln w="12700" cap="flat">
              <a:noFill/>
              <a:miter lim="400000"/>
            </a:ln>
          </a:left>
          <a:right>
            <a:ln w="12700" cap="flat">
              <a:noFill/>
              <a:miter lim="400000"/>
            </a:ln>
          </a:right>
          <a:top>
            <a:ln w="12700" cap="flat">
              <a:solidFill>
                <a:srgbClr val="A29A85"/>
              </a:solidFill>
              <a:prstDash val="solid"/>
              <a:miter lim="400000"/>
            </a:ln>
          </a:top>
          <a:bottom>
            <a:ln w="12700" cap="flat">
              <a:solidFill>
                <a:srgbClr val="000000"/>
              </a:solidFill>
              <a:prstDash val="solid"/>
              <a:miter lim="400000"/>
            </a:ln>
          </a:bottom>
          <a:insideH>
            <a:ln w="12700" cap="flat">
              <a:solidFill>
                <a:srgbClr val="A29A85"/>
              </a:solidFill>
              <a:prstDash val="solid"/>
              <a:miter lim="400000"/>
            </a:ln>
          </a:insideH>
          <a:insideV>
            <a:ln w="12700" cap="flat">
              <a:noFill/>
              <a:miter lim="400000"/>
            </a:ln>
          </a:insideV>
        </a:tcBdr>
        <a:fill>
          <a:noFill/>
        </a:fill>
      </a:tcStyle>
    </a:lastRow>
    <a:firstRow>
      <a:tcTxStyle b="on" i="off">
        <a:font>
          <a:latin typeface="Avenir Next Demi Bold"/>
          <a:ea typeface="Avenir Next Demi Bold"/>
          <a:cs typeface="Avenir Next Demi Bold"/>
        </a:font>
        <a:srgbClr val="FFFFFF"/>
      </a:tcTxStyle>
      <a:tcStyle>
        <a:tcBdr>
          <a:left>
            <a:ln w="12700" cap="flat">
              <a:noFill/>
              <a:miter lim="400000"/>
            </a:ln>
          </a:left>
          <a:right>
            <a:ln w="12700" cap="flat">
              <a:noFill/>
              <a:miter lim="400000"/>
            </a:ln>
          </a:right>
          <a:top>
            <a:ln w="12700" cap="flat">
              <a:solidFill>
                <a:srgbClr val="000000"/>
              </a:solidFill>
              <a:prstDash val="solid"/>
              <a:miter lim="400000"/>
            </a:ln>
          </a:top>
          <a:bottom>
            <a:ln w="12700" cap="flat">
              <a:solidFill>
                <a:srgbClr val="A29A85"/>
              </a:solidFill>
              <a:prstDash val="solid"/>
              <a:miter lim="400000"/>
            </a:ln>
          </a:bottom>
          <a:insideH>
            <a:ln w="12700" cap="flat">
              <a:solidFill>
                <a:srgbClr val="A29A85"/>
              </a:solidFill>
              <a:prstDash val="solid"/>
              <a:miter lim="400000"/>
            </a:ln>
          </a:insideH>
          <a:insideV>
            <a:ln w="12700" cap="flat">
              <a:noFill/>
              <a:miter lim="400000"/>
            </a:ln>
          </a:insideV>
        </a:tcBdr>
        <a:fill>
          <a:noFill/>
        </a:fill>
      </a:tcStyle>
    </a:firstRow>
  </a:tblStyle>
  <a:tblStyle styleId="{33BA23B1-9221-436E-865A-0063620EA4FD}" styleName="">
    <a:tblBg/>
    <a:wholeTbl>
      <a:tcTxStyle b="off" i="off">
        <a:font>
          <a:latin typeface="Avenir Next Medium"/>
          <a:ea typeface="Avenir Next Medium"/>
          <a:cs typeface="Avenir Next Medium"/>
        </a:font>
        <a:srgbClr val="5B5854"/>
      </a:tcTxStyle>
      <a:tcStyle>
        <a:tcBdr>
          <a:left>
            <a:ln w="12700" cap="flat">
              <a:noFill/>
              <a:miter lim="400000"/>
            </a:ln>
          </a:left>
          <a:right>
            <a:ln w="12700" cap="flat">
              <a:noFill/>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noFill/>
              <a:miter lim="400000"/>
            </a:ln>
          </a:insideV>
        </a:tcBdr>
        <a:fill>
          <a:solidFill>
            <a:srgbClr val="D6D2C0">
              <a:alpha val="50000"/>
            </a:srgbClr>
          </a:solidFill>
        </a:fill>
      </a:tcStyle>
    </a:wholeTbl>
    <a:band2H>
      <a:tcTxStyle/>
      <a:tcStyle>
        <a:tcBdr/>
        <a:fill>
          <a:solidFill>
            <a:srgbClr val="E9E7DC"/>
          </a:solidFill>
        </a:fill>
      </a:tcStyle>
    </a:band2H>
    <a:firstCol>
      <a:tcTxStyle b="on" i="off">
        <a:font>
          <a:latin typeface="Avenir Next Demi Bold"/>
          <a:ea typeface="Avenir Next Demi Bold"/>
          <a:cs typeface="Avenir Next Demi Bold"/>
        </a:font>
        <a:srgbClr val="5B5854"/>
      </a:tcTxStyle>
      <a:tcStyle>
        <a:tcBdr>
          <a:left>
            <a:ln w="12700" cap="flat">
              <a:solidFill>
                <a:srgbClr val="FFFFFF"/>
              </a:solidFill>
              <a:prstDash val="solid"/>
              <a:miter lim="400000"/>
            </a:ln>
          </a:left>
          <a:right>
            <a:ln w="254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noFill/>
              <a:miter lim="400000"/>
            </a:ln>
          </a:insideV>
        </a:tcBdr>
        <a:fill>
          <a:solidFill>
            <a:srgbClr val="C5BEAA"/>
          </a:solidFill>
        </a:fill>
      </a:tcStyle>
    </a:firstCol>
    <a:lastRow>
      <a:tcTxStyle b="on" i="off">
        <a:font>
          <a:latin typeface="Avenir Next Demi Bold"/>
          <a:ea typeface="Avenir Next Demi Bold"/>
          <a:cs typeface="Avenir Next Demi Bold"/>
        </a:font>
        <a:srgbClr val="5B5854"/>
      </a:tcTxStyle>
      <a:tcStyle>
        <a:tcBdr>
          <a:left>
            <a:ln w="12700" cap="flat">
              <a:noFill/>
              <a:miter lim="400000"/>
            </a:ln>
          </a:left>
          <a:right>
            <a:ln w="12700" cap="flat">
              <a:noFill/>
              <a:miter lim="400000"/>
            </a:ln>
          </a:right>
          <a:top>
            <a:ln w="25400" cap="flat">
              <a:solidFill>
                <a:srgbClr val="000000"/>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noFill/>
              <a:miter lim="400000"/>
            </a:ln>
          </a:insideV>
        </a:tcBdr>
        <a:fill>
          <a:solidFill>
            <a:srgbClr val="D6D2C0">
              <a:alpha val="25000"/>
            </a:srgbClr>
          </a:solidFill>
        </a:fill>
      </a:tcStyle>
    </a:lastRow>
    <a:firstRow>
      <a:tcTxStyle b="on" i="off">
        <a:font>
          <a:latin typeface="Avenir Next Demi Bold"/>
          <a:ea typeface="Avenir Next Demi Bold"/>
          <a:cs typeface="Avenir Next Demi Bold"/>
        </a:font>
        <a:srgbClr val="FFFFFF"/>
      </a:tcTxStyle>
      <a:tcStyle>
        <a:tcBdr>
          <a:left>
            <a:ln w="12700" cap="flat">
              <a:noFill/>
              <a:miter lim="400000"/>
            </a:ln>
          </a:left>
          <a:right>
            <a:ln w="12700" cap="flat">
              <a:noFill/>
              <a:miter lim="400000"/>
            </a:ln>
          </a:right>
          <a:top>
            <a:ln w="12700" cap="flat">
              <a:solidFill>
                <a:srgbClr val="FFFFFF"/>
              </a:solidFill>
              <a:prstDash val="solid"/>
              <a:miter lim="400000"/>
            </a:ln>
          </a:top>
          <a:bottom>
            <a:ln w="25400" cap="flat">
              <a:solidFill>
                <a:srgbClr val="FFFFFF"/>
              </a:solidFill>
              <a:prstDash val="solid"/>
              <a:miter lim="400000"/>
            </a:ln>
          </a:bottom>
          <a:insideH>
            <a:ln w="12700" cap="flat">
              <a:solidFill>
                <a:srgbClr val="FFFFFF"/>
              </a:solidFill>
              <a:prstDash val="solid"/>
              <a:miter lim="400000"/>
            </a:ln>
          </a:insideH>
          <a:insideV>
            <a:ln w="12700" cap="flat">
              <a:noFill/>
              <a:miter lim="400000"/>
            </a:ln>
          </a:insideV>
        </a:tcBdr>
        <a:fill>
          <a:solidFill>
            <a:srgbClr val="928C7D"/>
          </a:solidFill>
        </a:fill>
      </a:tcStyle>
    </a:firstRow>
  </a:tblStyle>
  <a:tblStyle styleId="{2708684C-4D16-4618-839F-0558EEFCDFE6}" styleName="">
    <a:tblBg/>
    <a:wholeTbl>
      <a:tcTxStyle b="off" i="off">
        <a:font>
          <a:latin typeface="Avenir Next Medium"/>
          <a:ea typeface="Avenir Next Medium"/>
          <a:cs typeface="Avenir Next Medium"/>
        </a:font>
        <a:srgbClr val="5B5854"/>
      </a:tcTxStyle>
      <a:tcStyle>
        <a:tcBdr>
          <a:left>
            <a:ln w="38100" cap="flat">
              <a:solidFill>
                <a:schemeClr val="accent2">
                  <a:hueOff val="-1122706"/>
                  <a:satOff val="6504"/>
                  <a:lumOff val="15871"/>
                  <a:alpha val="64999"/>
                </a:schemeClr>
              </a:solidFill>
              <a:prstDash val="solid"/>
              <a:miter lim="400000"/>
            </a:ln>
          </a:left>
          <a:right>
            <a:ln w="38100" cap="flat">
              <a:solidFill>
                <a:schemeClr val="accent2">
                  <a:hueOff val="-1122706"/>
                  <a:satOff val="6504"/>
                  <a:lumOff val="15871"/>
                  <a:alpha val="64999"/>
                </a:schemeClr>
              </a:solidFill>
              <a:prstDash val="solid"/>
              <a:miter lim="400000"/>
            </a:ln>
          </a:right>
          <a:top>
            <a:ln w="38100" cap="flat">
              <a:solidFill>
                <a:schemeClr val="accent2">
                  <a:hueOff val="-1122706"/>
                  <a:satOff val="6504"/>
                  <a:lumOff val="15871"/>
                  <a:alpha val="64999"/>
                </a:schemeClr>
              </a:solidFill>
              <a:prstDash val="solid"/>
              <a:miter lim="400000"/>
            </a:ln>
          </a:top>
          <a:bottom>
            <a:ln w="38100" cap="flat">
              <a:solidFill>
                <a:schemeClr val="accent2">
                  <a:hueOff val="-1122706"/>
                  <a:satOff val="6504"/>
                  <a:lumOff val="15871"/>
                  <a:alpha val="64999"/>
                </a:schemeClr>
              </a:solidFill>
              <a:prstDash val="solid"/>
              <a:miter lim="400000"/>
            </a:ln>
          </a:bottom>
          <a:insideH>
            <a:ln w="38100" cap="flat">
              <a:solidFill>
                <a:schemeClr val="accent2">
                  <a:hueOff val="-1122706"/>
                  <a:satOff val="6504"/>
                  <a:lumOff val="15871"/>
                  <a:alpha val="64999"/>
                </a:schemeClr>
              </a:solidFill>
              <a:prstDash val="solid"/>
              <a:miter lim="400000"/>
            </a:ln>
          </a:insideH>
          <a:insideV>
            <a:ln w="38100" cap="flat">
              <a:solidFill>
                <a:schemeClr val="accent2">
                  <a:hueOff val="-1122706"/>
                  <a:satOff val="6504"/>
                  <a:lumOff val="15871"/>
                  <a:alpha val="64999"/>
                </a:schemeClr>
              </a:solidFill>
              <a:prstDash val="solid"/>
              <a:miter lim="400000"/>
            </a:ln>
          </a:insideV>
        </a:tcBdr>
        <a:fill>
          <a:noFill/>
        </a:fill>
      </a:tcStyle>
    </a:wholeTbl>
    <a:band2H>
      <a:tcTxStyle/>
      <a:tcStyle>
        <a:tcBdr/>
        <a:fill>
          <a:solidFill>
            <a:schemeClr val="accent2">
              <a:hueOff val="-1122706"/>
              <a:satOff val="6504"/>
              <a:lumOff val="15871"/>
              <a:alpha val="12000"/>
            </a:schemeClr>
          </a:solidFill>
        </a:fill>
      </a:tcStyle>
    </a:band2H>
    <a:firstCol>
      <a:tcTxStyle b="on" i="off">
        <a:font>
          <a:latin typeface="Avenir Next Demi Bold"/>
          <a:ea typeface="Avenir Next Demi Bold"/>
          <a:cs typeface="Avenir Next Demi Bold"/>
        </a:font>
        <a:srgbClr val="5B5854"/>
      </a:tcTxStyle>
      <a:tcStyle>
        <a:tcBdr>
          <a:left>
            <a:ln w="12700" cap="flat">
              <a:noFill/>
              <a:miter lim="400000"/>
            </a:ln>
          </a:left>
          <a:right>
            <a:ln w="50800" cap="flat">
              <a:solidFill>
                <a:schemeClr val="accent5">
                  <a:alpha val="75000"/>
                </a:schemeClr>
              </a:solidFill>
              <a:prstDash val="solid"/>
              <a:miter lim="400000"/>
            </a:ln>
          </a:right>
          <a:top>
            <a:ln w="38100" cap="flat">
              <a:solidFill>
                <a:schemeClr val="accent2">
                  <a:hueOff val="-1122706"/>
                  <a:satOff val="6504"/>
                  <a:lumOff val="15871"/>
                  <a:alpha val="64999"/>
                </a:schemeClr>
              </a:solidFill>
              <a:prstDash val="solid"/>
              <a:miter lim="400000"/>
            </a:ln>
          </a:top>
          <a:bottom>
            <a:ln w="38100" cap="flat">
              <a:solidFill>
                <a:schemeClr val="accent2">
                  <a:hueOff val="-1122706"/>
                  <a:satOff val="6504"/>
                  <a:lumOff val="15871"/>
                  <a:alpha val="64999"/>
                </a:schemeClr>
              </a:solidFill>
              <a:prstDash val="solid"/>
              <a:miter lim="400000"/>
            </a:ln>
          </a:bottom>
          <a:insideH>
            <a:ln w="38100" cap="flat">
              <a:solidFill>
                <a:schemeClr val="accent2">
                  <a:hueOff val="-1122706"/>
                  <a:satOff val="6504"/>
                  <a:lumOff val="15871"/>
                  <a:alpha val="64999"/>
                </a:schemeClr>
              </a:solidFill>
              <a:prstDash val="solid"/>
              <a:miter lim="400000"/>
            </a:ln>
          </a:insideH>
          <a:insideV>
            <a:ln w="38100" cap="flat">
              <a:solidFill>
                <a:schemeClr val="accent2">
                  <a:hueOff val="-1122706"/>
                  <a:satOff val="6504"/>
                  <a:lumOff val="15871"/>
                  <a:alpha val="64999"/>
                </a:schemeClr>
              </a:solidFill>
              <a:prstDash val="solid"/>
              <a:miter lim="400000"/>
            </a:ln>
          </a:insideV>
        </a:tcBdr>
        <a:fill>
          <a:noFill/>
        </a:fill>
      </a:tcStyle>
    </a:firstCol>
    <a:lastRow>
      <a:tcTxStyle b="on" i="off">
        <a:font>
          <a:latin typeface="Avenir Next Demi Bold"/>
          <a:ea typeface="Avenir Next Demi Bold"/>
          <a:cs typeface="Avenir Next Demi Bold"/>
        </a:font>
        <a:srgbClr val="5B5854"/>
      </a:tcTxStyle>
      <a:tcStyle>
        <a:tcBdr>
          <a:left>
            <a:ln w="38100" cap="flat">
              <a:solidFill>
                <a:schemeClr val="accent2">
                  <a:hueOff val="-1122706"/>
                  <a:satOff val="6504"/>
                  <a:lumOff val="15871"/>
                  <a:alpha val="64999"/>
                </a:schemeClr>
              </a:solidFill>
              <a:prstDash val="solid"/>
              <a:miter lim="400000"/>
            </a:ln>
          </a:left>
          <a:right>
            <a:ln w="38100" cap="flat">
              <a:solidFill>
                <a:schemeClr val="accent2">
                  <a:hueOff val="-1122706"/>
                  <a:satOff val="6504"/>
                  <a:lumOff val="15871"/>
                  <a:alpha val="64999"/>
                </a:schemeClr>
              </a:solidFill>
              <a:prstDash val="solid"/>
              <a:miter lim="400000"/>
            </a:ln>
          </a:right>
          <a:top>
            <a:ln w="50800" cap="flat">
              <a:solidFill>
                <a:schemeClr val="accent5">
                  <a:alpha val="75000"/>
                </a:schemeClr>
              </a:solidFill>
              <a:prstDash val="solid"/>
              <a:miter lim="400000"/>
            </a:ln>
          </a:top>
          <a:bottom>
            <a:ln w="12700" cap="flat">
              <a:noFill/>
              <a:miter lim="400000"/>
            </a:ln>
          </a:bottom>
          <a:insideH>
            <a:ln w="38100" cap="flat">
              <a:solidFill>
                <a:schemeClr val="accent2">
                  <a:hueOff val="-1122706"/>
                  <a:satOff val="6504"/>
                  <a:lumOff val="15871"/>
                  <a:alpha val="64999"/>
                </a:schemeClr>
              </a:solidFill>
              <a:prstDash val="solid"/>
              <a:miter lim="400000"/>
            </a:ln>
          </a:insideH>
          <a:insideV>
            <a:ln w="38100" cap="flat">
              <a:solidFill>
                <a:schemeClr val="accent2">
                  <a:hueOff val="-1122706"/>
                  <a:satOff val="6504"/>
                  <a:lumOff val="15871"/>
                  <a:alpha val="64999"/>
                </a:schemeClr>
              </a:solidFill>
              <a:prstDash val="solid"/>
              <a:miter lim="400000"/>
            </a:ln>
          </a:insideV>
        </a:tcBdr>
        <a:fill>
          <a:noFill/>
        </a:fill>
      </a:tcStyle>
    </a:lastRow>
    <a:firstRow>
      <a:tcTxStyle b="on" i="off">
        <a:font>
          <a:latin typeface="Avenir Next Demi Bold"/>
          <a:ea typeface="Avenir Next Demi Bold"/>
          <a:cs typeface="Avenir Next Demi Bold"/>
        </a:font>
        <a:srgbClr val="5B5854"/>
      </a:tcTxStyle>
      <a:tcStyle>
        <a:tcBdr>
          <a:left>
            <a:ln w="38100" cap="flat">
              <a:solidFill>
                <a:schemeClr val="accent2">
                  <a:hueOff val="-1122706"/>
                  <a:satOff val="6504"/>
                  <a:lumOff val="15871"/>
                  <a:alpha val="64999"/>
                </a:schemeClr>
              </a:solidFill>
              <a:prstDash val="solid"/>
              <a:miter lim="400000"/>
            </a:ln>
          </a:left>
          <a:right>
            <a:ln w="38100" cap="flat">
              <a:solidFill>
                <a:schemeClr val="accent2">
                  <a:hueOff val="-1122706"/>
                  <a:satOff val="6504"/>
                  <a:lumOff val="15871"/>
                  <a:alpha val="64999"/>
                </a:schemeClr>
              </a:solidFill>
              <a:prstDash val="solid"/>
              <a:miter lim="400000"/>
            </a:ln>
          </a:right>
          <a:top>
            <a:ln w="12700" cap="flat">
              <a:noFill/>
              <a:miter lim="400000"/>
            </a:ln>
          </a:top>
          <a:bottom>
            <a:ln w="50800" cap="flat">
              <a:solidFill>
                <a:schemeClr val="accent5">
                  <a:alpha val="75000"/>
                </a:schemeClr>
              </a:solidFill>
              <a:prstDash val="solid"/>
              <a:miter lim="400000"/>
            </a:ln>
          </a:bottom>
          <a:insideH>
            <a:ln w="38100" cap="flat">
              <a:solidFill>
                <a:schemeClr val="accent2">
                  <a:hueOff val="-1122706"/>
                  <a:satOff val="6504"/>
                  <a:lumOff val="15871"/>
                  <a:alpha val="64999"/>
                </a:schemeClr>
              </a:solidFill>
              <a:prstDash val="solid"/>
              <a:miter lim="400000"/>
            </a:ln>
          </a:insideH>
          <a:insideV>
            <a:ln w="38100" cap="flat">
              <a:solidFill>
                <a:schemeClr val="accent2">
                  <a:hueOff val="-1122706"/>
                  <a:satOff val="6504"/>
                  <a:lumOff val="15871"/>
                  <a:alpha val="64999"/>
                </a:schemeClr>
              </a:solidFill>
              <a:prstDash val="solid"/>
              <a:miter lim="400000"/>
            </a:ln>
          </a:insideV>
        </a:tcBdr>
        <a:fill>
          <a:noFill/>
        </a:fill>
      </a:tcStyle>
    </a:firstRow>
  </a:tblStyle>
  <a:tblStyle styleId="{8F44A2F1-9E1F-4B54-A3A2-5F16C0AD49E2}" styleName="">
    <a:tblBg/>
    <a:wholeTbl>
      <a:tcTxStyle b="off" i="off">
        <a:font>
          <a:latin typeface="Helvetica Neue UltraLight"/>
          <a:ea typeface="Helvetica Neue UltraLight"/>
          <a:cs typeface="Helvetica Neue UltraLight"/>
        </a:font>
        <a:srgbClr val="000000"/>
      </a:tcTxStyle>
      <a:tcStyle>
        <a:tcBdr>
          <a:left>
            <a:ln w="25400" cap="flat">
              <a:solidFill>
                <a:srgbClr val="000000"/>
              </a:solidFill>
              <a:prstDash val="solid"/>
              <a:miter lim="400000"/>
            </a:ln>
          </a:left>
          <a:right>
            <a:ln w="25400" cap="flat">
              <a:solidFill>
                <a:srgbClr val="000000"/>
              </a:solidFill>
              <a:prstDash val="solid"/>
              <a:miter lim="400000"/>
            </a:ln>
          </a:right>
          <a:top>
            <a:ln w="25400" cap="flat">
              <a:solidFill>
                <a:srgbClr val="000000"/>
              </a:solidFill>
              <a:prstDash val="solid"/>
              <a:miter lim="400000"/>
            </a:ln>
          </a:top>
          <a:bottom>
            <a:ln w="25400" cap="flat">
              <a:solidFill>
                <a:srgbClr val="000000"/>
              </a:solidFill>
              <a:prstDash val="solid"/>
              <a:miter lim="400000"/>
            </a:ln>
          </a:bottom>
          <a:insideH>
            <a:ln w="25400" cap="flat">
              <a:solidFill>
                <a:srgbClr val="000000"/>
              </a:solidFill>
              <a:prstDash val="solid"/>
              <a:miter lim="400000"/>
            </a:ln>
          </a:insideH>
          <a:insideV>
            <a:ln w="25400" cap="flat">
              <a:solidFill>
                <a:srgbClr val="000000"/>
              </a:solidFill>
              <a:prstDash val="solid"/>
              <a:miter lim="400000"/>
            </a:ln>
          </a:insideV>
        </a:tcBdr>
        <a:fill>
          <a:noFill/>
        </a:fill>
      </a:tcStyle>
    </a:wholeTbl>
    <a:band2H>
      <a:tcTxStyle/>
      <a:tcStyle>
        <a:tcBdr/>
        <a:fill>
          <a:solidFill>
            <a:srgbClr val="C5C7C9">
              <a:alpha val="30000"/>
            </a:srgbClr>
          </a:solidFill>
        </a:fill>
      </a:tcStyle>
    </a:band2H>
    <a:firstCol>
      <a:tcTxStyle b="off" i="off">
        <a:font>
          <a:latin typeface="Helvetica Neue UltraLight"/>
          <a:ea typeface="Helvetica Neue UltraLight"/>
          <a:cs typeface="Helvetica Neue UltraLight"/>
        </a:font>
        <a:srgbClr val="FFFFFF"/>
      </a:tcTxStyle>
      <a:tcStyle>
        <a:tcBdr>
          <a:left>
            <a:ln w="25400" cap="flat">
              <a:solidFill>
                <a:srgbClr val="000000"/>
              </a:solidFill>
              <a:prstDash val="solid"/>
              <a:miter lim="400000"/>
            </a:ln>
          </a:left>
          <a:right>
            <a:ln w="25400" cap="flat">
              <a:solidFill>
                <a:srgbClr val="000000"/>
              </a:solidFill>
              <a:prstDash val="solid"/>
              <a:miter lim="400000"/>
            </a:ln>
          </a:right>
          <a:top>
            <a:ln w="25400" cap="flat">
              <a:solidFill>
                <a:srgbClr val="000000"/>
              </a:solidFill>
              <a:prstDash val="solid"/>
              <a:miter lim="400000"/>
            </a:ln>
          </a:top>
          <a:bottom>
            <a:ln w="25400" cap="flat">
              <a:solidFill>
                <a:srgbClr val="000000"/>
              </a:solidFill>
              <a:prstDash val="solid"/>
              <a:miter lim="400000"/>
            </a:ln>
          </a:bottom>
          <a:insideH>
            <a:ln w="25400" cap="flat">
              <a:solidFill>
                <a:srgbClr val="000000"/>
              </a:solidFill>
              <a:prstDash val="solid"/>
              <a:miter lim="400000"/>
            </a:ln>
          </a:insideH>
          <a:insideV>
            <a:ln w="25400" cap="flat">
              <a:solidFill>
                <a:srgbClr val="000000"/>
              </a:solidFill>
              <a:prstDash val="solid"/>
              <a:miter lim="400000"/>
            </a:ln>
          </a:insideV>
        </a:tcBdr>
        <a:fill>
          <a:noFill/>
        </a:fill>
      </a:tcStyle>
    </a:firstCol>
    <a:lastRow>
      <a:tcTxStyle b="off" i="off">
        <a:font>
          <a:latin typeface="Helvetica Neue UltraLight"/>
          <a:ea typeface="Helvetica Neue UltraLight"/>
          <a:cs typeface="Helvetica Neue UltraLight"/>
        </a:font>
        <a:srgbClr val="FFFFFF"/>
      </a:tcTxStyle>
      <a:tcStyle>
        <a:tcBdr>
          <a:left>
            <a:ln w="25400" cap="flat">
              <a:solidFill>
                <a:srgbClr val="000000"/>
              </a:solidFill>
              <a:prstDash val="solid"/>
              <a:miter lim="400000"/>
            </a:ln>
          </a:left>
          <a:right>
            <a:ln w="25400" cap="flat">
              <a:solidFill>
                <a:srgbClr val="000000"/>
              </a:solidFill>
              <a:prstDash val="solid"/>
              <a:miter lim="400000"/>
            </a:ln>
          </a:right>
          <a:top>
            <a:ln w="25400" cap="flat">
              <a:solidFill>
                <a:srgbClr val="000000"/>
              </a:solidFill>
              <a:prstDash val="solid"/>
              <a:miter lim="400000"/>
            </a:ln>
          </a:top>
          <a:bottom>
            <a:ln w="25400" cap="flat">
              <a:solidFill>
                <a:srgbClr val="000000"/>
              </a:solidFill>
              <a:prstDash val="solid"/>
              <a:miter lim="400000"/>
            </a:ln>
          </a:bottom>
          <a:insideH>
            <a:ln w="25400" cap="flat">
              <a:solidFill>
                <a:srgbClr val="000000"/>
              </a:solidFill>
              <a:prstDash val="solid"/>
              <a:miter lim="400000"/>
            </a:ln>
          </a:insideH>
          <a:insideV>
            <a:ln w="25400" cap="flat">
              <a:solidFill>
                <a:srgbClr val="000000"/>
              </a:solidFill>
              <a:prstDash val="solid"/>
              <a:miter lim="400000"/>
            </a:ln>
          </a:insideV>
        </a:tcBdr>
        <a:fill>
          <a:noFill/>
        </a:fill>
      </a:tcStyle>
    </a:lastRow>
    <a:firstRow>
      <a:tcTxStyle b="off" i="off">
        <a:font>
          <a:latin typeface="Helvetica Neue UltraLight"/>
          <a:ea typeface="Helvetica Neue UltraLight"/>
          <a:cs typeface="Helvetica Neue UltraLight"/>
        </a:font>
        <a:srgbClr val="FFFFFF"/>
      </a:tcTxStyle>
      <a:tcStyle>
        <a:tcBdr>
          <a:left>
            <a:ln w="25400" cap="flat">
              <a:solidFill>
                <a:srgbClr val="000000"/>
              </a:solidFill>
              <a:prstDash val="solid"/>
              <a:miter lim="400000"/>
            </a:ln>
          </a:left>
          <a:right>
            <a:ln w="25400" cap="flat">
              <a:solidFill>
                <a:srgbClr val="000000"/>
              </a:solidFill>
              <a:prstDash val="solid"/>
              <a:miter lim="400000"/>
            </a:ln>
          </a:right>
          <a:top>
            <a:ln w="25400" cap="flat">
              <a:solidFill>
                <a:srgbClr val="000000"/>
              </a:solidFill>
              <a:prstDash val="solid"/>
              <a:miter lim="400000"/>
            </a:ln>
          </a:top>
          <a:bottom>
            <a:ln w="25400" cap="flat">
              <a:solidFill>
                <a:srgbClr val="000000"/>
              </a:solidFill>
              <a:prstDash val="solid"/>
              <a:miter lim="400000"/>
            </a:ln>
          </a:bottom>
          <a:insideH>
            <a:ln w="25400" cap="flat">
              <a:solidFill>
                <a:srgbClr val="000000"/>
              </a:solidFill>
              <a:prstDash val="solid"/>
              <a:miter lim="400000"/>
            </a:ln>
          </a:insideH>
          <a:insideV>
            <a:ln w="25400" cap="flat">
              <a:solidFill>
                <a:srgbClr val="000000"/>
              </a:solidFill>
              <a:prstDash val="solid"/>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110" autoAdjust="0"/>
    <p:restoredTop sz="86383" autoAdjust="0"/>
  </p:normalViewPr>
  <p:slideViewPr>
    <p:cSldViewPr snapToGrid="0" snapToObjects="1">
      <p:cViewPr varScale="1">
        <p:scale>
          <a:sx n="69" d="100"/>
          <a:sy n="69" d="100"/>
        </p:scale>
        <p:origin x="432" y="232"/>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tags" Target="tags/tag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Shape 17"/>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8" name="Shape 1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defRPr sz="2200" b="0" i="0">
        <a:latin typeface="Calibri Regular"/>
        <a:ea typeface="Calibri Regular"/>
        <a:cs typeface="Calibri Regular"/>
        <a:sym typeface="Lucida Grande"/>
      </a:defRPr>
    </a:lvl1pPr>
    <a:lvl2pPr indent="228600" defTabSz="457200" latinLnBrk="0">
      <a:defRPr sz="2200">
        <a:latin typeface="Lucida Grande"/>
        <a:ea typeface="Lucida Grande"/>
        <a:cs typeface="Lucida Grande"/>
        <a:sym typeface="Lucida Grande"/>
      </a:defRPr>
    </a:lvl2pPr>
    <a:lvl3pPr indent="457200" defTabSz="457200" latinLnBrk="0">
      <a:defRPr sz="2200">
        <a:latin typeface="Lucida Grande"/>
        <a:ea typeface="Lucida Grande"/>
        <a:cs typeface="Lucida Grande"/>
        <a:sym typeface="Lucida Grande"/>
      </a:defRPr>
    </a:lvl3pPr>
    <a:lvl4pPr indent="685800" defTabSz="457200" latinLnBrk="0">
      <a:defRPr sz="2200">
        <a:latin typeface="Lucida Grande"/>
        <a:ea typeface="Lucida Grande"/>
        <a:cs typeface="Lucida Grande"/>
        <a:sym typeface="Lucida Grande"/>
      </a:defRPr>
    </a:lvl4pPr>
    <a:lvl5pPr indent="914400" defTabSz="457200" latinLnBrk="0">
      <a:defRPr sz="2200">
        <a:latin typeface="Lucida Grande"/>
        <a:ea typeface="Lucida Grande"/>
        <a:cs typeface="Lucida Grande"/>
        <a:sym typeface="Lucida Grande"/>
      </a:defRPr>
    </a:lvl5pPr>
    <a:lvl6pPr indent="1143000" defTabSz="457200" latinLnBrk="0">
      <a:defRPr sz="2200">
        <a:latin typeface="Lucida Grande"/>
        <a:ea typeface="Lucida Grande"/>
        <a:cs typeface="Lucida Grande"/>
        <a:sym typeface="Lucida Grande"/>
      </a:defRPr>
    </a:lvl6pPr>
    <a:lvl7pPr indent="1371600" defTabSz="457200" latinLnBrk="0">
      <a:defRPr sz="2200">
        <a:latin typeface="Lucida Grande"/>
        <a:ea typeface="Lucida Grande"/>
        <a:cs typeface="Lucida Grande"/>
        <a:sym typeface="Lucida Grande"/>
      </a:defRPr>
    </a:lvl7pPr>
    <a:lvl8pPr indent="1600200" defTabSz="457200" latinLnBrk="0">
      <a:defRPr sz="2200">
        <a:latin typeface="Lucida Grande"/>
        <a:ea typeface="Lucida Grande"/>
        <a:cs typeface="Lucida Grande"/>
        <a:sym typeface="Lucida Grande"/>
      </a:defRPr>
    </a:lvl8pPr>
    <a:lvl9pPr indent="1828800" defTabSz="457200" latinLnBrk="0">
      <a:defRPr sz="2200">
        <a:latin typeface="Lucida Grande"/>
        <a:ea typeface="Lucida Grande"/>
        <a:cs typeface="Lucida Grande"/>
        <a:sym typeface="Lucida Grand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images.bit-tech.net/news_images/2012/06/torvalds-slams-nvidia/article_img.jpg"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Off Screen</a:t>
            </a:r>
          </a:p>
        </p:txBody>
      </p:sp>
    </p:spTree>
    <p:extLst>
      <p:ext uri="{BB962C8B-B14F-4D97-AF65-F5344CB8AC3E}">
        <p14:creationId xmlns:p14="http://schemas.microsoft.com/office/powerpoint/2010/main" val="35158255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On Screen</a:t>
            </a:r>
          </a:p>
        </p:txBody>
      </p:sp>
    </p:spTree>
    <p:extLst>
      <p:ext uri="{BB962C8B-B14F-4D97-AF65-F5344CB8AC3E}">
        <p14:creationId xmlns:p14="http://schemas.microsoft.com/office/powerpoint/2010/main" val="15151319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Off Screen</a:t>
            </a:r>
          </a:p>
        </p:txBody>
      </p:sp>
    </p:spTree>
    <p:extLst>
      <p:ext uri="{BB962C8B-B14F-4D97-AF65-F5344CB8AC3E}">
        <p14:creationId xmlns:p14="http://schemas.microsoft.com/office/powerpoint/2010/main" val="36704822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On Screen</a:t>
            </a:r>
          </a:p>
        </p:txBody>
      </p:sp>
    </p:spTree>
    <p:extLst>
      <p:ext uri="{BB962C8B-B14F-4D97-AF65-F5344CB8AC3E}">
        <p14:creationId xmlns:p14="http://schemas.microsoft.com/office/powerpoint/2010/main" val="6433601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Off Screen</a:t>
            </a:r>
          </a:p>
        </p:txBody>
      </p:sp>
    </p:spTree>
    <p:extLst>
      <p:ext uri="{BB962C8B-B14F-4D97-AF65-F5344CB8AC3E}">
        <p14:creationId xmlns:p14="http://schemas.microsoft.com/office/powerpoint/2010/main" val="17828738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Off Screen</a:t>
            </a:r>
          </a:p>
          <a:p>
            <a:r>
              <a:rPr lang="en-US" b="1" dirty="0"/>
              <a:t>[CLICK FOR PICTURE OF Torvalds]</a:t>
            </a:r>
          </a:p>
          <a:p>
            <a:endParaRPr lang="en-US" b="1" dirty="0"/>
          </a:p>
          <a:p>
            <a:r>
              <a:rPr lang="en-US" b="1" dirty="0"/>
              <a:t>Image source: </a:t>
            </a:r>
            <a:r>
              <a:rPr lang="en-US" dirty="0">
                <a:hlinkClick r:id="rId3"/>
              </a:rPr>
              <a:t>http://images.bit-tech.net/news_images/2012/06/torvalds-slams-nvidia/article_img.jpg</a:t>
            </a:r>
            <a:endParaRPr lang="en-US" b="1" dirty="0"/>
          </a:p>
        </p:txBody>
      </p:sp>
    </p:spTree>
    <p:extLst>
      <p:ext uri="{BB962C8B-B14F-4D97-AF65-F5344CB8AC3E}">
        <p14:creationId xmlns:p14="http://schemas.microsoft.com/office/powerpoint/2010/main" val="29139098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On Screen</a:t>
            </a:r>
          </a:p>
        </p:txBody>
      </p:sp>
    </p:spTree>
    <p:extLst>
      <p:ext uri="{BB962C8B-B14F-4D97-AF65-F5344CB8AC3E}">
        <p14:creationId xmlns:p14="http://schemas.microsoft.com/office/powerpoint/2010/main" val="13630976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Off Screen</a:t>
            </a:r>
          </a:p>
        </p:txBody>
      </p:sp>
    </p:spTree>
    <p:extLst>
      <p:ext uri="{BB962C8B-B14F-4D97-AF65-F5344CB8AC3E}">
        <p14:creationId xmlns:p14="http://schemas.microsoft.com/office/powerpoint/2010/main" val="36541672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0" dirty="0"/>
              <a:t>On Screen</a:t>
            </a:r>
          </a:p>
        </p:txBody>
      </p:sp>
    </p:spTree>
    <p:extLst>
      <p:ext uri="{BB962C8B-B14F-4D97-AF65-F5344CB8AC3E}">
        <p14:creationId xmlns:p14="http://schemas.microsoft.com/office/powerpoint/2010/main" val="3202010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Off Screen</a:t>
            </a:r>
          </a:p>
        </p:txBody>
      </p:sp>
    </p:spTree>
    <p:extLst>
      <p:ext uri="{BB962C8B-B14F-4D97-AF65-F5344CB8AC3E}">
        <p14:creationId xmlns:p14="http://schemas.microsoft.com/office/powerpoint/2010/main" val="24100853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On Screen</a:t>
            </a:r>
          </a:p>
        </p:txBody>
      </p:sp>
    </p:spTree>
    <p:extLst>
      <p:ext uri="{BB962C8B-B14F-4D97-AF65-F5344CB8AC3E}">
        <p14:creationId xmlns:p14="http://schemas.microsoft.com/office/powerpoint/2010/main" val="25350926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Clean Slide">
    <p:spTree>
      <p:nvGrpSpPr>
        <p:cNvPr id="1" name=""/>
        <p:cNvGrpSpPr/>
        <p:nvPr/>
      </p:nvGrpSpPr>
      <p:grpSpPr>
        <a:xfrm>
          <a:off x="0" y="0"/>
          <a:ext cx="0" cy="0"/>
          <a:chOff x="0" y="0"/>
          <a:chExt cx="0" cy="0"/>
        </a:xfrm>
      </p:grpSpPr>
      <p:sp>
        <p:nvSpPr>
          <p:cNvPr id="1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B00EF23F-E3FF-884C-BC87-ADAED0C931A8}"/>
              </a:ext>
            </a:extLst>
          </p:cNvPr>
          <p:cNvSpPr>
            <a:spLocks noGrp="1"/>
          </p:cNvSpPr>
          <p:nvPr>
            <p:ph type="pic" sz="quarter" idx="10"/>
          </p:nvPr>
        </p:nvSpPr>
        <p:spPr>
          <a:xfrm>
            <a:off x="2479976" y="3136900"/>
            <a:ext cx="7105047" cy="8204200"/>
          </a:xfrm>
          <a:custGeom>
            <a:avLst/>
            <a:gdLst>
              <a:gd name="connsiteX0" fmla="*/ 3552524 w 7105047"/>
              <a:gd name="connsiteY0" fmla="*/ 0 h 8204200"/>
              <a:gd name="connsiteX1" fmla="*/ 7105047 w 7105047"/>
              <a:gd name="connsiteY1" fmla="*/ 2051050 h 8204200"/>
              <a:gd name="connsiteX2" fmla="*/ 7105047 w 7105047"/>
              <a:gd name="connsiteY2" fmla="*/ 6153150 h 8204200"/>
              <a:gd name="connsiteX3" fmla="*/ 3552524 w 7105047"/>
              <a:gd name="connsiteY3" fmla="*/ 8204200 h 8204200"/>
              <a:gd name="connsiteX4" fmla="*/ 0 w 7105047"/>
              <a:gd name="connsiteY4" fmla="*/ 6153150 h 8204200"/>
              <a:gd name="connsiteX5" fmla="*/ 0 w 7105047"/>
              <a:gd name="connsiteY5" fmla="*/ 2051050 h 820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05047" h="8204200">
                <a:moveTo>
                  <a:pt x="3552524" y="0"/>
                </a:moveTo>
                <a:lnTo>
                  <a:pt x="7105047" y="2051050"/>
                </a:lnTo>
                <a:lnTo>
                  <a:pt x="7105047" y="6153150"/>
                </a:lnTo>
                <a:lnTo>
                  <a:pt x="3552524" y="8204200"/>
                </a:lnTo>
                <a:lnTo>
                  <a:pt x="0" y="6153150"/>
                </a:lnTo>
                <a:lnTo>
                  <a:pt x="0" y="2051050"/>
                </a:lnTo>
                <a:close/>
              </a:path>
            </a:pathLst>
          </a:custGeom>
          <a:blipFill>
            <a:blip r:embed="rId2"/>
            <a:srcRect/>
            <a:stretch>
              <a:fillRect l="-7735" r="-7735"/>
            </a:stretch>
          </a:blipFill>
        </p:spPr>
        <p:txBody>
          <a:bodyPr wrap="square">
            <a:noAutofit/>
          </a:bodyPr>
          <a:lstStyle>
            <a:lvl1pPr>
              <a:defRPr sz="3000" b="0" i="0">
                <a:latin typeface="Calibri Regular"/>
              </a:defRPr>
            </a:lvl1pPr>
          </a:lstStyle>
          <a:p>
            <a:r>
              <a:rPr lang="en-US"/>
              <a:t>Click icon to add picture</a:t>
            </a:r>
            <a:endParaRPr lang="en-US" dirty="0"/>
          </a:p>
        </p:txBody>
      </p:sp>
      <p:sp>
        <p:nvSpPr>
          <p:cNvPr id="1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47973915"/>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ur Mission">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4A0B8609-D938-9740-83EA-43FE9FAA144A}"/>
              </a:ext>
            </a:extLst>
          </p:cNvPr>
          <p:cNvSpPr>
            <a:spLocks noGrp="1"/>
          </p:cNvSpPr>
          <p:nvPr>
            <p:ph type="pic" sz="quarter" idx="10"/>
          </p:nvPr>
        </p:nvSpPr>
        <p:spPr>
          <a:xfrm>
            <a:off x="13646150" y="2686050"/>
            <a:ext cx="8699500" cy="8699500"/>
          </a:xfrm>
          <a:custGeom>
            <a:avLst/>
            <a:gdLst>
              <a:gd name="connsiteX0" fmla="*/ 4349750 w 8699500"/>
              <a:gd name="connsiteY0" fmla="*/ 0 h 8699500"/>
              <a:gd name="connsiteX1" fmla="*/ 8699500 w 8699500"/>
              <a:gd name="connsiteY1" fmla="*/ 4349750 h 8699500"/>
              <a:gd name="connsiteX2" fmla="*/ 4349750 w 8699500"/>
              <a:gd name="connsiteY2" fmla="*/ 8699500 h 8699500"/>
              <a:gd name="connsiteX3" fmla="*/ 0 w 8699500"/>
              <a:gd name="connsiteY3" fmla="*/ 4349750 h 8699500"/>
            </a:gdLst>
            <a:ahLst/>
            <a:cxnLst>
              <a:cxn ang="0">
                <a:pos x="connsiteX0" y="connsiteY0"/>
              </a:cxn>
              <a:cxn ang="0">
                <a:pos x="connsiteX1" y="connsiteY1"/>
              </a:cxn>
              <a:cxn ang="0">
                <a:pos x="connsiteX2" y="connsiteY2"/>
              </a:cxn>
              <a:cxn ang="0">
                <a:pos x="connsiteX3" y="connsiteY3"/>
              </a:cxn>
            </a:cxnLst>
            <a:rect l="l" t="t" r="r" b="b"/>
            <a:pathLst>
              <a:path w="8699500" h="8699500">
                <a:moveTo>
                  <a:pt x="4349750" y="0"/>
                </a:moveTo>
                <a:lnTo>
                  <a:pt x="8699500" y="4349750"/>
                </a:lnTo>
                <a:lnTo>
                  <a:pt x="4349750" y="8699500"/>
                </a:lnTo>
                <a:lnTo>
                  <a:pt x="0" y="4349750"/>
                </a:lnTo>
                <a:close/>
              </a:path>
            </a:pathLst>
          </a:custGeom>
          <a:blipFill>
            <a:blip r:embed="rId2"/>
            <a:srcRect/>
            <a:stretch>
              <a:fillRect/>
            </a:stretch>
          </a:blipFill>
        </p:spPr>
        <p:txBody>
          <a:bodyPr wrap="square">
            <a:noAutofit/>
          </a:bodyPr>
          <a:lstStyle>
            <a:lvl1pPr>
              <a:defRPr sz="3000" b="0" i="0">
                <a:latin typeface="Calibri Regular"/>
              </a:defRPr>
            </a:lvl1pPr>
          </a:lstStyle>
          <a:p>
            <a:r>
              <a:rPr lang="en-US"/>
              <a:t>Click icon to add picture</a:t>
            </a:r>
            <a:endParaRPr lang="en-US" dirty="0"/>
          </a:p>
        </p:txBody>
      </p:sp>
      <p:sp>
        <p:nvSpPr>
          <p:cNvPr id="1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546493949"/>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ur Vis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E9F09BE6-749A-EA43-8CEE-8B745F32F881}"/>
              </a:ext>
            </a:extLst>
          </p:cNvPr>
          <p:cNvSpPr>
            <a:spLocks noGrp="1"/>
          </p:cNvSpPr>
          <p:nvPr>
            <p:ph type="pic" sz="quarter" idx="10"/>
          </p:nvPr>
        </p:nvSpPr>
        <p:spPr>
          <a:xfrm>
            <a:off x="3206750" y="4083050"/>
            <a:ext cx="6819900" cy="6819900"/>
          </a:xfrm>
          <a:prstGeom prst="rect">
            <a:avLst/>
          </a:prstGeom>
          <a:blipFill>
            <a:blip r:embed="rId2"/>
            <a:srcRect/>
            <a:stretch>
              <a:fillRect/>
            </a:stretch>
          </a:blipFill>
        </p:spPr>
        <p:txBody>
          <a:bodyPr/>
          <a:lstStyle>
            <a:lvl1pPr>
              <a:defRPr sz="3000" b="0" i="0">
                <a:latin typeface="Calibri Regular"/>
              </a:defRPr>
            </a:lvl1pPr>
          </a:lstStyle>
          <a:p>
            <a:r>
              <a:rPr lang="en-US"/>
              <a:t>Click icon to add picture</a:t>
            </a:r>
            <a:endParaRPr lang="en-US" dirty="0"/>
          </a:p>
        </p:txBody>
      </p:sp>
      <p:sp>
        <p:nvSpPr>
          <p:cNvPr id="1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531343527"/>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Key Personnel">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E9F09BE6-749A-EA43-8CEE-8B745F32F881}"/>
              </a:ext>
            </a:extLst>
          </p:cNvPr>
          <p:cNvSpPr>
            <a:spLocks noGrp="1"/>
          </p:cNvSpPr>
          <p:nvPr>
            <p:ph type="pic" sz="quarter" idx="10"/>
          </p:nvPr>
        </p:nvSpPr>
        <p:spPr>
          <a:xfrm>
            <a:off x="2416546" y="2471565"/>
            <a:ext cx="2671162" cy="2671162"/>
          </a:xfrm>
          <a:prstGeom prst="ellipse">
            <a:avLst/>
          </a:prstGeom>
          <a:blipFill>
            <a:blip r:embed="rId2"/>
            <a:srcRect/>
            <a:stretch>
              <a:fillRect/>
            </a:stretch>
          </a:blipFill>
        </p:spPr>
        <p:txBody>
          <a:bodyPr/>
          <a:lstStyle>
            <a:lvl1pPr>
              <a:defRPr sz="3000" b="0" i="0">
                <a:latin typeface="Calibri Regular"/>
              </a:defRPr>
            </a:lvl1pPr>
          </a:lstStyle>
          <a:p>
            <a:r>
              <a:rPr lang="en-US"/>
              <a:t>Click icon to add picture</a:t>
            </a:r>
            <a:endParaRPr lang="en-US" dirty="0"/>
          </a:p>
        </p:txBody>
      </p:sp>
      <p:sp>
        <p:nvSpPr>
          <p:cNvPr id="13" name="Picture Placeholder 2">
            <a:extLst>
              <a:ext uri="{FF2B5EF4-FFF2-40B4-BE49-F238E27FC236}">
                <a16:creationId xmlns:a16="http://schemas.microsoft.com/office/drawing/2014/main" id="{EDD066D3-6CE9-FA46-8C9A-D8C2F1E58942}"/>
              </a:ext>
            </a:extLst>
          </p:cNvPr>
          <p:cNvSpPr>
            <a:spLocks noGrp="1"/>
          </p:cNvSpPr>
          <p:nvPr>
            <p:ph type="pic" sz="quarter" idx="11"/>
          </p:nvPr>
        </p:nvSpPr>
        <p:spPr>
          <a:xfrm>
            <a:off x="7688938" y="2471565"/>
            <a:ext cx="2671162" cy="2671162"/>
          </a:xfrm>
          <a:prstGeom prst="ellipse">
            <a:avLst/>
          </a:prstGeom>
          <a:blipFill>
            <a:blip r:embed="rId2"/>
            <a:srcRect/>
            <a:stretch>
              <a:fillRect/>
            </a:stretch>
          </a:blipFill>
        </p:spPr>
        <p:txBody>
          <a:bodyPr/>
          <a:lstStyle>
            <a:lvl1pPr>
              <a:defRPr sz="3000" b="0" i="0">
                <a:latin typeface="Calibri Regular"/>
              </a:defRPr>
            </a:lvl1pPr>
          </a:lstStyle>
          <a:p>
            <a:r>
              <a:rPr lang="en-US"/>
              <a:t>Click icon to add picture</a:t>
            </a:r>
            <a:endParaRPr lang="en-US" dirty="0"/>
          </a:p>
        </p:txBody>
      </p:sp>
      <p:sp>
        <p:nvSpPr>
          <p:cNvPr id="14" name="Picture Placeholder 2">
            <a:extLst>
              <a:ext uri="{FF2B5EF4-FFF2-40B4-BE49-F238E27FC236}">
                <a16:creationId xmlns:a16="http://schemas.microsoft.com/office/drawing/2014/main" id="{D7B25A9E-60A5-EB42-B1D0-1B75F646C8D6}"/>
              </a:ext>
            </a:extLst>
          </p:cNvPr>
          <p:cNvSpPr>
            <a:spLocks noGrp="1"/>
          </p:cNvSpPr>
          <p:nvPr>
            <p:ph type="pic" sz="quarter" idx="12"/>
          </p:nvPr>
        </p:nvSpPr>
        <p:spPr>
          <a:xfrm>
            <a:off x="13389347" y="2471565"/>
            <a:ext cx="2671162" cy="2671162"/>
          </a:xfrm>
          <a:prstGeom prst="ellipse">
            <a:avLst/>
          </a:prstGeom>
          <a:blipFill>
            <a:blip r:embed="rId2"/>
            <a:srcRect/>
            <a:stretch>
              <a:fillRect/>
            </a:stretch>
          </a:blipFill>
        </p:spPr>
        <p:txBody>
          <a:bodyPr/>
          <a:lstStyle>
            <a:lvl1pPr>
              <a:defRPr sz="3000" b="0" i="0">
                <a:latin typeface="Calibri Regular"/>
              </a:defRPr>
            </a:lvl1pPr>
          </a:lstStyle>
          <a:p>
            <a:r>
              <a:rPr lang="en-US"/>
              <a:t>Click icon to add picture</a:t>
            </a:r>
            <a:endParaRPr lang="en-US" dirty="0"/>
          </a:p>
        </p:txBody>
      </p:sp>
      <p:sp>
        <p:nvSpPr>
          <p:cNvPr id="15" name="Picture Placeholder 2">
            <a:extLst>
              <a:ext uri="{FF2B5EF4-FFF2-40B4-BE49-F238E27FC236}">
                <a16:creationId xmlns:a16="http://schemas.microsoft.com/office/drawing/2014/main" id="{0D082E2F-BA38-A843-A515-4BD3B9600C1E}"/>
              </a:ext>
            </a:extLst>
          </p:cNvPr>
          <p:cNvSpPr>
            <a:spLocks noGrp="1"/>
          </p:cNvSpPr>
          <p:nvPr>
            <p:ph type="pic" sz="quarter" idx="13"/>
          </p:nvPr>
        </p:nvSpPr>
        <p:spPr>
          <a:xfrm>
            <a:off x="19011934" y="2471565"/>
            <a:ext cx="2671162" cy="2671162"/>
          </a:xfrm>
          <a:prstGeom prst="ellipse">
            <a:avLst/>
          </a:prstGeom>
          <a:blipFill>
            <a:blip r:embed="rId2"/>
            <a:srcRect/>
            <a:stretch>
              <a:fillRect/>
            </a:stretch>
          </a:blipFill>
        </p:spPr>
        <p:txBody>
          <a:bodyPr/>
          <a:lstStyle>
            <a:lvl1pPr>
              <a:defRPr sz="3000" b="0" i="0">
                <a:latin typeface="Calibri Regular"/>
              </a:defRPr>
            </a:lvl1pPr>
          </a:lstStyle>
          <a:p>
            <a:r>
              <a:rPr lang="en-US"/>
              <a:t>Click icon to add picture</a:t>
            </a:r>
            <a:endParaRPr lang="en-US" dirty="0"/>
          </a:p>
        </p:txBody>
      </p:sp>
      <p:sp>
        <p:nvSpPr>
          <p:cNvPr id="16" name="Picture Placeholder 2">
            <a:extLst>
              <a:ext uri="{FF2B5EF4-FFF2-40B4-BE49-F238E27FC236}">
                <a16:creationId xmlns:a16="http://schemas.microsoft.com/office/drawing/2014/main" id="{9F82DABC-D0F4-DE4C-810A-0566A81FCAEE}"/>
              </a:ext>
            </a:extLst>
          </p:cNvPr>
          <p:cNvSpPr>
            <a:spLocks noGrp="1"/>
          </p:cNvSpPr>
          <p:nvPr>
            <p:ph type="pic" sz="quarter" idx="14"/>
          </p:nvPr>
        </p:nvSpPr>
        <p:spPr>
          <a:xfrm>
            <a:off x="2416546" y="7627224"/>
            <a:ext cx="2671162" cy="2671162"/>
          </a:xfrm>
          <a:prstGeom prst="ellipse">
            <a:avLst/>
          </a:prstGeom>
          <a:blipFill>
            <a:blip r:embed="rId2"/>
            <a:srcRect/>
            <a:stretch>
              <a:fillRect/>
            </a:stretch>
          </a:blipFill>
        </p:spPr>
        <p:txBody>
          <a:bodyPr/>
          <a:lstStyle>
            <a:lvl1pPr>
              <a:defRPr sz="3000" b="0" i="0">
                <a:latin typeface="Calibri Regular"/>
              </a:defRPr>
            </a:lvl1pPr>
          </a:lstStyle>
          <a:p>
            <a:r>
              <a:rPr lang="en-US"/>
              <a:t>Click icon to add picture</a:t>
            </a:r>
            <a:endParaRPr lang="en-US" dirty="0"/>
          </a:p>
        </p:txBody>
      </p:sp>
      <p:sp>
        <p:nvSpPr>
          <p:cNvPr id="17" name="Picture Placeholder 2">
            <a:extLst>
              <a:ext uri="{FF2B5EF4-FFF2-40B4-BE49-F238E27FC236}">
                <a16:creationId xmlns:a16="http://schemas.microsoft.com/office/drawing/2014/main" id="{38CC6A3C-B49A-5749-A2E0-6B534B8A3EDF}"/>
              </a:ext>
            </a:extLst>
          </p:cNvPr>
          <p:cNvSpPr>
            <a:spLocks noGrp="1"/>
          </p:cNvSpPr>
          <p:nvPr>
            <p:ph type="pic" sz="quarter" idx="15"/>
          </p:nvPr>
        </p:nvSpPr>
        <p:spPr>
          <a:xfrm>
            <a:off x="7688938" y="7627224"/>
            <a:ext cx="2671162" cy="2671162"/>
          </a:xfrm>
          <a:prstGeom prst="ellipse">
            <a:avLst/>
          </a:prstGeom>
          <a:blipFill>
            <a:blip r:embed="rId2"/>
            <a:srcRect/>
            <a:stretch>
              <a:fillRect/>
            </a:stretch>
          </a:blipFill>
        </p:spPr>
        <p:txBody>
          <a:bodyPr/>
          <a:lstStyle>
            <a:lvl1pPr>
              <a:defRPr sz="3000" b="0" i="0">
                <a:latin typeface="Calibri Regular"/>
              </a:defRPr>
            </a:lvl1pPr>
          </a:lstStyle>
          <a:p>
            <a:r>
              <a:rPr lang="en-US"/>
              <a:t>Click icon to add picture</a:t>
            </a:r>
            <a:endParaRPr lang="en-US" dirty="0"/>
          </a:p>
        </p:txBody>
      </p:sp>
      <p:sp>
        <p:nvSpPr>
          <p:cNvPr id="18" name="Picture Placeholder 2">
            <a:extLst>
              <a:ext uri="{FF2B5EF4-FFF2-40B4-BE49-F238E27FC236}">
                <a16:creationId xmlns:a16="http://schemas.microsoft.com/office/drawing/2014/main" id="{FD2886B4-A57B-484B-8A84-0CE7C2FFCAE6}"/>
              </a:ext>
            </a:extLst>
          </p:cNvPr>
          <p:cNvSpPr>
            <a:spLocks noGrp="1"/>
          </p:cNvSpPr>
          <p:nvPr>
            <p:ph type="pic" sz="quarter" idx="16"/>
          </p:nvPr>
        </p:nvSpPr>
        <p:spPr>
          <a:xfrm>
            <a:off x="13389347" y="7627224"/>
            <a:ext cx="2671162" cy="2671162"/>
          </a:xfrm>
          <a:prstGeom prst="ellipse">
            <a:avLst/>
          </a:prstGeom>
          <a:blipFill>
            <a:blip r:embed="rId2"/>
            <a:srcRect/>
            <a:stretch>
              <a:fillRect/>
            </a:stretch>
          </a:blipFill>
        </p:spPr>
        <p:txBody>
          <a:bodyPr/>
          <a:lstStyle>
            <a:lvl1pPr>
              <a:defRPr sz="3000" b="0" i="0">
                <a:latin typeface="Calibri Regular"/>
              </a:defRPr>
            </a:lvl1pPr>
          </a:lstStyle>
          <a:p>
            <a:r>
              <a:rPr lang="en-US"/>
              <a:t>Click icon to add picture</a:t>
            </a:r>
            <a:endParaRPr lang="en-US" dirty="0"/>
          </a:p>
        </p:txBody>
      </p:sp>
      <p:sp>
        <p:nvSpPr>
          <p:cNvPr id="19" name="Picture Placeholder 2">
            <a:extLst>
              <a:ext uri="{FF2B5EF4-FFF2-40B4-BE49-F238E27FC236}">
                <a16:creationId xmlns:a16="http://schemas.microsoft.com/office/drawing/2014/main" id="{14576754-A36A-AC4E-AC24-BEB62CBA6284}"/>
              </a:ext>
            </a:extLst>
          </p:cNvPr>
          <p:cNvSpPr>
            <a:spLocks noGrp="1"/>
          </p:cNvSpPr>
          <p:nvPr>
            <p:ph type="pic" sz="quarter" idx="17"/>
          </p:nvPr>
        </p:nvSpPr>
        <p:spPr>
          <a:xfrm>
            <a:off x="19011934" y="7627224"/>
            <a:ext cx="2671162" cy="2671162"/>
          </a:xfrm>
          <a:prstGeom prst="ellipse">
            <a:avLst/>
          </a:prstGeom>
          <a:blipFill>
            <a:blip r:embed="rId2"/>
            <a:srcRect/>
            <a:stretch>
              <a:fillRect/>
            </a:stretch>
          </a:blipFill>
        </p:spPr>
        <p:txBody>
          <a:bodyPr/>
          <a:lstStyle>
            <a:lvl1pPr>
              <a:defRPr sz="3000" b="0" i="0">
                <a:latin typeface="Calibri Regular"/>
              </a:defRPr>
            </a:lvl1pPr>
          </a:lstStyle>
          <a:p>
            <a:r>
              <a:rPr lang="en-US"/>
              <a:t>Click icon to add picture</a:t>
            </a:r>
            <a:endParaRPr lang="en-US" dirty="0"/>
          </a:p>
        </p:txBody>
      </p:sp>
      <p:sp>
        <p:nvSpPr>
          <p:cNvPr id="1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191694930"/>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ients Testimonial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D7B25A9E-60A5-EB42-B1D0-1B75F646C8D6}"/>
              </a:ext>
            </a:extLst>
          </p:cNvPr>
          <p:cNvSpPr>
            <a:spLocks noGrp="1"/>
          </p:cNvSpPr>
          <p:nvPr>
            <p:ph type="pic" sz="quarter" idx="12"/>
          </p:nvPr>
        </p:nvSpPr>
        <p:spPr>
          <a:xfrm>
            <a:off x="10634928" y="2228433"/>
            <a:ext cx="3114144" cy="3114144"/>
          </a:xfrm>
          <a:prstGeom prst="ellipse">
            <a:avLst/>
          </a:prstGeom>
          <a:blipFill>
            <a:blip r:embed="rId2"/>
            <a:srcRect/>
            <a:stretch>
              <a:fillRect/>
            </a:stretch>
          </a:blipFill>
        </p:spPr>
        <p:txBody>
          <a:bodyPr/>
          <a:lstStyle>
            <a:lvl1pPr>
              <a:defRPr sz="3000" b="0" i="0">
                <a:latin typeface="Calibri Regular"/>
              </a:defRPr>
            </a:lvl1pPr>
          </a:lstStyle>
          <a:p>
            <a:r>
              <a:rPr lang="en-US"/>
              <a:t>Click icon to add picture</a:t>
            </a:r>
            <a:endParaRPr lang="en-US" dirty="0"/>
          </a:p>
        </p:txBody>
      </p:sp>
      <p:sp>
        <p:nvSpPr>
          <p:cNvPr id="1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084787741"/>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lients Testimonials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D7B25A9E-60A5-EB42-B1D0-1B75F646C8D6}"/>
              </a:ext>
            </a:extLst>
          </p:cNvPr>
          <p:cNvSpPr>
            <a:spLocks noGrp="1"/>
          </p:cNvSpPr>
          <p:nvPr>
            <p:ph type="pic" sz="quarter" idx="12"/>
          </p:nvPr>
        </p:nvSpPr>
        <p:spPr>
          <a:xfrm>
            <a:off x="10596017" y="2228433"/>
            <a:ext cx="3114144" cy="3114144"/>
          </a:xfrm>
          <a:prstGeom prst="ellipse">
            <a:avLst/>
          </a:prstGeom>
          <a:blipFill>
            <a:blip r:embed="rId2"/>
            <a:srcRect/>
            <a:stretch>
              <a:fillRect/>
            </a:stretch>
          </a:blipFill>
        </p:spPr>
        <p:txBody>
          <a:bodyPr/>
          <a:lstStyle>
            <a:lvl1pPr>
              <a:defRPr sz="3000" b="0" i="0">
                <a:latin typeface="Calibri Regular"/>
              </a:defRPr>
            </a:lvl1pPr>
          </a:lstStyle>
          <a:p>
            <a:r>
              <a:rPr lang="en-US"/>
              <a:t>Click icon to add picture</a:t>
            </a:r>
            <a:endParaRPr lang="en-US" dirty="0"/>
          </a:p>
        </p:txBody>
      </p:sp>
      <p:sp>
        <p:nvSpPr>
          <p:cNvPr id="7" name="Picture Placeholder 2">
            <a:extLst>
              <a:ext uri="{FF2B5EF4-FFF2-40B4-BE49-F238E27FC236}">
                <a16:creationId xmlns:a16="http://schemas.microsoft.com/office/drawing/2014/main" id="{2010605F-9C71-1B4B-9F2C-E13E15125336}"/>
              </a:ext>
            </a:extLst>
          </p:cNvPr>
          <p:cNvSpPr>
            <a:spLocks noGrp="1"/>
          </p:cNvSpPr>
          <p:nvPr>
            <p:ph type="pic" sz="quarter" idx="13"/>
          </p:nvPr>
        </p:nvSpPr>
        <p:spPr>
          <a:xfrm>
            <a:off x="18027949" y="2228433"/>
            <a:ext cx="3114144" cy="3114144"/>
          </a:xfrm>
          <a:prstGeom prst="ellipse">
            <a:avLst/>
          </a:prstGeom>
          <a:blipFill>
            <a:blip r:embed="rId2"/>
            <a:srcRect/>
            <a:stretch>
              <a:fillRect/>
            </a:stretch>
          </a:blipFill>
        </p:spPr>
        <p:txBody>
          <a:bodyPr/>
          <a:lstStyle>
            <a:lvl1pPr>
              <a:defRPr sz="3000" b="0" i="0">
                <a:latin typeface="Calibri Regular"/>
              </a:defRPr>
            </a:lvl1pPr>
          </a:lstStyle>
          <a:p>
            <a:r>
              <a:rPr lang="en-US"/>
              <a:t>Click icon to add picture</a:t>
            </a:r>
            <a:endParaRPr lang="en-US" dirty="0"/>
          </a:p>
        </p:txBody>
      </p:sp>
      <p:sp>
        <p:nvSpPr>
          <p:cNvPr id="8" name="Picture Placeholder 2">
            <a:extLst>
              <a:ext uri="{FF2B5EF4-FFF2-40B4-BE49-F238E27FC236}">
                <a16:creationId xmlns:a16="http://schemas.microsoft.com/office/drawing/2014/main" id="{0B865115-67AD-4646-B542-2DA27C5AD5AC}"/>
              </a:ext>
            </a:extLst>
          </p:cNvPr>
          <p:cNvSpPr>
            <a:spLocks noGrp="1"/>
          </p:cNvSpPr>
          <p:nvPr>
            <p:ph type="pic" sz="quarter" idx="14"/>
          </p:nvPr>
        </p:nvSpPr>
        <p:spPr>
          <a:xfrm>
            <a:off x="3164085" y="2228433"/>
            <a:ext cx="3114144" cy="3114144"/>
          </a:xfrm>
          <a:prstGeom prst="ellipse">
            <a:avLst/>
          </a:prstGeom>
          <a:blipFill>
            <a:blip r:embed="rId2"/>
            <a:srcRect/>
            <a:stretch>
              <a:fillRect/>
            </a:stretch>
          </a:blipFill>
        </p:spPr>
        <p:txBody>
          <a:bodyPr/>
          <a:lstStyle>
            <a:lvl1pPr>
              <a:defRPr sz="3000" b="0" i="0">
                <a:latin typeface="Calibri Regular"/>
              </a:defRPr>
            </a:lvl1pPr>
          </a:lstStyle>
          <a:p>
            <a:r>
              <a:rPr lang="en-US"/>
              <a:t>Click icon to add picture</a:t>
            </a:r>
            <a:endParaRPr lang="en-US" dirty="0"/>
          </a:p>
        </p:txBody>
      </p:sp>
      <p:sp>
        <p:nvSpPr>
          <p:cNvPr id="1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115767224"/>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Mockup sample 1">
    <p:spTree>
      <p:nvGrpSpPr>
        <p:cNvPr id="1" name=""/>
        <p:cNvGrpSpPr/>
        <p:nvPr/>
      </p:nvGrpSpPr>
      <p:grpSpPr>
        <a:xfrm>
          <a:off x="0" y="0"/>
          <a:ext cx="0" cy="0"/>
          <a:chOff x="0" y="0"/>
          <a:chExt cx="0" cy="0"/>
        </a:xfrm>
      </p:grpSpPr>
      <p:sp>
        <p:nvSpPr>
          <p:cNvPr id="8" name="Picture Placeholder 2">
            <a:extLst>
              <a:ext uri="{FF2B5EF4-FFF2-40B4-BE49-F238E27FC236}">
                <a16:creationId xmlns:a16="http://schemas.microsoft.com/office/drawing/2014/main" id="{0B865115-67AD-4646-B542-2DA27C5AD5AC}"/>
              </a:ext>
            </a:extLst>
          </p:cNvPr>
          <p:cNvSpPr>
            <a:spLocks noGrp="1"/>
          </p:cNvSpPr>
          <p:nvPr>
            <p:ph type="pic" sz="quarter" idx="14"/>
          </p:nvPr>
        </p:nvSpPr>
        <p:spPr>
          <a:xfrm>
            <a:off x="2216157" y="2589957"/>
            <a:ext cx="4945386" cy="9196302"/>
          </a:xfrm>
          <a:prstGeom prst="roundRect">
            <a:avLst>
              <a:gd name="adj" fmla="val 5306"/>
            </a:avLst>
          </a:prstGeom>
          <a:blipFill>
            <a:blip r:embed="rId2"/>
            <a:srcRect/>
            <a:stretch>
              <a:fillRect l="-42978" r="-42978"/>
            </a:stretch>
          </a:blipFill>
        </p:spPr>
        <p:txBody>
          <a:bodyPr/>
          <a:lstStyle>
            <a:lvl1pPr>
              <a:defRPr sz="3000" b="0" i="0">
                <a:latin typeface="Calibri Regular"/>
              </a:defRPr>
            </a:lvl1pPr>
          </a:lstStyle>
          <a:p>
            <a:r>
              <a:rPr lang="en-US"/>
              <a:t>Click icon to add picture</a:t>
            </a:r>
            <a:endParaRPr lang="en-US" dirty="0"/>
          </a:p>
        </p:txBody>
      </p:sp>
      <p:sp>
        <p:nvSpPr>
          <p:cNvPr id="12" name="Picture Placeholder 2">
            <a:extLst>
              <a:ext uri="{FF2B5EF4-FFF2-40B4-BE49-F238E27FC236}">
                <a16:creationId xmlns:a16="http://schemas.microsoft.com/office/drawing/2014/main" id="{7CA460A7-951E-4D46-A933-530685EAD1F5}"/>
              </a:ext>
            </a:extLst>
          </p:cNvPr>
          <p:cNvSpPr>
            <a:spLocks noGrp="1"/>
          </p:cNvSpPr>
          <p:nvPr>
            <p:ph type="pic" sz="quarter" idx="15"/>
          </p:nvPr>
        </p:nvSpPr>
        <p:spPr>
          <a:xfrm>
            <a:off x="7275304" y="2809130"/>
            <a:ext cx="4026634" cy="8844344"/>
          </a:xfrm>
          <a:prstGeom prst="roundRect">
            <a:avLst>
              <a:gd name="adj" fmla="val 14486"/>
            </a:avLst>
          </a:prstGeom>
          <a:blipFill>
            <a:blip r:embed="rId2"/>
            <a:srcRect/>
            <a:stretch>
              <a:fillRect l="-59823" r="-59823"/>
            </a:stretch>
          </a:blipFill>
        </p:spPr>
        <p:txBody>
          <a:bodyPr/>
          <a:lstStyle>
            <a:lvl1pPr>
              <a:defRPr sz="3000" b="0" i="0">
                <a:latin typeface="Calibri Regular"/>
              </a:defRPr>
            </a:lvl1pPr>
          </a:lstStyle>
          <a:p>
            <a:r>
              <a:rPr lang="en-US"/>
              <a:t>Click icon to add picture</a:t>
            </a:r>
            <a:endParaRPr lang="en-US" dirty="0"/>
          </a:p>
        </p:txBody>
      </p:sp>
      <p:sp>
        <p:nvSpPr>
          <p:cNvPr id="1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790911843"/>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Mockup sample 2">
    <p:spTree>
      <p:nvGrpSpPr>
        <p:cNvPr id="1" name=""/>
        <p:cNvGrpSpPr/>
        <p:nvPr/>
      </p:nvGrpSpPr>
      <p:grpSpPr>
        <a:xfrm>
          <a:off x="0" y="0"/>
          <a:ext cx="0" cy="0"/>
          <a:chOff x="0" y="0"/>
          <a:chExt cx="0" cy="0"/>
        </a:xfrm>
      </p:grpSpPr>
      <p:sp>
        <p:nvSpPr>
          <p:cNvPr id="10" name="Picture Placeholder 2">
            <a:extLst>
              <a:ext uri="{FF2B5EF4-FFF2-40B4-BE49-F238E27FC236}">
                <a16:creationId xmlns:a16="http://schemas.microsoft.com/office/drawing/2014/main" id="{97308388-AF19-1C4C-B21C-E1D510072F44}"/>
              </a:ext>
            </a:extLst>
          </p:cNvPr>
          <p:cNvSpPr>
            <a:spLocks noGrp="1"/>
          </p:cNvSpPr>
          <p:nvPr>
            <p:ph type="pic" sz="quarter" idx="10"/>
          </p:nvPr>
        </p:nvSpPr>
        <p:spPr>
          <a:xfrm>
            <a:off x="11891363" y="3818903"/>
            <a:ext cx="10299134" cy="6819900"/>
          </a:xfrm>
          <a:prstGeom prst="rect">
            <a:avLst/>
          </a:prstGeom>
          <a:blipFill>
            <a:blip r:embed="rId2"/>
            <a:srcRect/>
            <a:stretch>
              <a:fillRect t="-25508" b="-25508"/>
            </a:stretch>
          </a:blipFill>
        </p:spPr>
        <p:txBody>
          <a:bodyPr/>
          <a:lstStyle>
            <a:lvl1pPr>
              <a:defRPr sz="3000" b="0" i="0">
                <a:latin typeface="Calibri Regular"/>
              </a:defRPr>
            </a:lvl1pPr>
          </a:lstStyle>
          <a:p>
            <a:r>
              <a:rPr lang="en-US"/>
              <a:t>Click icon to add picture</a:t>
            </a:r>
            <a:endParaRPr lang="en-US" dirty="0"/>
          </a:p>
        </p:txBody>
      </p:sp>
      <p:sp>
        <p:nvSpPr>
          <p:cNvPr id="1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466640272"/>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Number"/>
          <p:cNvSpPr txBox="1">
            <a:spLocks noGrp="1"/>
          </p:cNvSpPr>
          <p:nvPr>
            <p:ph type="sldNum" sz="quarter" idx="2"/>
          </p:nvPr>
        </p:nvSpPr>
        <p:spPr>
          <a:xfrm>
            <a:off x="23538693" y="359410"/>
            <a:ext cx="649217" cy="656590"/>
          </a:xfrm>
          <a:prstGeom prst="rect">
            <a:avLst/>
          </a:prstGeom>
          <a:ln w="12700">
            <a:miter lim="400000"/>
          </a:ln>
        </p:spPr>
        <p:txBody>
          <a:bodyPr wrap="none" lIns="50800" tIns="50800" rIns="50800" bIns="50800" anchor="b">
            <a:spAutoFit/>
          </a:bodyPr>
          <a:lstStyle>
            <a:lvl1pPr>
              <a:defRPr sz="3600" b="1" i="0">
                <a:solidFill>
                  <a:srgbClr val="FFFFFF"/>
                </a:solidFill>
                <a:latin typeface="Calibri Bold"/>
                <a:ea typeface="Calibri Bold"/>
                <a:cs typeface="Calibri Bold"/>
                <a:sym typeface="Montserrat Bold"/>
              </a:defRPr>
            </a:lvl1pPr>
          </a:lstStyle>
          <a:p>
            <a:fld id="{86CB4B4D-7CA3-9044-876B-883B54F8677D}" type="slidenum">
              <a:rPr lang="en-US" smtClean="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ransition spd="med"/>
  <p:txStyles>
    <p:titleStyle>
      <a:lvl1pPr marL="0" marR="0" indent="0" algn="ctr" defTabSz="825500" eaLnBrk="1" latinLnBrk="0" hangingPunct="1">
        <a:lnSpc>
          <a:spcPct val="100000"/>
        </a:lnSpc>
        <a:spcBef>
          <a:spcPts val="0"/>
        </a:spcBef>
        <a:spcAft>
          <a:spcPts val="0"/>
        </a:spcAft>
        <a:buClrTx/>
        <a:buSzTx/>
        <a:buFontTx/>
        <a:buNone/>
        <a:tabLst/>
        <a:defRPr sz="11600" b="0" i="0" u="none" strike="noStrike" cap="none" spc="0" baseline="0">
          <a:ln>
            <a:noFill/>
          </a:ln>
          <a:solidFill>
            <a:srgbClr val="000000"/>
          </a:solidFill>
          <a:uFillTx/>
          <a:latin typeface="Arial Regular" charset="0"/>
          <a:ea typeface="Arial Regular" charset="0"/>
          <a:cs typeface="Arial Regular" charset="0"/>
          <a:sym typeface="Helvetica Neue UltraLight"/>
        </a:defRPr>
      </a:lvl1pPr>
      <a:lvl2pPr marL="0" marR="0" indent="228600" algn="ctr" defTabSz="825500" eaLnBrk="1" latinLnBrk="0" hangingPunct="1">
        <a:lnSpc>
          <a:spcPct val="100000"/>
        </a:lnSpc>
        <a:spcBef>
          <a:spcPts val="0"/>
        </a:spcBef>
        <a:spcAft>
          <a:spcPts val="0"/>
        </a:spcAft>
        <a:buClrTx/>
        <a:buSzTx/>
        <a:buFontTx/>
        <a:buNone/>
        <a:tabLst/>
        <a:defRPr sz="11600" b="0" i="0" u="none" strike="noStrike" cap="none" spc="0" baseline="0">
          <a:ln>
            <a:noFill/>
          </a:ln>
          <a:solidFill>
            <a:srgbClr val="000000"/>
          </a:solidFill>
          <a:uFillTx/>
          <a:latin typeface="Helvetica Neue UltraLight"/>
          <a:ea typeface="Helvetica Neue UltraLight"/>
          <a:cs typeface="Helvetica Neue UltraLight"/>
          <a:sym typeface="Helvetica Neue UltraLight"/>
        </a:defRPr>
      </a:lvl2pPr>
      <a:lvl3pPr marL="0" marR="0" indent="457200" algn="ctr" defTabSz="825500" eaLnBrk="1" latinLnBrk="0" hangingPunct="1">
        <a:lnSpc>
          <a:spcPct val="100000"/>
        </a:lnSpc>
        <a:spcBef>
          <a:spcPts val="0"/>
        </a:spcBef>
        <a:spcAft>
          <a:spcPts val="0"/>
        </a:spcAft>
        <a:buClrTx/>
        <a:buSzTx/>
        <a:buFontTx/>
        <a:buNone/>
        <a:tabLst/>
        <a:defRPr sz="11600" b="0" i="0" u="none" strike="noStrike" cap="none" spc="0" baseline="0">
          <a:ln>
            <a:noFill/>
          </a:ln>
          <a:solidFill>
            <a:srgbClr val="000000"/>
          </a:solidFill>
          <a:uFillTx/>
          <a:latin typeface="Helvetica Neue UltraLight"/>
          <a:ea typeface="Helvetica Neue UltraLight"/>
          <a:cs typeface="Helvetica Neue UltraLight"/>
          <a:sym typeface="Helvetica Neue UltraLight"/>
        </a:defRPr>
      </a:lvl3pPr>
      <a:lvl4pPr marL="0" marR="0" indent="685800" algn="ctr" defTabSz="825500" eaLnBrk="1" latinLnBrk="0" hangingPunct="1">
        <a:lnSpc>
          <a:spcPct val="100000"/>
        </a:lnSpc>
        <a:spcBef>
          <a:spcPts val="0"/>
        </a:spcBef>
        <a:spcAft>
          <a:spcPts val="0"/>
        </a:spcAft>
        <a:buClrTx/>
        <a:buSzTx/>
        <a:buFontTx/>
        <a:buNone/>
        <a:tabLst/>
        <a:defRPr sz="11600" b="0" i="0" u="none" strike="noStrike" cap="none" spc="0" baseline="0">
          <a:ln>
            <a:noFill/>
          </a:ln>
          <a:solidFill>
            <a:srgbClr val="000000"/>
          </a:solidFill>
          <a:uFillTx/>
          <a:latin typeface="Helvetica Neue UltraLight"/>
          <a:ea typeface="Helvetica Neue UltraLight"/>
          <a:cs typeface="Helvetica Neue UltraLight"/>
          <a:sym typeface="Helvetica Neue UltraLight"/>
        </a:defRPr>
      </a:lvl4pPr>
      <a:lvl5pPr marL="0" marR="0" indent="914400" algn="ctr" defTabSz="825500" eaLnBrk="1" latinLnBrk="0" hangingPunct="1">
        <a:lnSpc>
          <a:spcPct val="100000"/>
        </a:lnSpc>
        <a:spcBef>
          <a:spcPts val="0"/>
        </a:spcBef>
        <a:spcAft>
          <a:spcPts val="0"/>
        </a:spcAft>
        <a:buClrTx/>
        <a:buSzTx/>
        <a:buFontTx/>
        <a:buNone/>
        <a:tabLst/>
        <a:defRPr sz="11600" b="0" i="0" u="none" strike="noStrike" cap="none" spc="0" baseline="0">
          <a:ln>
            <a:noFill/>
          </a:ln>
          <a:solidFill>
            <a:srgbClr val="000000"/>
          </a:solidFill>
          <a:uFillTx/>
          <a:latin typeface="Helvetica Neue UltraLight"/>
          <a:ea typeface="Helvetica Neue UltraLight"/>
          <a:cs typeface="Helvetica Neue UltraLight"/>
          <a:sym typeface="Helvetica Neue UltraLight"/>
        </a:defRPr>
      </a:lvl5pPr>
      <a:lvl6pPr marL="0" marR="0" indent="1143000" algn="ctr" defTabSz="825500" eaLnBrk="1" latinLnBrk="0" hangingPunct="1">
        <a:lnSpc>
          <a:spcPct val="100000"/>
        </a:lnSpc>
        <a:spcBef>
          <a:spcPts val="0"/>
        </a:spcBef>
        <a:spcAft>
          <a:spcPts val="0"/>
        </a:spcAft>
        <a:buClrTx/>
        <a:buSzTx/>
        <a:buFontTx/>
        <a:buNone/>
        <a:tabLst/>
        <a:defRPr sz="11600" b="0" i="0" u="none" strike="noStrike" cap="none" spc="0" baseline="0">
          <a:ln>
            <a:noFill/>
          </a:ln>
          <a:solidFill>
            <a:srgbClr val="000000"/>
          </a:solidFill>
          <a:uFillTx/>
          <a:latin typeface="Helvetica Neue UltraLight"/>
          <a:ea typeface="Helvetica Neue UltraLight"/>
          <a:cs typeface="Helvetica Neue UltraLight"/>
          <a:sym typeface="Helvetica Neue UltraLight"/>
        </a:defRPr>
      </a:lvl6pPr>
      <a:lvl7pPr marL="0" marR="0" indent="1371600" algn="ctr" defTabSz="825500" eaLnBrk="1" latinLnBrk="0" hangingPunct="1">
        <a:lnSpc>
          <a:spcPct val="100000"/>
        </a:lnSpc>
        <a:spcBef>
          <a:spcPts val="0"/>
        </a:spcBef>
        <a:spcAft>
          <a:spcPts val="0"/>
        </a:spcAft>
        <a:buClrTx/>
        <a:buSzTx/>
        <a:buFontTx/>
        <a:buNone/>
        <a:tabLst/>
        <a:defRPr sz="11600" b="0" i="0" u="none" strike="noStrike" cap="none" spc="0" baseline="0">
          <a:ln>
            <a:noFill/>
          </a:ln>
          <a:solidFill>
            <a:srgbClr val="000000"/>
          </a:solidFill>
          <a:uFillTx/>
          <a:latin typeface="Helvetica Neue UltraLight"/>
          <a:ea typeface="Helvetica Neue UltraLight"/>
          <a:cs typeface="Helvetica Neue UltraLight"/>
          <a:sym typeface="Helvetica Neue UltraLight"/>
        </a:defRPr>
      </a:lvl7pPr>
      <a:lvl8pPr marL="0" marR="0" indent="1600200" algn="ctr" defTabSz="825500" eaLnBrk="1" latinLnBrk="0" hangingPunct="1">
        <a:lnSpc>
          <a:spcPct val="100000"/>
        </a:lnSpc>
        <a:spcBef>
          <a:spcPts val="0"/>
        </a:spcBef>
        <a:spcAft>
          <a:spcPts val="0"/>
        </a:spcAft>
        <a:buClrTx/>
        <a:buSzTx/>
        <a:buFontTx/>
        <a:buNone/>
        <a:tabLst/>
        <a:defRPr sz="11600" b="0" i="0" u="none" strike="noStrike" cap="none" spc="0" baseline="0">
          <a:ln>
            <a:noFill/>
          </a:ln>
          <a:solidFill>
            <a:srgbClr val="000000"/>
          </a:solidFill>
          <a:uFillTx/>
          <a:latin typeface="Helvetica Neue UltraLight"/>
          <a:ea typeface="Helvetica Neue UltraLight"/>
          <a:cs typeface="Helvetica Neue UltraLight"/>
          <a:sym typeface="Helvetica Neue UltraLight"/>
        </a:defRPr>
      </a:lvl8pPr>
      <a:lvl9pPr marL="0" marR="0" indent="1828800" algn="ctr" defTabSz="825500" eaLnBrk="1" latinLnBrk="0" hangingPunct="1">
        <a:lnSpc>
          <a:spcPct val="100000"/>
        </a:lnSpc>
        <a:spcBef>
          <a:spcPts val="0"/>
        </a:spcBef>
        <a:spcAft>
          <a:spcPts val="0"/>
        </a:spcAft>
        <a:buClrTx/>
        <a:buSzTx/>
        <a:buFontTx/>
        <a:buNone/>
        <a:tabLst/>
        <a:defRPr sz="11600" b="0" i="0" u="none" strike="noStrike" cap="none" spc="0" baseline="0">
          <a:ln>
            <a:noFill/>
          </a:ln>
          <a:solidFill>
            <a:srgbClr val="000000"/>
          </a:solidFill>
          <a:uFillTx/>
          <a:latin typeface="Helvetica Neue UltraLight"/>
          <a:ea typeface="Helvetica Neue UltraLight"/>
          <a:cs typeface="Helvetica Neue UltraLight"/>
          <a:sym typeface="Helvetica Neue UltraLight"/>
        </a:defRPr>
      </a:lvl9pPr>
    </p:titleStyle>
    <p:bodyStyle>
      <a:lvl1pPr marL="0" marR="0" indent="0" algn="ctr" defTabSz="825500" eaLnBrk="1" latinLnBrk="0" hangingPunct="1">
        <a:lnSpc>
          <a:spcPct val="100000"/>
        </a:lnSpc>
        <a:spcBef>
          <a:spcPts val="0"/>
        </a:spcBef>
        <a:spcAft>
          <a:spcPts val="0"/>
        </a:spcAft>
        <a:buClrTx/>
        <a:buSzTx/>
        <a:buFontTx/>
        <a:buNone/>
        <a:tabLst/>
        <a:defRPr sz="4800" b="0" i="0" u="none" strike="noStrike" cap="none" spc="0" baseline="0">
          <a:ln>
            <a:noFill/>
          </a:ln>
          <a:solidFill>
            <a:srgbClr val="000000"/>
          </a:solidFill>
          <a:uFillTx/>
          <a:latin typeface="Arial Regular" charset="0"/>
          <a:ea typeface="Arial Regular" charset="0"/>
          <a:cs typeface="Arial Regular" charset="0"/>
          <a:sym typeface="Helvetica Neue UltraLight"/>
        </a:defRPr>
      </a:lvl1pPr>
      <a:lvl2pPr marL="0" marR="0" indent="0" algn="ctr" defTabSz="825500" eaLnBrk="1" latinLnBrk="0" hangingPunct="1">
        <a:lnSpc>
          <a:spcPct val="100000"/>
        </a:lnSpc>
        <a:spcBef>
          <a:spcPts val="0"/>
        </a:spcBef>
        <a:spcAft>
          <a:spcPts val="0"/>
        </a:spcAft>
        <a:buClrTx/>
        <a:buSzTx/>
        <a:buFontTx/>
        <a:buNone/>
        <a:tabLst/>
        <a:defRPr sz="4800" b="0" i="0" u="none" strike="noStrike" cap="none" spc="0" baseline="0">
          <a:ln>
            <a:noFill/>
          </a:ln>
          <a:solidFill>
            <a:srgbClr val="000000"/>
          </a:solidFill>
          <a:uFillTx/>
          <a:latin typeface="Arial Regular" charset="0"/>
          <a:ea typeface="Arial Regular" charset="0"/>
          <a:cs typeface="Arial Regular" charset="0"/>
          <a:sym typeface="Helvetica Neue UltraLight"/>
        </a:defRPr>
      </a:lvl2pPr>
      <a:lvl3pPr marL="0" marR="0" indent="0" algn="ctr" defTabSz="825500" eaLnBrk="1" latinLnBrk="0" hangingPunct="1">
        <a:lnSpc>
          <a:spcPct val="100000"/>
        </a:lnSpc>
        <a:spcBef>
          <a:spcPts val="0"/>
        </a:spcBef>
        <a:spcAft>
          <a:spcPts val="0"/>
        </a:spcAft>
        <a:buClrTx/>
        <a:buSzTx/>
        <a:buFontTx/>
        <a:buNone/>
        <a:tabLst/>
        <a:defRPr sz="4800" b="0" i="0" u="none" strike="noStrike" cap="none" spc="0" baseline="0">
          <a:ln>
            <a:noFill/>
          </a:ln>
          <a:solidFill>
            <a:srgbClr val="000000"/>
          </a:solidFill>
          <a:uFillTx/>
          <a:latin typeface="Arial Regular" charset="0"/>
          <a:ea typeface="Arial Regular" charset="0"/>
          <a:cs typeface="Arial Regular" charset="0"/>
          <a:sym typeface="Helvetica Neue UltraLight"/>
        </a:defRPr>
      </a:lvl3pPr>
      <a:lvl4pPr marL="0" marR="0" indent="0" algn="ctr" defTabSz="825500" eaLnBrk="1" latinLnBrk="0" hangingPunct="1">
        <a:lnSpc>
          <a:spcPct val="100000"/>
        </a:lnSpc>
        <a:spcBef>
          <a:spcPts val="0"/>
        </a:spcBef>
        <a:spcAft>
          <a:spcPts val="0"/>
        </a:spcAft>
        <a:buClrTx/>
        <a:buSzTx/>
        <a:buFontTx/>
        <a:buNone/>
        <a:tabLst/>
        <a:defRPr sz="4800" b="0" i="0" u="none" strike="noStrike" cap="none" spc="0" baseline="0">
          <a:ln>
            <a:noFill/>
          </a:ln>
          <a:solidFill>
            <a:srgbClr val="000000"/>
          </a:solidFill>
          <a:uFillTx/>
          <a:latin typeface="Arial Regular" charset="0"/>
          <a:ea typeface="Arial Regular" charset="0"/>
          <a:cs typeface="Arial Regular" charset="0"/>
          <a:sym typeface="Helvetica Neue UltraLight"/>
        </a:defRPr>
      </a:lvl4pPr>
      <a:lvl5pPr marL="0" marR="0" indent="0" algn="ctr" defTabSz="825500" eaLnBrk="1" latinLnBrk="0" hangingPunct="1">
        <a:lnSpc>
          <a:spcPct val="100000"/>
        </a:lnSpc>
        <a:spcBef>
          <a:spcPts val="0"/>
        </a:spcBef>
        <a:spcAft>
          <a:spcPts val="0"/>
        </a:spcAft>
        <a:buClrTx/>
        <a:buSzTx/>
        <a:buFontTx/>
        <a:buNone/>
        <a:tabLst/>
        <a:defRPr sz="4800" b="0" i="0" u="none" strike="noStrike" cap="none" spc="0" baseline="0">
          <a:ln>
            <a:noFill/>
          </a:ln>
          <a:solidFill>
            <a:srgbClr val="000000"/>
          </a:solidFill>
          <a:uFillTx/>
          <a:latin typeface="Arial Regular" charset="0"/>
          <a:ea typeface="Arial Regular" charset="0"/>
          <a:cs typeface="Arial Regular" charset="0"/>
          <a:sym typeface="Helvetica Neue UltraLight"/>
        </a:defRPr>
      </a:lvl5pPr>
      <a:lvl6pPr marL="0" marR="0" indent="355600" algn="ctr" defTabSz="825500" eaLnBrk="1" latinLnBrk="0" hangingPunct="1">
        <a:lnSpc>
          <a:spcPct val="100000"/>
        </a:lnSpc>
        <a:spcBef>
          <a:spcPts val="0"/>
        </a:spcBef>
        <a:spcAft>
          <a:spcPts val="0"/>
        </a:spcAft>
        <a:buClrTx/>
        <a:buSzTx/>
        <a:buFontTx/>
        <a:buNone/>
        <a:tabLst/>
        <a:defRPr sz="4800" b="0" i="0" u="none" strike="noStrike" cap="none" spc="0" baseline="0">
          <a:ln>
            <a:noFill/>
          </a:ln>
          <a:solidFill>
            <a:srgbClr val="000000"/>
          </a:solidFill>
          <a:uFillTx/>
          <a:latin typeface="Helvetica Neue UltraLight"/>
          <a:ea typeface="Helvetica Neue UltraLight"/>
          <a:cs typeface="Helvetica Neue UltraLight"/>
          <a:sym typeface="Helvetica Neue UltraLight"/>
        </a:defRPr>
      </a:lvl6pPr>
      <a:lvl7pPr marL="0" marR="0" indent="711200" algn="ctr" defTabSz="825500" eaLnBrk="1" latinLnBrk="0" hangingPunct="1">
        <a:lnSpc>
          <a:spcPct val="100000"/>
        </a:lnSpc>
        <a:spcBef>
          <a:spcPts val="0"/>
        </a:spcBef>
        <a:spcAft>
          <a:spcPts val="0"/>
        </a:spcAft>
        <a:buClrTx/>
        <a:buSzTx/>
        <a:buFontTx/>
        <a:buNone/>
        <a:tabLst/>
        <a:defRPr sz="4800" b="0" i="0" u="none" strike="noStrike" cap="none" spc="0" baseline="0">
          <a:ln>
            <a:noFill/>
          </a:ln>
          <a:solidFill>
            <a:srgbClr val="000000"/>
          </a:solidFill>
          <a:uFillTx/>
          <a:latin typeface="Helvetica Neue UltraLight"/>
          <a:ea typeface="Helvetica Neue UltraLight"/>
          <a:cs typeface="Helvetica Neue UltraLight"/>
          <a:sym typeface="Helvetica Neue UltraLight"/>
        </a:defRPr>
      </a:lvl7pPr>
      <a:lvl8pPr marL="0" marR="0" indent="1066800" algn="ctr" defTabSz="825500" eaLnBrk="1" latinLnBrk="0" hangingPunct="1">
        <a:lnSpc>
          <a:spcPct val="100000"/>
        </a:lnSpc>
        <a:spcBef>
          <a:spcPts val="0"/>
        </a:spcBef>
        <a:spcAft>
          <a:spcPts val="0"/>
        </a:spcAft>
        <a:buClrTx/>
        <a:buSzTx/>
        <a:buFontTx/>
        <a:buNone/>
        <a:tabLst/>
        <a:defRPr sz="4800" b="0" i="0" u="none" strike="noStrike" cap="none" spc="0" baseline="0">
          <a:ln>
            <a:noFill/>
          </a:ln>
          <a:solidFill>
            <a:srgbClr val="000000"/>
          </a:solidFill>
          <a:uFillTx/>
          <a:latin typeface="Helvetica Neue UltraLight"/>
          <a:ea typeface="Helvetica Neue UltraLight"/>
          <a:cs typeface="Helvetica Neue UltraLight"/>
          <a:sym typeface="Helvetica Neue UltraLight"/>
        </a:defRPr>
      </a:lvl8pPr>
      <a:lvl9pPr marL="0" marR="0" indent="1422400" algn="ctr" defTabSz="825500" eaLnBrk="1" latinLnBrk="0" hangingPunct="1">
        <a:lnSpc>
          <a:spcPct val="100000"/>
        </a:lnSpc>
        <a:spcBef>
          <a:spcPts val="0"/>
        </a:spcBef>
        <a:spcAft>
          <a:spcPts val="0"/>
        </a:spcAft>
        <a:buClrTx/>
        <a:buSzTx/>
        <a:buFontTx/>
        <a:buNone/>
        <a:tabLst/>
        <a:defRPr sz="4800" b="0" i="0" u="none" strike="noStrike" cap="none" spc="0" baseline="0">
          <a:ln>
            <a:noFill/>
          </a:ln>
          <a:solidFill>
            <a:srgbClr val="000000"/>
          </a:solidFill>
          <a:uFillTx/>
          <a:latin typeface="Helvetica Neue UltraLight"/>
          <a:ea typeface="Helvetica Neue UltraLight"/>
          <a:cs typeface="Helvetica Neue UltraLight"/>
          <a:sym typeface="Helvetica Neue UltraLight"/>
        </a:defRPr>
      </a:lvl9pPr>
    </p:bodyStyle>
    <p:otherStyle>
      <a:lvl1pPr marL="0" marR="0" indent="0" algn="ctr" defTabSz="825500" eaLnBrk="1" latinLnBrk="0" hangingPunct="1">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Montserrat Bold"/>
        </a:defRPr>
      </a:lvl1pPr>
      <a:lvl2pPr marL="0" marR="0" indent="228600" algn="ctr" defTabSz="825500" eaLnBrk="1" latinLnBrk="0" hangingPunct="1">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Montserrat Bold"/>
        </a:defRPr>
      </a:lvl2pPr>
      <a:lvl3pPr marL="0" marR="0" indent="457200" algn="ctr" defTabSz="825500" eaLnBrk="1" latinLnBrk="0" hangingPunct="1">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Montserrat Bold"/>
        </a:defRPr>
      </a:lvl3pPr>
      <a:lvl4pPr marL="0" marR="0" indent="685800" algn="ctr" defTabSz="825500" eaLnBrk="1" latinLnBrk="0" hangingPunct="1">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Montserrat Bold"/>
        </a:defRPr>
      </a:lvl4pPr>
      <a:lvl5pPr marL="0" marR="0" indent="914400" algn="ctr" defTabSz="825500" eaLnBrk="1" latinLnBrk="0" hangingPunct="1">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Montserrat Bold"/>
        </a:defRPr>
      </a:lvl5pPr>
      <a:lvl6pPr marL="0" marR="0" indent="1143000" algn="ctr" defTabSz="825500" eaLnBrk="1" latinLnBrk="0" hangingPunct="1">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Montserrat Bold"/>
        </a:defRPr>
      </a:lvl6pPr>
      <a:lvl7pPr marL="0" marR="0" indent="1371600" algn="ctr" defTabSz="825500" eaLnBrk="1" latinLnBrk="0" hangingPunct="1">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Montserrat Bold"/>
        </a:defRPr>
      </a:lvl7pPr>
      <a:lvl8pPr marL="0" marR="0" indent="1600200" algn="ctr" defTabSz="825500" eaLnBrk="1" latinLnBrk="0" hangingPunct="1">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Montserrat Bold"/>
        </a:defRPr>
      </a:lvl8pPr>
      <a:lvl9pPr marL="0" marR="0" indent="1828800" algn="ctr" defTabSz="825500" eaLnBrk="1" latinLnBrk="0" hangingPunct="1">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Montserrat Bold"/>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4.xml"/><Relationship Id="rId4" Type="http://schemas.openxmlformats.org/officeDocument/2006/relationships/hyperlink" Target="http://www.vmware.com/" TargetMode="Externa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5.xml"/><Relationship Id="rId6" Type="http://schemas.openxmlformats.org/officeDocument/2006/relationships/image" Target="../media/image3.png"/><Relationship Id="rId5" Type="http://schemas.openxmlformats.org/officeDocument/2006/relationships/hyperlink" Target="https://www.offensive-security.com/" TargetMode="External"/><Relationship Id="rId4" Type="http://schemas.openxmlformats.org/officeDocument/2006/relationships/hyperlink" Target="https://www.kali.org/" TargetMode="Externa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7.xml"/><Relationship Id="rId5" Type="http://schemas.microsoft.com/office/2007/relationships/hdphoto" Target="../media/hdphoto1.wdp"/><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notesSlide" Target="../notesSlides/notesSlide6.xml"/><Relationship Id="rId7" Type="http://schemas.openxmlformats.org/officeDocument/2006/relationships/hyperlink" Target="http://overthewire.org/wargames/bandit/" TargetMode="External"/><Relationship Id="rId2" Type="http://schemas.openxmlformats.org/officeDocument/2006/relationships/slideLayout" Target="../slideLayouts/slideLayout1.xml"/><Relationship Id="rId1" Type="http://schemas.openxmlformats.org/officeDocument/2006/relationships/tags" Target="../tags/tag8.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hyperlink" Target="http://linuxcommand.org/" TargetMode="Externa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7" Type="http://schemas.openxmlformats.org/officeDocument/2006/relationships/image" Target="../media/image6.svg"/><Relationship Id="rId2" Type="http://schemas.openxmlformats.org/officeDocument/2006/relationships/slideLayout" Target="../slideLayouts/slideLayout1.xml"/><Relationship Id="rId1" Type="http://schemas.openxmlformats.org/officeDocument/2006/relationships/tags" Target="../tags/tag9.xml"/><Relationship Id="rId6" Type="http://schemas.openxmlformats.org/officeDocument/2006/relationships/image" Target="../media/image5.png"/><Relationship Id="rId5" Type="http://schemas.openxmlformats.org/officeDocument/2006/relationships/hyperlink" Target="https://ndg.cise.ufl.edu/" TargetMode="External"/><Relationship Id="rId4" Type="http://schemas.openxmlformats.org/officeDocument/2006/relationships/hyperlink" Target="https://www.netdevgroup.com/support/documentation/netlabve/netlabve_student_guide.pdf" TargetMode="Externa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10.xml"/><Relationship Id="rId4" Type="http://schemas.openxmlformats.org/officeDocument/2006/relationships/image" Target="../media/image8.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ags" Target="../tags/tag11.xml"/><Relationship Id="rId4" Type="http://schemas.openxmlformats.org/officeDocument/2006/relationships/hyperlink" Target="http://pr0b3.com/" TargetMode="Externa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12.xml"/><Relationship Id="rId5" Type="http://schemas.openxmlformats.org/officeDocument/2006/relationships/image" Target="../media/image10.sv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tags" Target="../tags/tag13.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hyperlink" Target="http://overthewire.org/wargames/bandit/" TargetMode="External"/><Relationship Id="rId2" Type="http://schemas.openxmlformats.org/officeDocument/2006/relationships/slideLayout" Target="../slideLayouts/slideLayout1.xml"/><Relationship Id="rId1" Type="http://schemas.openxmlformats.org/officeDocument/2006/relationships/tags" Target="../tags/tag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rypto Coin"/>
          <p:cNvSpPr>
            <a:spLocks noGrp="1"/>
          </p:cNvSpPr>
          <p:nvPr>
            <p:ph type="title" idx="4294967295"/>
          </p:nvPr>
        </p:nvSpPr>
        <p:spPr>
          <a:xfrm>
            <a:off x="2755778" y="6435257"/>
            <a:ext cx="18118259" cy="1477328"/>
          </a:xfrm>
          <a:prstGeom prst="rect">
            <a:avLst/>
          </a:prstGeom>
          <a:noFill/>
          <a:ln w="12700">
            <a:noFill/>
            <a:prstDash/>
            <a:miter lim="400000"/>
          </a:ln>
          <a:effectLst/>
          <a:extLst>
            <a:ext uri="{C572A759-6A51-4108-AA02-DFA0A04FC94B}">
              <ma14:wrappingTextBoxFlag xmlns="" xmlns:ma14="http://schemas.microsoft.com/office/mac/drawingml/2011/main" val="1"/>
            </a:ext>
          </a:ex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1155700" rtl="0" eaLnBrk="1" fontAlgn="auto" latinLnBrk="0" hangingPunct="0">
              <a:lnSpc>
                <a:spcPct val="100000"/>
              </a:lnSpc>
              <a:spcBef>
                <a:spcPts val="0"/>
              </a:spcBef>
              <a:spcAft>
                <a:spcPts val="0"/>
              </a:spcAft>
              <a:buClrTx/>
              <a:buSzTx/>
              <a:buFontTx/>
              <a:buNone/>
              <a:tabLst/>
              <a:defRPr sz="7200" cap="all">
                <a:solidFill>
                  <a:srgbClr val="FFFFFF"/>
                </a:solidFill>
                <a:latin typeface="Montserrat ExtraBold"/>
                <a:ea typeface="Montserrat ExtraBold"/>
                <a:cs typeface="Montserrat ExtraBold"/>
                <a:sym typeface="Montserrat ExtraBold"/>
              </a:defRPr>
            </a:pPr>
            <a:r>
              <a:rPr kumimoji="0" lang="en-US" sz="9600" b="0" i="0" u="none" strike="noStrike" kern="0" cap="all" spc="0" normalizeH="0" baseline="0" noProof="0" dirty="0">
                <a:ln>
                  <a:noFill/>
                </a:ln>
                <a:solidFill>
                  <a:schemeClr val="tx2"/>
                </a:solidFill>
                <a:effectLst/>
                <a:uLnTx/>
                <a:uFillTx/>
                <a:latin typeface="Montserrat" panose="02000505000000020004" pitchFamily="2" charset="0"/>
                <a:ea typeface="Montserrat ExtraBold"/>
                <a:cs typeface="Montserrat ExtraBold"/>
                <a:sym typeface="Montserrat ExtraBold"/>
              </a:rPr>
              <a:t>VMS, KALI, LINUX, ETC.</a:t>
            </a:r>
          </a:p>
        </p:txBody>
      </p:sp>
      <p:sp>
        <p:nvSpPr>
          <p:cNvPr id="21" name="Date: 4/16/2017    Created by: Johnson Cooper"/>
          <p:cNvSpPr/>
          <p:nvPr/>
        </p:nvSpPr>
        <p:spPr>
          <a:xfrm>
            <a:off x="2755778" y="5899827"/>
            <a:ext cx="8928100" cy="1231106"/>
          </a:xfrm>
          <a:prstGeom prst="rect">
            <a:avLst/>
          </a:prstGeom>
          <a:ln w="12700"/>
          <a:extLst>
            <a:ext uri="{C572A759-6A51-4108-AA02-DFA0A04FC94B}">
              <ma14:wrappingTextBoxFlag xmlns="" xmlns:ma14="http://schemas.microsoft.com/office/mac/drawingml/2011/main" val="1"/>
            </a:ext>
          </a:extLst>
        </p:spPr>
        <p:txBody>
          <a:bodyPr lIns="0" tIns="0" rIns="0" bIns="0">
            <a:spAutoFit/>
          </a:bodyPr>
          <a:lstStyle/>
          <a:p>
            <a:pPr algn="l" defTabSz="952500">
              <a:buClr>
                <a:srgbClr val="E9F6FA"/>
              </a:buClr>
              <a:buFont typeface="Helvetica Neue UltraLight"/>
              <a:defRPr sz="3000">
                <a:solidFill>
                  <a:srgbClr val="FFFFFF"/>
                </a:solidFill>
                <a:uFill>
                  <a:solidFill>
                    <a:srgbClr val="384F63"/>
                  </a:solidFill>
                </a:uFill>
                <a:latin typeface="Montserrat Medium"/>
                <a:ea typeface="Montserrat Medium"/>
                <a:cs typeface="Montserrat Medium"/>
                <a:sym typeface="Montserrat Medium"/>
              </a:defRPr>
            </a:pPr>
            <a:r>
              <a:rPr lang="en-US" sz="4000" dirty="0">
                <a:solidFill>
                  <a:schemeClr val="tx2"/>
                </a:solidFill>
                <a:latin typeface="Montserrat" panose="02000505000000020004" pitchFamily="2" charset="0"/>
              </a:rPr>
              <a:t>CIS4204: 0x080-VMsKaliLinuxEtc</a:t>
            </a:r>
          </a:p>
          <a:p>
            <a:pPr algn="l" defTabSz="952500">
              <a:buClr>
                <a:srgbClr val="E9F6FA"/>
              </a:buClr>
              <a:buFont typeface="Helvetica Neue UltraLight"/>
              <a:defRPr sz="3000">
                <a:solidFill>
                  <a:srgbClr val="FFFFFF"/>
                </a:solidFill>
                <a:uFill>
                  <a:solidFill>
                    <a:srgbClr val="384F63"/>
                  </a:solidFill>
                </a:uFill>
                <a:latin typeface="Montserrat Medium"/>
                <a:ea typeface="Montserrat Medium"/>
                <a:cs typeface="Montserrat Medium"/>
                <a:sym typeface="Montserrat Medium"/>
              </a:defRPr>
            </a:pPr>
            <a:endParaRPr sz="4000" b="1" dirty="0">
              <a:solidFill>
                <a:schemeClr val="tx2"/>
              </a:solidFill>
              <a:latin typeface="Montserrat" panose="02000505000000020004" pitchFamily="2" charset="0"/>
              <a:ea typeface="Montserrat Bold"/>
              <a:cs typeface="Montserrat Bold"/>
              <a:sym typeface="Montserrat Bold"/>
            </a:endParaRPr>
          </a:p>
        </p:txBody>
      </p:sp>
      <p:sp>
        <p:nvSpPr>
          <p:cNvPr id="22" name="Circle"/>
          <p:cNvSpPr/>
          <p:nvPr/>
        </p:nvSpPr>
        <p:spPr>
          <a:xfrm>
            <a:off x="2155771" y="7395894"/>
            <a:ext cx="214554" cy="214554"/>
          </a:xfrm>
          <a:prstGeom prst="ellipse">
            <a:avLst/>
          </a:prstGeom>
          <a:solidFill>
            <a:schemeClr val="accent2"/>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23" name="Circle"/>
          <p:cNvSpPr/>
          <p:nvPr/>
        </p:nvSpPr>
        <p:spPr>
          <a:xfrm>
            <a:off x="2155771" y="7066645"/>
            <a:ext cx="214554" cy="214553"/>
          </a:xfrm>
          <a:prstGeom prst="ellipse">
            <a:avLst/>
          </a:prstGeom>
          <a:solidFill>
            <a:schemeClr val="accent2"/>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24" name="Circle"/>
          <p:cNvSpPr/>
          <p:nvPr/>
        </p:nvSpPr>
        <p:spPr>
          <a:xfrm>
            <a:off x="2155771" y="6737367"/>
            <a:ext cx="214554" cy="214553"/>
          </a:xfrm>
          <a:prstGeom prst="ellipse">
            <a:avLst/>
          </a:prstGeom>
          <a:solidFill>
            <a:schemeClr val="accent2"/>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25" name="Circle"/>
          <p:cNvSpPr/>
          <p:nvPr/>
        </p:nvSpPr>
        <p:spPr>
          <a:xfrm>
            <a:off x="2155771" y="6408104"/>
            <a:ext cx="214554" cy="214553"/>
          </a:xfrm>
          <a:prstGeom prst="ellipse">
            <a:avLst/>
          </a:prstGeom>
          <a:solidFill>
            <a:schemeClr val="accent2"/>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26" name="Circle"/>
          <p:cNvSpPr/>
          <p:nvPr/>
        </p:nvSpPr>
        <p:spPr>
          <a:xfrm>
            <a:off x="2155771" y="6078841"/>
            <a:ext cx="214554" cy="214553"/>
          </a:xfrm>
          <a:prstGeom prst="ellipse">
            <a:avLst/>
          </a:prstGeom>
          <a:solidFill>
            <a:schemeClr val="accent2"/>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27" name="Circle"/>
          <p:cNvSpPr/>
          <p:nvPr/>
        </p:nvSpPr>
        <p:spPr>
          <a:xfrm>
            <a:off x="1835658" y="7395894"/>
            <a:ext cx="214553" cy="214554"/>
          </a:xfrm>
          <a:prstGeom prst="ellipse">
            <a:avLst/>
          </a:prstGeom>
          <a:solidFill>
            <a:schemeClr val="accent3"/>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28" name="Circle"/>
          <p:cNvSpPr/>
          <p:nvPr/>
        </p:nvSpPr>
        <p:spPr>
          <a:xfrm>
            <a:off x="1835658" y="7066645"/>
            <a:ext cx="214553" cy="214553"/>
          </a:xfrm>
          <a:prstGeom prst="ellipse">
            <a:avLst/>
          </a:prstGeom>
          <a:solidFill>
            <a:schemeClr val="accent3"/>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29" name="Circle"/>
          <p:cNvSpPr/>
          <p:nvPr/>
        </p:nvSpPr>
        <p:spPr>
          <a:xfrm>
            <a:off x="1835658" y="6737367"/>
            <a:ext cx="214553" cy="214553"/>
          </a:xfrm>
          <a:prstGeom prst="ellipse">
            <a:avLst/>
          </a:prstGeom>
          <a:solidFill>
            <a:schemeClr val="accent3"/>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30" name="Circle"/>
          <p:cNvSpPr/>
          <p:nvPr/>
        </p:nvSpPr>
        <p:spPr>
          <a:xfrm>
            <a:off x="1515545" y="7395894"/>
            <a:ext cx="214553" cy="214554"/>
          </a:xfrm>
          <a:prstGeom prst="ellipse">
            <a:avLst/>
          </a:prstGeom>
          <a:solidFill>
            <a:schemeClr val="accent1"/>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31" name="Circle"/>
          <p:cNvSpPr/>
          <p:nvPr/>
        </p:nvSpPr>
        <p:spPr>
          <a:xfrm>
            <a:off x="1515545" y="7066645"/>
            <a:ext cx="214553" cy="214553"/>
          </a:xfrm>
          <a:prstGeom prst="ellipse">
            <a:avLst/>
          </a:prstGeom>
          <a:solidFill>
            <a:schemeClr val="accent1"/>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32" name="Circle"/>
          <p:cNvSpPr/>
          <p:nvPr/>
        </p:nvSpPr>
        <p:spPr>
          <a:xfrm>
            <a:off x="1515545" y="6737367"/>
            <a:ext cx="214553" cy="214553"/>
          </a:xfrm>
          <a:prstGeom prst="ellipse">
            <a:avLst/>
          </a:prstGeom>
          <a:solidFill>
            <a:schemeClr val="accent1"/>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33" name="Circle"/>
          <p:cNvSpPr/>
          <p:nvPr/>
        </p:nvSpPr>
        <p:spPr>
          <a:xfrm>
            <a:off x="1515545" y="6408118"/>
            <a:ext cx="214553" cy="214553"/>
          </a:xfrm>
          <a:prstGeom prst="ellipse">
            <a:avLst/>
          </a:prstGeom>
          <a:solidFill>
            <a:schemeClr val="accent1"/>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34" name="Circle"/>
          <p:cNvSpPr/>
          <p:nvPr/>
        </p:nvSpPr>
        <p:spPr>
          <a:xfrm>
            <a:off x="1194387" y="7395894"/>
            <a:ext cx="214553" cy="214554"/>
          </a:xfrm>
          <a:prstGeom prst="ellipse">
            <a:avLst/>
          </a:prstGeom>
          <a:solidFill>
            <a:schemeClr val="accent4"/>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35" name="Circle"/>
          <p:cNvSpPr/>
          <p:nvPr/>
        </p:nvSpPr>
        <p:spPr>
          <a:xfrm>
            <a:off x="1194387" y="7066645"/>
            <a:ext cx="214553" cy="214553"/>
          </a:xfrm>
          <a:prstGeom prst="ellipse">
            <a:avLst/>
          </a:prstGeom>
          <a:solidFill>
            <a:schemeClr val="accent4"/>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Tree>
    <p:custDataLst>
      <p:tags r:id="rId1"/>
    </p:custData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ur Services">
            <a:extLst>
              <a:ext uri="{FF2B5EF4-FFF2-40B4-BE49-F238E27FC236}">
                <a16:creationId xmlns:a16="http://schemas.microsoft.com/office/drawing/2014/main" id="{07B10035-40A4-4F18-8BCA-D88E3D0D4C5B}"/>
              </a:ext>
            </a:extLst>
          </p:cNvPr>
          <p:cNvSpPr>
            <a:spLocks noGrp="1"/>
          </p:cNvSpPr>
          <p:nvPr>
            <p:ph type="title" idx="4294967295"/>
          </p:nvPr>
        </p:nvSpPr>
        <p:spPr>
          <a:xfrm>
            <a:off x="658368" y="285903"/>
            <a:ext cx="23006304" cy="1292662"/>
          </a:xfrm>
          <a:prstGeom prst="rect">
            <a:avLst/>
          </a:prstGeom>
          <a:noFill/>
          <a:ln w="12700">
            <a:noFill/>
            <a:prstDash/>
            <a:miter lim="400000"/>
          </a:ln>
          <a:effectLst/>
          <a:extLst>
            <a:ext uri="{C572A759-6A51-4108-AA02-DFA0A04FC94B}">
              <ma14:wrappingTextBoxFlag xmlns="" xmlns:ma14="http://schemas.microsoft.com/office/mac/drawingml/2011/main" val="1"/>
            </a:ext>
          </a:ex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spAutoFit/>
          </a:bodyPr>
          <a:lstStyle>
            <a:lvl1pPr defTabSz="1155700">
              <a:lnSpc>
                <a:spcPct val="80000"/>
              </a:lnSpc>
              <a:defRPr sz="7200" cap="all">
                <a:solidFill>
                  <a:srgbClr val="FFFFFF"/>
                </a:solidFill>
                <a:latin typeface="Montserrat Bold"/>
                <a:ea typeface="Montserrat Bold"/>
                <a:cs typeface="Montserrat Bold"/>
                <a:sym typeface="Montserrat Bold"/>
              </a:defRPr>
            </a:lvl1pPr>
          </a:lstStyle>
          <a:p>
            <a:pPr marL="0" marR="0" lvl="0" indent="0" algn="ctr" defTabSz="1155700" rtl="0" eaLnBrk="1" fontAlgn="auto" latinLnBrk="0" hangingPunct="0">
              <a:lnSpc>
                <a:spcPct val="100000"/>
              </a:lnSpc>
              <a:spcBef>
                <a:spcPts val="0"/>
              </a:spcBef>
              <a:spcAft>
                <a:spcPts val="0"/>
              </a:spcAft>
              <a:buClrTx/>
              <a:buSzTx/>
              <a:buFontTx/>
              <a:buNone/>
              <a:tabLst/>
              <a:defRPr/>
            </a:pPr>
            <a:r>
              <a:rPr kumimoji="0" lang="en-US" sz="7200" b="0" i="0" u="none" strike="noStrike" kern="0" cap="all" spc="0" normalizeH="0" baseline="0" noProof="0" dirty="0">
                <a:ln>
                  <a:noFill/>
                </a:ln>
                <a:solidFill>
                  <a:srgbClr val="FFFFFF"/>
                </a:solidFill>
                <a:effectLst/>
                <a:uLnTx/>
                <a:uFillTx/>
                <a:latin typeface="Montserrat Bold"/>
                <a:ea typeface="Montserrat Bold"/>
                <a:cs typeface="Calibri" panose="020F0502020204030204" pitchFamily="34" charset="0"/>
                <a:sym typeface="Montserrat Bold"/>
              </a:rPr>
              <a:t>In this Video You will Discover:</a:t>
            </a:r>
          </a:p>
        </p:txBody>
      </p:sp>
      <p:sp>
        <p:nvSpPr>
          <p:cNvPr id="27" name="Service One">
            <a:extLst>
              <a:ext uri="{FF2B5EF4-FFF2-40B4-BE49-F238E27FC236}">
                <a16:creationId xmlns:a16="http://schemas.microsoft.com/office/drawing/2014/main" id="{CEDC6780-E8F9-41FF-87C8-9638F4220C03}"/>
              </a:ext>
            </a:extLst>
          </p:cNvPr>
          <p:cNvSpPr/>
          <p:nvPr/>
        </p:nvSpPr>
        <p:spPr>
          <a:xfrm>
            <a:off x="1822414" y="6798344"/>
            <a:ext cx="998671" cy="446469"/>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nchor="ctr">
            <a:spAutoFit/>
          </a:bodyPr>
          <a:lstStyle>
            <a:lvl1pPr algn="l" defTabSz="1155700">
              <a:lnSpc>
                <a:spcPct val="80000"/>
              </a:lnSpc>
              <a:defRPr sz="3000">
                <a:solidFill>
                  <a:srgbClr val="FFBF77"/>
                </a:solidFill>
                <a:latin typeface="Montserrat Bold"/>
                <a:ea typeface="Montserrat Bold"/>
                <a:cs typeface="Montserrat Bold"/>
                <a:sym typeface="Montserrat Bold"/>
              </a:defRPr>
            </a:lvl1pPr>
          </a:lstStyle>
          <a:p>
            <a:r>
              <a:rPr lang="en-US" sz="3600" b="1" dirty="0">
                <a:solidFill>
                  <a:schemeClr val="accent4"/>
                </a:solidFill>
              </a:rPr>
              <a:t>VMs</a:t>
            </a:r>
            <a:endParaRPr sz="3600" b="1" dirty="0">
              <a:solidFill>
                <a:schemeClr val="accent4"/>
              </a:solidFill>
            </a:endParaRPr>
          </a:p>
        </p:txBody>
      </p:sp>
      <p:sp>
        <p:nvSpPr>
          <p:cNvPr id="28" name="Service Two">
            <a:extLst>
              <a:ext uri="{FF2B5EF4-FFF2-40B4-BE49-F238E27FC236}">
                <a16:creationId xmlns:a16="http://schemas.microsoft.com/office/drawing/2014/main" id="{779182C4-9DDD-44D4-8C58-A30112C9CEB8}"/>
              </a:ext>
            </a:extLst>
          </p:cNvPr>
          <p:cNvSpPr/>
          <p:nvPr/>
        </p:nvSpPr>
        <p:spPr>
          <a:xfrm>
            <a:off x="7423117" y="6798344"/>
            <a:ext cx="870431" cy="446469"/>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nchor="ctr">
            <a:spAutoFit/>
          </a:bodyPr>
          <a:lstStyle>
            <a:lvl1pPr algn="l" defTabSz="1155700">
              <a:lnSpc>
                <a:spcPct val="80000"/>
              </a:lnSpc>
              <a:defRPr sz="3000">
                <a:solidFill>
                  <a:srgbClr val="FFBF77"/>
                </a:solidFill>
                <a:latin typeface="Montserrat Bold"/>
                <a:ea typeface="Montserrat Bold"/>
                <a:cs typeface="Montserrat Bold"/>
                <a:sym typeface="Montserrat Bold"/>
              </a:defRPr>
            </a:lvl1pPr>
          </a:lstStyle>
          <a:p>
            <a:r>
              <a:rPr lang="en-US" sz="3600" b="1" dirty="0">
                <a:solidFill>
                  <a:schemeClr val="accent2"/>
                </a:solidFill>
              </a:rPr>
              <a:t>Kali</a:t>
            </a:r>
            <a:endParaRPr sz="3600" b="1" dirty="0">
              <a:solidFill>
                <a:schemeClr val="accent2"/>
              </a:solidFill>
            </a:endParaRPr>
          </a:p>
        </p:txBody>
      </p:sp>
      <p:sp>
        <p:nvSpPr>
          <p:cNvPr id="29" name="Lorem ipsum dolor sit amet, consectetuer adipiscing elit. Aenean commodo ligula eget dolor. Aenean massa.">
            <a:extLst>
              <a:ext uri="{FF2B5EF4-FFF2-40B4-BE49-F238E27FC236}">
                <a16:creationId xmlns:a16="http://schemas.microsoft.com/office/drawing/2014/main" id="{3DFE3F45-151D-45D4-A1C2-B3994202E490}"/>
              </a:ext>
            </a:extLst>
          </p:cNvPr>
          <p:cNvSpPr/>
          <p:nvPr/>
        </p:nvSpPr>
        <p:spPr>
          <a:xfrm>
            <a:off x="1826948" y="7608475"/>
            <a:ext cx="4014583" cy="3071330"/>
          </a:xfrm>
          <a:prstGeom prst="rect">
            <a:avLst/>
          </a:prstGeom>
          <a:ln w="12700"/>
          <a:extLst>
            <a:ext uri="{C572A759-6A51-4108-AA02-DFA0A04FC94B}">
              <ma14:wrappingTextBoxFlag xmlns:ma14="http://schemas.microsoft.com/office/mac/drawingml/2011/main" xmlns="" val="1"/>
            </a:ext>
          </a:extLst>
        </p:spPr>
        <p:txBody>
          <a:bodyPr lIns="0" tIns="0" rIns="0" bIns="0"/>
          <a:lstStyle>
            <a:lvl1pPr algn="l" defTabSz="952500">
              <a:lnSpc>
                <a:spcPct val="130000"/>
              </a:lnSpc>
              <a:buClr>
                <a:srgbClr val="E9F6FA"/>
              </a:buClr>
              <a:buFont typeface="Helvetica Neue UltraLight"/>
              <a:defRPr sz="3000">
                <a:solidFill>
                  <a:srgbClr val="FFFFFF"/>
                </a:solidFill>
                <a:uFill>
                  <a:solidFill>
                    <a:srgbClr val="FFFFFF"/>
                  </a:solidFill>
                </a:uFill>
                <a:latin typeface="Helvetica Neue"/>
                <a:ea typeface="Helvetica Neue"/>
                <a:cs typeface="Helvetica Neue"/>
                <a:sym typeface="Helvetica Neue"/>
              </a:defRPr>
            </a:lvl1pPr>
          </a:lstStyle>
          <a:p>
            <a:r>
              <a:rPr lang="en-US" dirty="0">
                <a:latin typeface="Montserrat Bold"/>
              </a:rPr>
              <a:t>Why a VM is used, and what we will use VMs for in this course.</a:t>
            </a:r>
          </a:p>
        </p:txBody>
      </p:sp>
      <p:sp>
        <p:nvSpPr>
          <p:cNvPr id="30" name="Lorem ipsum dolor sit amet, consectetuer adipiscing elit. Aenean commodo ligula eget dolor. Aenean massa.">
            <a:extLst>
              <a:ext uri="{FF2B5EF4-FFF2-40B4-BE49-F238E27FC236}">
                <a16:creationId xmlns:a16="http://schemas.microsoft.com/office/drawing/2014/main" id="{3FFBBDE4-218B-4734-ABAE-FB04646BB5E1}"/>
              </a:ext>
            </a:extLst>
          </p:cNvPr>
          <p:cNvSpPr/>
          <p:nvPr/>
        </p:nvSpPr>
        <p:spPr>
          <a:xfrm>
            <a:off x="7425998" y="7613315"/>
            <a:ext cx="4014583" cy="3071331"/>
          </a:xfrm>
          <a:prstGeom prst="rect">
            <a:avLst/>
          </a:prstGeom>
          <a:ln w="12700"/>
          <a:extLst>
            <a:ext uri="{C572A759-6A51-4108-AA02-DFA0A04FC94B}">
              <ma14:wrappingTextBoxFlag xmlns:ma14="http://schemas.microsoft.com/office/mac/drawingml/2011/main" xmlns="" val="1"/>
            </a:ext>
          </a:extLst>
        </p:spPr>
        <p:txBody>
          <a:bodyPr lIns="0" tIns="0" rIns="0" bIns="0"/>
          <a:lstStyle>
            <a:lvl1pPr algn="l" defTabSz="952500">
              <a:lnSpc>
                <a:spcPct val="130000"/>
              </a:lnSpc>
              <a:buClr>
                <a:srgbClr val="E9F6FA"/>
              </a:buClr>
              <a:buFont typeface="Helvetica Neue UltraLight"/>
              <a:defRPr sz="3000">
                <a:solidFill>
                  <a:srgbClr val="FFFFFF"/>
                </a:solidFill>
                <a:uFill>
                  <a:solidFill>
                    <a:srgbClr val="FFFFFF"/>
                  </a:solidFill>
                </a:uFill>
                <a:latin typeface="Helvetica Neue"/>
                <a:ea typeface="Helvetica Neue"/>
                <a:cs typeface="Helvetica Neue"/>
                <a:sym typeface="Helvetica Neue"/>
              </a:defRPr>
            </a:lvl1pPr>
          </a:lstStyle>
          <a:p>
            <a:pPr lvl="0">
              <a:lnSpc>
                <a:spcPct val="100000"/>
              </a:lnSpc>
              <a:spcBef>
                <a:spcPts val="4200"/>
              </a:spcBef>
              <a:buClr>
                <a:srgbClr val="606060"/>
              </a:buClr>
              <a:buSzPts val="1380"/>
            </a:pPr>
            <a:r>
              <a:rPr lang="en-US" sz="3200" b="1" dirty="0">
                <a:solidFill>
                  <a:schemeClr val="tx1"/>
                </a:solidFill>
                <a:latin typeface="Montserrat" panose="02000505000000020004" pitchFamily="2" charset="0"/>
              </a:rPr>
              <a:t>What Kali is, and how we will use it in the course. </a:t>
            </a:r>
            <a:endParaRPr lang="en-US" b="1" dirty="0">
              <a:solidFill>
                <a:schemeClr val="tx1"/>
              </a:solidFill>
              <a:latin typeface="Montserrat" panose="02000505000000020004" pitchFamily="2" charset="0"/>
            </a:endParaRPr>
          </a:p>
        </p:txBody>
      </p:sp>
      <p:sp>
        <p:nvSpPr>
          <p:cNvPr id="31" name="01">
            <a:extLst>
              <a:ext uri="{FF2B5EF4-FFF2-40B4-BE49-F238E27FC236}">
                <a16:creationId xmlns:a16="http://schemas.microsoft.com/office/drawing/2014/main" id="{6078B295-8E90-4300-926F-EB527323C3A4}"/>
              </a:ext>
            </a:extLst>
          </p:cNvPr>
          <p:cNvSpPr/>
          <p:nvPr/>
        </p:nvSpPr>
        <p:spPr>
          <a:xfrm>
            <a:off x="1810887" y="4874137"/>
            <a:ext cx="2023784" cy="1861930"/>
          </a:xfrm>
          <a:prstGeom prst="rect">
            <a:avLst/>
          </a:prstGeom>
          <a:ln w="12700">
            <a:miter lim="400000"/>
          </a:ln>
          <a:extLst>
            <a:ext uri="{C572A759-6A51-4108-AA02-DFA0A04FC94B}">
              <ma14:wrappingTextBoxFlag xmlns:ma14="http://schemas.microsoft.com/office/mac/drawingml/2011/main" xmlns="" val="1"/>
            </a:ext>
          </a:extLst>
        </p:spPr>
        <p:txBody>
          <a:bodyPr lIns="0" tIns="0" rIns="0" bIns="0" anchor="ctr">
            <a:spAutoFit/>
          </a:bodyPr>
          <a:lstStyle>
            <a:lvl1pPr algn="l" defTabSz="1155700">
              <a:lnSpc>
                <a:spcPct val="80000"/>
              </a:lnSpc>
              <a:defRPr sz="14400">
                <a:solidFill>
                  <a:srgbClr val="FFFFFF"/>
                </a:solidFill>
                <a:latin typeface="Montserrat Bold"/>
                <a:ea typeface="Montserrat Bold"/>
                <a:cs typeface="Montserrat Bold"/>
                <a:sym typeface="Montserrat Bold"/>
              </a:defRPr>
            </a:lvl1pPr>
          </a:lstStyle>
          <a:p>
            <a:pPr>
              <a:lnSpc>
                <a:spcPct val="100000"/>
              </a:lnSpc>
            </a:pPr>
            <a:r>
              <a:rPr sz="12000" b="1" dirty="0">
                <a:solidFill>
                  <a:schemeClr val="tx2"/>
                </a:solidFill>
              </a:rPr>
              <a:t>01</a:t>
            </a:r>
          </a:p>
        </p:txBody>
      </p:sp>
      <p:sp>
        <p:nvSpPr>
          <p:cNvPr id="32" name="02">
            <a:extLst>
              <a:ext uri="{FF2B5EF4-FFF2-40B4-BE49-F238E27FC236}">
                <a16:creationId xmlns:a16="http://schemas.microsoft.com/office/drawing/2014/main" id="{A1C66299-BE7F-468E-BAF4-B63A9B237EE3}"/>
              </a:ext>
            </a:extLst>
          </p:cNvPr>
          <p:cNvSpPr/>
          <p:nvPr/>
        </p:nvSpPr>
        <p:spPr>
          <a:xfrm>
            <a:off x="7423357" y="4871402"/>
            <a:ext cx="2435601" cy="1867399"/>
          </a:xfrm>
          <a:prstGeom prst="rect">
            <a:avLst/>
          </a:prstGeom>
          <a:ln w="12700">
            <a:miter lim="400000"/>
          </a:ln>
          <a:extLst>
            <a:ext uri="{C572A759-6A51-4108-AA02-DFA0A04FC94B}">
              <ma14:wrappingTextBoxFlag xmlns:ma14="http://schemas.microsoft.com/office/mac/drawingml/2011/main" xmlns="" val="1"/>
            </a:ext>
          </a:extLst>
        </p:spPr>
        <p:txBody>
          <a:bodyPr lIns="0" tIns="0" rIns="0" bIns="0" anchor="ctr"/>
          <a:lstStyle>
            <a:lvl1pPr algn="l" defTabSz="1155700">
              <a:lnSpc>
                <a:spcPct val="80000"/>
              </a:lnSpc>
              <a:defRPr sz="14400">
                <a:solidFill>
                  <a:srgbClr val="FFFFFF"/>
                </a:solidFill>
                <a:latin typeface="Montserrat Bold"/>
                <a:ea typeface="Montserrat Bold"/>
                <a:cs typeface="Montserrat Bold"/>
                <a:sym typeface="Montserrat Bold"/>
              </a:defRPr>
            </a:lvl1pPr>
          </a:lstStyle>
          <a:p>
            <a:pPr>
              <a:lnSpc>
                <a:spcPct val="100000"/>
              </a:lnSpc>
            </a:pPr>
            <a:r>
              <a:rPr sz="12000" b="1" dirty="0">
                <a:solidFill>
                  <a:schemeClr val="tx2"/>
                </a:solidFill>
              </a:rPr>
              <a:t>02</a:t>
            </a:r>
          </a:p>
        </p:txBody>
      </p:sp>
      <p:sp>
        <p:nvSpPr>
          <p:cNvPr id="33" name="Rectangle">
            <a:extLst>
              <a:ext uri="{FF2B5EF4-FFF2-40B4-BE49-F238E27FC236}">
                <a16:creationId xmlns:a16="http://schemas.microsoft.com/office/drawing/2014/main" id="{348F4AD2-83DA-437F-8310-A91B901AD9F8}"/>
              </a:ext>
            </a:extLst>
          </p:cNvPr>
          <p:cNvSpPr/>
          <p:nvPr/>
        </p:nvSpPr>
        <p:spPr>
          <a:xfrm>
            <a:off x="6577525" y="3943038"/>
            <a:ext cx="5435976" cy="6989406"/>
          </a:xfrm>
          <a:prstGeom prst="roundRect">
            <a:avLst>
              <a:gd name="adj" fmla="val 0"/>
            </a:avLst>
          </a:prstGeom>
          <a:ln w="50800">
            <a:solidFill>
              <a:schemeClr val="accent2"/>
            </a:solidFill>
            <a:miter lim="400000"/>
          </a:ln>
        </p:spPr>
        <p:txBody>
          <a:bodyPr lIns="50800" tIns="50800" rIns="50800" bIns="50800" anchor="ctr"/>
          <a:lstStyle/>
          <a:p>
            <a:pPr defTabSz="584200">
              <a:defRPr sz="4000">
                <a:solidFill>
                  <a:srgbClr val="FFFFFF"/>
                </a:solidFill>
                <a:effectLst>
                  <a:outerShdw blurRad="38100" dist="12700" dir="5400000" rotWithShape="0">
                    <a:srgbClr val="000000">
                      <a:alpha val="50000"/>
                    </a:srgbClr>
                  </a:outerShdw>
                </a:effectLst>
              </a:defRPr>
            </a:pPr>
            <a:endParaRPr dirty="0">
              <a:latin typeface="Calibri Regular"/>
              <a:ea typeface="Arial Regular" charset="0"/>
              <a:cs typeface="Arial Regular" charset="0"/>
            </a:endParaRPr>
          </a:p>
        </p:txBody>
      </p:sp>
      <p:sp>
        <p:nvSpPr>
          <p:cNvPr id="34" name="Rectangle">
            <a:extLst>
              <a:ext uri="{FF2B5EF4-FFF2-40B4-BE49-F238E27FC236}">
                <a16:creationId xmlns:a16="http://schemas.microsoft.com/office/drawing/2014/main" id="{C3AF09AB-F39B-4900-A33F-E3B3A0121B4E}"/>
              </a:ext>
            </a:extLst>
          </p:cNvPr>
          <p:cNvSpPr/>
          <p:nvPr/>
        </p:nvSpPr>
        <p:spPr>
          <a:xfrm>
            <a:off x="845511" y="3943038"/>
            <a:ext cx="5435976" cy="6989406"/>
          </a:xfrm>
          <a:prstGeom prst="roundRect">
            <a:avLst>
              <a:gd name="adj" fmla="val 0"/>
            </a:avLst>
          </a:prstGeom>
          <a:ln w="50800">
            <a:solidFill>
              <a:schemeClr val="accent4"/>
            </a:solidFill>
            <a:miter lim="400000"/>
          </a:ln>
        </p:spPr>
        <p:txBody>
          <a:bodyPr lIns="50800" tIns="50800" rIns="50800" bIns="50800" anchor="ctr"/>
          <a:lstStyle/>
          <a:p>
            <a:pPr defTabSz="584200">
              <a:defRPr sz="4000">
                <a:solidFill>
                  <a:srgbClr val="FFFFFF"/>
                </a:solidFill>
                <a:effectLst>
                  <a:outerShdw blurRad="38100" dist="12700" dir="5400000" rotWithShape="0">
                    <a:srgbClr val="000000">
                      <a:alpha val="50000"/>
                    </a:srgbClr>
                  </a:outerShdw>
                </a:effectLst>
              </a:defRPr>
            </a:pPr>
            <a:endParaRPr dirty="0">
              <a:latin typeface="Calibri Regular"/>
              <a:ea typeface="Arial Regular" charset="0"/>
              <a:cs typeface="Arial Regular" charset="0"/>
            </a:endParaRPr>
          </a:p>
        </p:txBody>
      </p:sp>
      <p:sp>
        <p:nvSpPr>
          <p:cNvPr id="19" name="Service One">
            <a:extLst>
              <a:ext uri="{FF2B5EF4-FFF2-40B4-BE49-F238E27FC236}">
                <a16:creationId xmlns:a16="http://schemas.microsoft.com/office/drawing/2014/main" id="{AC6CCB7E-981C-471A-9C37-867363FD9BA4}"/>
              </a:ext>
            </a:extLst>
          </p:cNvPr>
          <p:cNvSpPr/>
          <p:nvPr/>
        </p:nvSpPr>
        <p:spPr>
          <a:xfrm>
            <a:off x="13286442" y="6798344"/>
            <a:ext cx="1256754" cy="446469"/>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nchor="ctr">
            <a:spAutoFit/>
          </a:bodyPr>
          <a:lstStyle>
            <a:lvl1pPr algn="l" defTabSz="1155700">
              <a:lnSpc>
                <a:spcPct val="80000"/>
              </a:lnSpc>
              <a:defRPr sz="3000">
                <a:solidFill>
                  <a:srgbClr val="FFBF77"/>
                </a:solidFill>
                <a:latin typeface="Montserrat Bold"/>
                <a:ea typeface="Montserrat Bold"/>
                <a:cs typeface="Montserrat Bold"/>
                <a:sym typeface="Montserrat Bold"/>
              </a:defRPr>
            </a:lvl1pPr>
          </a:lstStyle>
          <a:p>
            <a:r>
              <a:rPr lang="en-US" sz="3600" b="1" dirty="0">
                <a:solidFill>
                  <a:schemeClr val="accent3"/>
                </a:solidFill>
              </a:rPr>
              <a:t>Linux</a:t>
            </a:r>
            <a:endParaRPr sz="3600" b="1" dirty="0">
              <a:solidFill>
                <a:schemeClr val="accent3"/>
              </a:solidFill>
            </a:endParaRPr>
          </a:p>
        </p:txBody>
      </p:sp>
      <p:sp>
        <p:nvSpPr>
          <p:cNvPr id="20" name="Service Two">
            <a:extLst>
              <a:ext uri="{FF2B5EF4-FFF2-40B4-BE49-F238E27FC236}">
                <a16:creationId xmlns:a16="http://schemas.microsoft.com/office/drawing/2014/main" id="{F156FFD7-DA54-4F39-B741-18E389E4DDC6}"/>
              </a:ext>
            </a:extLst>
          </p:cNvPr>
          <p:cNvSpPr/>
          <p:nvPr/>
        </p:nvSpPr>
        <p:spPr>
          <a:xfrm>
            <a:off x="18887145" y="6798344"/>
            <a:ext cx="907300" cy="446469"/>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nchor="ctr">
            <a:spAutoFit/>
          </a:bodyPr>
          <a:lstStyle>
            <a:lvl1pPr algn="l" defTabSz="1155700">
              <a:lnSpc>
                <a:spcPct val="80000"/>
              </a:lnSpc>
              <a:defRPr sz="3000">
                <a:solidFill>
                  <a:srgbClr val="FFBF77"/>
                </a:solidFill>
                <a:latin typeface="Montserrat Bold"/>
                <a:ea typeface="Montserrat Bold"/>
                <a:cs typeface="Montserrat Bold"/>
                <a:sym typeface="Montserrat Bold"/>
              </a:defRPr>
            </a:lvl1pPr>
          </a:lstStyle>
          <a:p>
            <a:r>
              <a:rPr lang="en-US" sz="3600" b="1" dirty="0">
                <a:solidFill>
                  <a:schemeClr val="accent6"/>
                </a:solidFill>
              </a:rPr>
              <a:t>Etc.</a:t>
            </a:r>
            <a:endParaRPr sz="3600" b="1" dirty="0">
              <a:solidFill>
                <a:schemeClr val="accent6"/>
              </a:solidFill>
            </a:endParaRPr>
          </a:p>
        </p:txBody>
      </p:sp>
      <p:sp>
        <p:nvSpPr>
          <p:cNvPr id="21" name="Lorem ipsum dolor sit amet, consectetuer adipiscing elit. Aenean commodo ligula eget dolor. Aenean massa.">
            <a:extLst>
              <a:ext uri="{FF2B5EF4-FFF2-40B4-BE49-F238E27FC236}">
                <a16:creationId xmlns:a16="http://schemas.microsoft.com/office/drawing/2014/main" id="{A5580F6A-A5CE-4C90-AC30-C6770430CAC9}"/>
              </a:ext>
            </a:extLst>
          </p:cNvPr>
          <p:cNvSpPr/>
          <p:nvPr/>
        </p:nvSpPr>
        <p:spPr>
          <a:xfrm>
            <a:off x="13290976" y="7608475"/>
            <a:ext cx="4014583" cy="3071330"/>
          </a:xfrm>
          <a:prstGeom prst="rect">
            <a:avLst/>
          </a:prstGeom>
          <a:ln w="12700"/>
          <a:extLst>
            <a:ext uri="{C572A759-6A51-4108-AA02-DFA0A04FC94B}">
              <ma14:wrappingTextBoxFlag xmlns:ma14="http://schemas.microsoft.com/office/mac/drawingml/2011/main" xmlns="" val="1"/>
            </a:ext>
          </a:extLst>
        </p:spPr>
        <p:txBody>
          <a:bodyPr lIns="0" tIns="0" rIns="0" bIns="0"/>
          <a:lstStyle>
            <a:lvl1pPr algn="l" defTabSz="952500">
              <a:lnSpc>
                <a:spcPct val="130000"/>
              </a:lnSpc>
              <a:buClr>
                <a:srgbClr val="E9F6FA"/>
              </a:buClr>
              <a:buFont typeface="Helvetica Neue UltraLight"/>
              <a:defRPr sz="3000">
                <a:solidFill>
                  <a:srgbClr val="FFFFFF"/>
                </a:solidFill>
                <a:uFill>
                  <a:solidFill>
                    <a:srgbClr val="FFFFFF"/>
                  </a:solidFill>
                </a:uFill>
                <a:latin typeface="Helvetica Neue"/>
                <a:ea typeface="Helvetica Neue"/>
                <a:cs typeface="Helvetica Neue"/>
                <a:sym typeface="Helvetica Neue"/>
              </a:defRPr>
            </a:lvl1pPr>
          </a:lstStyle>
          <a:p>
            <a:r>
              <a:rPr lang="en-US" dirty="0">
                <a:latin typeface="Montserrat Bold"/>
              </a:rPr>
              <a:t>Why an understanding of the </a:t>
            </a:r>
            <a:r>
              <a:rPr lang="en-US" dirty="0" err="1">
                <a:latin typeface="Montserrat Bold"/>
              </a:rPr>
              <a:t>linux</a:t>
            </a:r>
            <a:r>
              <a:rPr lang="en-US" dirty="0">
                <a:latin typeface="Montserrat Bold"/>
              </a:rPr>
              <a:t> command line is beneficial. </a:t>
            </a:r>
          </a:p>
        </p:txBody>
      </p:sp>
      <p:sp>
        <p:nvSpPr>
          <p:cNvPr id="22" name="Lorem ipsum dolor sit amet, consectetuer adipiscing elit. Aenean commodo ligula eget dolor. Aenean massa.">
            <a:extLst>
              <a:ext uri="{FF2B5EF4-FFF2-40B4-BE49-F238E27FC236}">
                <a16:creationId xmlns:a16="http://schemas.microsoft.com/office/drawing/2014/main" id="{77386997-2285-41C6-8D87-4A8BCDDA28B1}"/>
              </a:ext>
            </a:extLst>
          </p:cNvPr>
          <p:cNvSpPr/>
          <p:nvPr/>
        </p:nvSpPr>
        <p:spPr>
          <a:xfrm>
            <a:off x="18890026" y="7613315"/>
            <a:ext cx="4014583" cy="3071331"/>
          </a:xfrm>
          <a:prstGeom prst="rect">
            <a:avLst/>
          </a:prstGeom>
          <a:ln w="12700"/>
          <a:extLst>
            <a:ext uri="{C572A759-6A51-4108-AA02-DFA0A04FC94B}">
              <ma14:wrappingTextBoxFlag xmlns:ma14="http://schemas.microsoft.com/office/mac/drawingml/2011/main" xmlns="" val="1"/>
            </a:ext>
          </a:extLst>
        </p:spPr>
        <p:txBody>
          <a:bodyPr lIns="0" tIns="0" rIns="0" bIns="0"/>
          <a:lstStyle>
            <a:lvl1pPr algn="l" defTabSz="952500">
              <a:lnSpc>
                <a:spcPct val="130000"/>
              </a:lnSpc>
              <a:buClr>
                <a:srgbClr val="E9F6FA"/>
              </a:buClr>
              <a:buFont typeface="Helvetica Neue UltraLight"/>
              <a:defRPr sz="3000">
                <a:solidFill>
                  <a:srgbClr val="FFFFFF"/>
                </a:solidFill>
                <a:uFill>
                  <a:solidFill>
                    <a:srgbClr val="FFFFFF"/>
                  </a:solidFill>
                </a:uFill>
                <a:latin typeface="Helvetica Neue"/>
                <a:ea typeface="Helvetica Neue"/>
                <a:cs typeface="Helvetica Neue"/>
                <a:sym typeface="Helvetica Neue"/>
              </a:defRPr>
            </a:lvl1pPr>
          </a:lstStyle>
          <a:p>
            <a:pPr lvl="0">
              <a:lnSpc>
                <a:spcPct val="100000"/>
              </a:lnSpc>
              <a:spcBef>
                <a:spcPts val="4200"/>
              </a:spcBef>
              <a:buClr>
                <a:srgbClr val="606060"/>
              </a:buClr>
              <a:buSzPts val="1380"/>
            </a:pPr>
            <a:r>
              <a:rPr lang="en-US" sz="3200" b="1" dirty="0">
                <a:solidFill>
                  <a:schemeClr val="tx1"/>
                </a:solidFill>
                <a:latin typeface="Montserrat" panose="02000505000000020004" pitchFamily="2" charset="0"/>
              </a:rPr>
              <a:t>How this all ties together for your class exercises. </a:t>
            </a:r>
          </a:p>
        </p:txBody>
      </p:sp>
      <p:sp>
        <p:nvSpPr>
          <p:cNvPr id="23" name="01">
            <a:extLst>
              <a:ext uri="{FF2B5EF4-FFF2-40B4-BE49-F238E27FC236}">
                <a16:creationId xmlns:a16="http://schemas.microsoft.com/office/drawing/2014/main" id="{CB679711-E266-4DFF-84DC-BB18290C7B5A}"/>
              </a:ext>
            </a:extLst>
          </p:cNvPr>
          <p:cNvSpPr/>
          <p:nvPr/>
        </p:nvSpPr>
        <p:spPr>
          <a:xfrm>
            <a:off x="13274915" y="4881773"/>
            <a:ext cx="2023784" cy="1846659"/>
          </a:xfrm>
          <a:prstGeom prst="rect">
            <a:avLst/>
          </a:prstGeom>
          <a:ln w="12700">
            <a:miter lim="400000"/>
          </a:ln>
          <a:extLst>
            <a:ext uri="{C572A759-6A51-4108-AA02-DFA0A04FC94B}">
              <ma14:wrappingTextBoxFlag xmlns:ma14="http://schemas.microsoft.com/office/mac/drawingml/2011/main" xmlns="" val="1"/>
            </a:ext>
          </a:extLst>
        </p:spPr>
        <p:txBody>
          <a:bodyPr lIns="0" tIns="0" rIns="0" bIns="0" anchor="ctr">
            <a:spAutoFit/>
          </a:bodyPr>
          <a:lstStyle>
            <a:lvl1pPr algn="l" defTabSz="1155700">
              <a:lnSpc>
                <a:spcPct val="80000"/>
              </a:lnSpc>
              <a:defRPr sz="14400">
                <a:solidFill>
                  <a:srgbClr val="FFFFFF"/>
                </a:solidFill>
                <a:latin typeface="Montserrat Bold"/>
                <a:ea typeface="Montserrat Bold"/>
                <a:cs typeface="Montserrat Bold"/>
                <a:sym typeface="Montserrat Bold"/>
              </a:defRPr>
            </a:lvl1pPr>
          </a:lstStyle>
          <a:p>
            <a:pPr>
              <a:lnSpc>
                <a:spcPct val="100000"/>
              </a:lnSpc>
            </a:pPr>
            <a:r>
              <a:rPr sz="12000" b="1" dirty="0">
                <a:solidFill>
                  <a:schemeClr val="tx2"/>
                </a:solidFill>
              </a:rPr>
              <a:t>0</a:t>
            </a:r>
            <a:r>
              <a:rPr lang="en-US" sz="12000" b="1" dirty="0">
                <a:solidFill>
                  <a:schemeClr val="tx2"/>
                </a:solidFill>
              </a:rPr>
              <a:t>3</a:t>
            </a:r>
            <a:endParaRPr sz="12000" b="1" dirty="0">
              <a:solidFill>
                <a:schemeClr val="tx2"/>
              </a:solidFill>
            </a:endParaRPr>
          </a:p>
        </p:txBody>
      </p:sp>
      <p:sp>
        <p:nvSpPr>
          <p:cNvPr id="24" name="02">
            <a:extLst>
              <a:ext uri="{FF2B5EF4-FFF2-40B4-BE49-F238E27FC236}">
                <a16:creationId xmlns:a16="http://schemas.microsoft.com/office/drawing/2014/main" id="{975B8D5B-13EB-437B-A90E-54CF2B18EB2E}"/>
              </a:ext>
            </a:extLst>
          </p:cNvPr>
          <p:cNvSpPr/>
          <p:nvPr/>
        </p:nvSpPr>
        <p:spPr>
          <a:xfrm>
            <a:off x="18887385" y="4871402"/>
            <a:ext cx="2435601" cy="1867399"/>
          </a:xfrm>
          <a:prstGeom prst="rect">
            <a:avLst/>
          </a:prstGeom>
          <a:ln w="12700">
            <a:miter lim="400000"/>
          </a:ln>
          <a:extLst>
            <a:ext uri="{C572A759-6A51-4108-AA02-DFA0A04FC94B}">
              <ma14:wrappingTextBoxFlag xmlns:ma14="http://schemas.microsoft.com/office/mac/drawingml/2011/main" xmlns="" val="1"/>
            </a:ext>
          </a:extLst>
        </p:spPr>
        <p:txBody>
          <a:bodyPr lIns="0" tIns="0" rIns="0" bIns="0" anchor="ctr"/>
          <a:lstStyle>
            <a:lvl1pPr algn="l" defTabSz="1155700">
              <a:lnSpc>
                <a:spcPct val="80000"/>
              </a:lnSpc>
              <a:defRPr sz="14400">
                <a:solidFill>
                  <a:srgbClr val="FFFFFF"/>
                </a:solidFill>
                <a:latin typeface="Montserrat Bold"/>
                <a:ea typeface="Montserrat Bold"/>
                <a:cs typeface="Montserrat Bold"/>
                <a:sym typeface="Montserrat Bold"/>
              </a:defRPr>
            </a:lvl1pPr>
          </a:lstStyle>
          <a:p>
            <a:pPr>
              <a:lnSpc>
                <a:spcPct val="100000"/>
              </a:lnSpc>
            </a:pPr>
            <a:r>
              <a:rPr sz="12000" b="1" dirty="0">
                <a:solidFill>
                  <a:schemeClr val="tx2"/>
                </a:solidFill>
              </a:rPr>
              <a:t>0</a:t>
            </a:r>
            <a:r>
              <a:rPr lang="en-US" sz="12000" b="1" dirty="0">
                <a:solidFill>
                  <a:schemeClr val="tx2"/>
                </a:solidFill>
              </a:rPr>
              <a:t>4</a:t>
            </a:r>
            <a:endParaRPr sz="12000" b="1" dirty="0">
              <a:solidFill>
                <a:schemeClr val="tx2"/>
              </a:solidFill>
            </a:endParaRPr>
          </a:p>
        </p:txBody>
      </p:sp>
      <p:sp>
        <p:nvSpPr>
          <p:cNvPr id="25" name="Rectangle">
            <a:extLst>
              <a:ext uri="{FF2B5EF4-FFF2-40B4-BE49-F238E27FC236}">
                <a16:creationId xmlns:a16="http://schemas.microsoft.com/office/drawing/2014/main" id="{62172C92-220C-4E5B-BCCF-B637C8FC2C98}"/>
              </a:ext>
            </a:extLst>
          </p:cNvPr>
          <p:cNvSpPr/>
          <p:nvPr/>
        </p:nvSpPr>
        <p:spPr>
          <a:xfrm>
            <a:off x="18041553" y="3943038"/>
            <a:ext cx="5435976" cy="6989406"/>
          </a:xfrm>
          <a:prstGeom prst="roundRect">
            <a:avLst>
              <a:gd name="adj" fmla="val 0"/>
            </a:avLst>
          </a:prstGeom>
          <a:ln w="50800">
            <a:solidFill>
              <a:schemeClr val="accent6"/>
            </a:solidFill>
            <a:miter lim="400000"/>
          </a:ln>
        </p:spPr>
        <p:txBody>
          <a:bodyPr lIns="50800" tIns="50800" rIns="50800" bIns="50800" anchor="ctr"/>
          <a:lstStyle/>
          <a:p>
            <a:pPr defTabSz="584200">
              <a:defRPr sz="4000">
                <a:solidFill>
                  <a:srgbClr val="FFFFFF"/>
                </a:solidFill>
                <a:effectLst>
                  <a:outerShdw blurRad="38100" dist="12700" dir="5400000" rotWithShape="0">
                    <a:srgbClr val="000000">
                      <a:alpha val="50000"/>
                    </a:srgbClr>
                  </a:outerShdw>
                </a:effectLst>
              </a:defRPr>
            </a:pPr>
            <a:endParaRPr dirty="0">
              <a:latin typeface="Calibri Regular"/>
              <a:ea typeface="Arial Regular" charset="0"/>
              <a:cs typeface="Arial Regular" charset="0"/>
            </a:endParaRPr>
          </a:p>
        </p:txBody>
      </p:sp>
      <p:sp>
        <p:nvSpPr>
          <p:cNvPr id="26" name="Rectangle">
            <a:extLst>
              <a:ext uri="{FF2B5EF4-FFF2-40B4-BE49-F238E27FC236}">
                <a16:creationId xmlns:a16="http://schemas.microsoft.com/office/drawing/2014/main" id="{6F1FFC75-43A9-4B2A-87A0-07BD36CA3EF0}"/>
              </a:ext>
            </a:extLst>
          </p:cNvPr>
          <p:cNvSpPr/>
          <p:nvPr/>
        </p:nvSpPr>
        <p:spPr>
          <a:xfrm>
            <a:off x="12309539" y="3943038"/>
            <a:ext cx="5435976" cy="6989406"/>
          </a:xfrm>
          <a:prstGeom prst="roundRect">
            <a:avLst>
              <a:gd name="adj" fmla="val 0"/>
            </a:avLst>
          </a:prstGeom>
          <a:ln w="50800">
            <a:solidFill>
              <a:schemeClr val="accent3"/>
            </a:solidFill>
            <a:miter lim="400000"/>
          </a:ln>
        </p:spPr>
        <p:txBody>
          <a:bodyPr lIns="50800" tIns="50800" rIns="50800" bIns="50800" anchor="ctr"/>
          <a:lstStyle/>
          <a:p>
            <a:pPr defTabSz="584200">
              <a:defRPr sz="4000">
                <a:solidFill>
                  <a:srgbClr val="FFFFFF"/>
                </a:solidFill>
                <a:effectLst>
                  <a:outerShdw blurRad="38100" dist="12700" dir="5400000" rotWithShape="0">
                    <a:srgbClr val="000000">
                      <a:alpha val="50000"/>
                    </a:srgbClr>
                  </a:outerShdw>
                </a:effectLst>
              </a:defRPr>
            </a:pPr>
            <a:endParaRPr dirty="0">
              <a:latin typeface="Calibri Regular"/>
              <a:ea typeface="Arial Regular" charset="0"/>
              <a:cs typeface="Arial Regular" charset="0"/>
            </a:endParaRPr>
          </a:p>
        </p:txBody>
      </p:sp>
    </p:spTree>
    <p:custDataLst>
      <p:tags r:id="rId1"/>
    </p:custDataLst>
    <p:extLst>
      <p:ext uri="{BB962C8B-B14F-4D97-AF65-F5344CB8AC3E}">
        <p14:creationId xmlns:p14="http://schemas.microsoft.com/office/powerpoint/2010/main" val="2689887591"/>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29" grpId="0" animBg="1"/>
      <p:bldP spid="30" grpId="0" animBg="1"/>
      <p:bldP spid="31" grpId="0" animBg="1"/>
      <p:bldP spid="32" grpId="0" animBg="1"/>
      <p:bldP spid="33" grpId="0" animBg="1"/>
      <p:bldP spid="34"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curity">
            <a:extLst>
              <a:ext uri="{FF2B5EF4-FFF2-40B4-BE49-F238E27FC236}">
                <a16:creationId xmlns:a16="http://schemas.microsoft.com/office/drawing/2014/main" id="{DA9002C0-3B39-4D5E-B76A-51AB728215F3}"/>
              </a:ext>
            </a:extLst>
          </p:cNvPr>
          <p:cNvSpPr>
            <a:spLocks noGrp="1"/>
          </p:cNvSpPr>
          <p:nvPr>
            <p:ph type="title" idx="4294967295"/>
          </p:nvPr>
        </p:nvSpPr>
        <p:spPr>
          <a:xfrm>
            <a:off x="1063690" y="436182"/>
            <a:ext cx="22617404" cy="892937"/>
          </a:xfrm>
          <a:prstGeom prst="rect">
            <a:avLst/>
          </a:prstGeom>
          <a:noFill/>
          <a:ln w="12700">
            <a:noFill/>
            <a:prstDash/>
            <a:miter lim="400000"/>
          </a:ln>
          <a:effectLst/>
          <a:extLst>
            <a:ext uri="{C572A759-6A51-4108-AA02-DFA0A04FC94B}">
              <ma14:wrappingTextBoxFlag xmlns:ma14="http://schemas.microsoft.com/office/mac/drawingml/2011/main" xmlns="" val="1"/>
            </a:ext>
          </a:ex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lvl1pPr defTabSz="1155700">
              <a:lnSpc>
                <a:spcPct val="80000"/>
              </a:lnSpc>
              <a:defRPr sz="7200" cap="all">
                <a:solidFill>
                  <a:srgbClr val="FFFFFF"/>
                </a:solidFill>
                <a:latin typeface="Montserrat Bold"/>
                <a:ea typeface="Montserrat Bold"/>
                <a:cs typeface="Montserrat Bold"/>
                <a:sym typeface="Montserrat Bold"/>
              </a:defRPr>
            </a:lvl1pPr>
          </a:lstStyle>
          <a:p>
            <a:pPr marL="0" marR="0" lvl="0" indent="0" algn="ctr" defTabSz="1155700" rtl="0" eaLnBrk="1" fontAlgn="auto" latinLnBrk="0" hangingPunct="0">
              <a:lnSpc>
                <a:spcPct val="80000"/>
              </a:lnSpc>
              <a:spcBef>
                <a:spcPts val="0"/>
              </a:spcBef>
              <a:spcAft>
                <a:spcPts val="0"/>
              </a:spcAft>
              <a:buClrTx/>
              <a:buSzTx/>
              <a:buFontTx/>
              <a:buNone/>
              <a:tabLst/>
              <a:defRPr/>
            </a:pPr>
            <a:r>
              <a:rPr kumimoji="0" lang="en-US" sz="7200" b="1" i="0" u="none" strike="noStrike" kern="0" cap="all" spc="0" normalizeH="0" baseline="0" noProof="0" dirty="0">
                <a:ln>
                  <a:noFill/>
                </a:ln>
                <a:solidFill>
                  <a:schemeClr val="tx2"/>
                </a:solidFill>
                <a:effectLst/>
                <a:uLnTx/>
                <a:uFillTx/>
                <a:latin typeface="Montserrat" panose="02000505000000020004" pitchFamily="2" charset="0"/>
                <a:ea typeface="Montserrat Bold"/>
                <a:cs typeface="Montserrat Bold"/>
                <a:sym typeface="Montserrat Bold"/>
              </a:rPr>
              <a:t>Virtual Machine (VM)</a:t>
            </a:r>
          </a:p>
        </p:txBody>
      </p:sp>
      <p:sp>
        <p:nvSpPr>
          <p:cNvPr id="4" name="Cyber Security…">
            <a:extLst>
              <a:ext uri="{FF2B5EF4-FFF2-40B4-BE49-F238E27FC236}">
                <a16:creationId xmlns:a16="http://schemas.microsoft.com/office/drawing/2014/main" id="{D4F234CF-4317-4576-A863-7182EB0AD45F}"/>
              </a:ext>
            </a:extLst>
          </p:cNvPr>
          <p:cNvSpPr/>
          <p:nvPr/>
        </p:nvSpPr>
        <p:spPr>
          <a:xfrm>
            <a:off x="1205061" y="3845636"/>
            <a:ext cx="10308915" cy="1973425"/>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nchor="ctr">
            <a:spAutoFit/>
          </a:bodyPr>
          <a:lstStyle/>
          <a:p>
            <a:pPr algn="l" defTabSz="1155700">
              <a:lnSpc>
                <a:spcPct val="80000"/>
              </a:lnSpc>
              <a:defRPr sz="7200">
                <a:solidFill>
                  <a:srgbClr val="FFFFFF"/>
                </a:solidFill>
                <a:latin typeface="Montserrat Bold"/>
                <a:ea typeface="Montserrat Bold"/>
                <a:cs typeface="Montserrat Bold"/>
                <a:sym typeface="Montserrat Bold"/>
              </a:defRPr>
            </a:pPr>
            <a:r>
              <a:rPr lang="en-US" sz="4000" dirty="0">
                <a:solidFill>
                  <a:schemeClr val="tx2"/>
                </a:solidFill>
                <a:latin typeface="Montserrat" panose="02000505000000020004" pitchFamily="2" charset="0"/>
              </a:rPr>
              <a:t>A Virtual Machine is an instance of an actual machine. Some real (host) machine is used to exhibit the same behavior as the (target) virtual machine.</a:t>
            </a:r>
          </a:p>
        </p:txBody>
      </p:sp>
      <p:sp>
        <p:nvSpPr>
          <p:cNvPr id="5" name="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a:extLst>
              <a:ext uri="{FF2B5EF4-FFF2-40B4-BE49-F238E27FC236}">
                <a16:creationId xmlns:a16="http://schemas.microsoft.com/office/drawing/2014/main" id="{E7B40CCE-7740-4723-9216-12033A2F3A4C}"/>
              </a:ext>
            </a:extLst>
          </p:cNvPr>
          <p:cNvSpPr/>
          <p:nvPr/>
        </p:nvSpPr>
        <p:spPr>
          <a:xfrm>
            <a:off x="1212850" y="6879285"/>
            <a:ext cx="10301126" cy="4742004"/>
          </a:xfrm>
          <a:prstGeom prst="rect">
            <a:avLst/>
          </a:prstGeom>
          <a:ln w="12700"/>
          <a:extLst>
            <a:ext uri="{C572A759-6A51-4108-AA02-DFA0A04FC94B}">
              <ma14:wrappingTextBoxFlag xmlns:ma14="http://schemas.microsoft.com/office/mac/drawingml/2011/main" xmlns="" val="1"/>
            </a:ext>
          </a:extLst>
        </p:spPr>
        <p:txBody>
          <a:bodyPr wrap="square" lIns="0" tIns="0" rIns="0" bIns="0">
            <a:spAutoFit/>
          </a:bodyPr>
          <a:lstStyle>
            <a:lvl1pPr algn="l" defTabSz="952500">
              <a:lnSpc>
                <a:spcPct val="130000"/>
              </a:lnSpc>
              <a:buClr>
                <a:srgbClr val="E9F6FA"/>
              </a:buClr>
              <a:buFont typeface="Helvetica Neue UltraLight"/>
              <a:defRPr sz="3000">
                <a:solidFill>
                  <a:srgbClr val="FFFFFF"/>
                </a:solidFill>
                <a:uFill>
                  <a:solidFill>
                    <a:srgbClr val="FFFFFF"/>
                  </a:solidFill>
                </a:uFill>
                <a:latin typeface="Helvetica Neue"/>
                <a:ea typeface="Helvetica Neue"/>
                <a:cs typeface="Helvetica Neue"/>
                <a:sym typeface="Helvetica Neue"/>
              </a:defRPr>
            </a:lvl1pPr>
          </a:lstStyle>
          <a:p>
            <a:pPr>
              <a:spcBef>
                <a:spcPts val="600"/>
              </a:spcBef>
              <a:spcAft>
                <a:spcPts val="600"/>
              </a:spcAft>
            </a:pPr>
            <a:r>
              <a:rPr lang="en-US" sz="2900" dirty="0">
                <a:solidFill>
                  <a:schemeClr val="tx2"/>
                </a:solidFill>
                <a:latin typeface="Montserrat" panose="02000505000000020004" pitchFamily="2" charset="0"/>
                <a:ea typeface="Arial Regular" charset="0"/>
                <a:cs typeface="Arial Regular" charset="0"/>
              </a:rPr>
              <a:t>The virtualization platform we will be using in this class is based around VMware’s </a:t>
            </a:r>
            <a:r>
              <a:rPr lang="en-US" sz="2900" dirty="0" err="1">
                <a:solidFill>
                  <a:schemeClr val="tx2"/>
                </a:solidFill>
                <a:latin typeface="Montserrat" panose="02000505000000020004" pitchFamily="2" charset="0"/>
                <a:ea typeface="Arial Regular" charset="0"/>
                <a:cs typeface="Arial Regular" charset="0"/>
              </a:rPr>
              <a:t>ESXi</a:t>
            </a:r>
            <a:r>
              <a:rPr lang="en-US" sz="2900" dirty="0">
                <a:solidFill>
                  <a:schemeClr val="tx2"/>
                </a:solidFill>
                <a:latin typeface="Montserrat" panose="02000505000000020004" pitchFamily="2" charset="0"/>
                <a:ea typeface="Arial Regular" charset="0"/>
                <a:cs typeface="Arial Regular" charset="0"/>
              </a:rPr>
              <a:t> bare-metal virtualization platform.</a:t>
            </a:r>
          </a:p>
          <a:p>
            <a:pPr>
              <a:spcBef>
                <a:spcPts val="600"/>
              </a:spcBef>
              <a:spcAft>
                <a:spcPts val="600"/>
              </a:spcAft>
            </a:pPr>
            <a:r>
              <a:rPr lang="en-US" sz="2900" dirty="0">
                <a:solidFill>
                  <a:schemeClr val="tx2"/>
                </a:solidFill>
                <a:latin typeface="Montserrat" panose="02000505000000020004" pitchFamily="2" charset="0"/>
                <a:ea typeface="Arial Regular" charset="0"/>
                <a:cs typeface="Arial Regular" charset="0"/>
              </a:rPr>
              <a:t>Students in the UF CISE department can get free access to </a:t>
            </a:r>
            <a:r>
              <a:rPr lang="en-US" sz="2900" dirty="0">
                <a:solidFill>
                  <a:schemeClr val="accent2"/>
                </a:solidFill>
                <a:latin typeface="Montserrat" panose="02000505000000020004" pitchFamily="2" charset="0"/>
                <a:ea typeface="Arial Regular" charset="0"/>
                <a:cs typeface="Arial Regular" charset="0"/>
                <a:hlinkClick r:id="rId4">
                  <a:extLst>
                    <a:ext uri="{A12FA001-AC4F-418D-AE19-62706E023703}">
                      <ahyp:hlinkClr xmlns:ahyp="http://schemas.microsoft.com/office/drawing/2018/hyperlinkcolor" val="tx"/>
                    </a:ext>
                  </a:extLst>
                </a:hlinkClick>
              </a:rPr>
              <a:t>VMware’s</a:t>
            </a:r>
            <a:r>
              <a:rPr lang="en-US" sz="2900" dirty="0">
                <a:solidFill>
                  <a:schemeClr val="tx2"/>
                </a:solidFill>
                <a:latin typeface="Montserrat" panose="02000505000000020004" pitchFamily="2" charset="0"/>
                <a:ea typeface="Arial Regular" charset="0"/>
                <a:cs typeface="Arial Regular" charset="0"/>
              </a:rPr>
              <a:t> virtualization software (such as VMWare Workstation for Windows and VMWare Fusion for MacOS) from a supported download site. Account information forthcoming.</a:t>
            </a:r>
          </a:p>
        </p:txBody>
      </p:sp>
      <p:sp>
        <p:nvSpPr>
          <p:cNvPr id="6" name="Circle">
            <a:extLst>
              <a:ext uri="{FF2B5EF4-FFF2-40B4-BE49-F238E27FC236}">
                <a16:creationId xmlns:a16="http://schemas.microsoft.com/office/drawing/2014/main" id="{622C17DE-4504-4996-B2CD-401614CCA495}"/>
              </a:ext>
            </a:extLst>
          </p:cNvPr>
          <p:cNvSpPr/>
          <p:nvPr/>
        </p:nvSpPr>
        <p:spPr>
          <a:xfrm>
            <a:off x="2168471" y="6227494"/>
            <a:ext cx="214553" cy="214554"/>
          </a:xfrm>
          <a:prstGeom prst="ellipse">
            <a:avLst/>
          </a:prstGeom>
          <a:solidFill>
            <a:schemeClr val="accent2"/>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solidFill>
                <a:schemeClr val="tx2"/>
              </a:solidFill>
              <a:latin typeface="Montserrat" panose="02000505000000020004" pitchFamily="2" charset="0"/>
              <a:ea typeface="Arial Regular" charset="0"/>
              <a:cs typeface="Arial Regular" charset="0"/>
            </a:endParaRPr>
          </a:p>
        </p:txBody>
      </p:sp>
      <p:sp>
        <p:nvSpPr>
          <p:cNvPr id="7" name="Circle">
            <a:extLst>
              <a:ext uri="{FF2B5EF4-FFF2-40B4-BE49-F238E27FC236}">
                <a16:creationId xmlns:a16="http://schemas.microsoft.com/office/drawing/2014/main" id="{B71709F8-EB41-4CA0-9A1E-E069CCF0FA54}"/>
              </a:ext>
            </a:extLst>
          </p:cNvPr>
          <p:cNvSpPr/>
          <p:nvPr/>
        </p:nvSpPr>
        <p:spPr>
          <a:xfrm>
            <a:off x="1848358" y="6227494"/>
            <a:ext cx="214554" cy="214554"/>
          </a:xfrm>
          <a:prstGeom prst="ellipse">
            <a:avLst/>
          </a:prstGeom>
          <a:solidFill>
            <a:schemeClr val="accent3"/>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solidFill>
                <a:schemeClr val="tx2"/>
              </a:solidFill>
              <a:latin typeface="Montserrat" panose="02000505000000020004" pitchFamily="2" charset="0"/>
              <a:ea typeface="Arial Regular" charset="0"/>
              <a:cs typeface="Arial Regular" charset="0"/>
            </a:endParaRPr>
          </a:p>
        </p:txBody>
      </p:sp>
      <p:sp>
        <p:nvSpPr>
          <p:cNvPr id="8" name="Circle">
            <a:extLst>
              <a:ext uri="{FF2B5EF4-FFF2-40B4-BE49-F238E27FC236}">
                <a16:creationId xmlns:a16="http://schemas.microsoft.com/office/drawing/2014/main" id="{719FF64F-C607-43F4-97BF-D34E17D4BDFF}"/>
              </a:ext>
            </a:extLst>
          </p:cNvPr>
          <p:cNvSpPr/>
          <p:nvPr/>
        </p:nvSpPr>
        <p:spPr>
          <a:xfrm>
            <a:off x="1528244" y="6227494"/>
            <a:ext cx="214553" cy="214554"/>
          </a:xfrm>
          <a:prstGeom prst="ellipse">
            <a:avLst/>
          </a:prstGeom>
          <a:solidFill>
            <a:schemeClr val="accent1"/>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solidFill>
                <a:schemeClr val="tx2"/>
              </a:solidFill>
              <a:latin typeface="Montserrat" panose="02000505000000020004" pitchFamily="2" charset="0"/>
              <a:ea typeface="Arial Regular" charset="0"/>
              <a:cs typeface="Arial Regular" charset="0"/>
            </a:endParaRPr>
          </a:p>
        </p:txBody>
      </p:sp>
      <p:sp>
        <p:nvSpPr>
          <p:cNvPr id="9" name="Circle">
            <a:extLst>
              <a:ext uri="{FF2B5EF4-FFF2-40B4-BE49-F238E27FC236}">
                <a16:creationId xmlns:a16="http://schemas.microsoft.com/office/drawing/2014/main" id="{F7C05506-ABAD-4E69-A86F-10C179E5EFEA}"/>
              </a:ext>
            </a:extLst>
          </p:cNvPr>
          <p:cNvSpPr/>
          <p:nvPr/>
        </p:nvSpPr>
        <p:spPr>
          <a:xfrm>
            <a:off x="1207087" y="6227494"/>
            <a:ext cx="214553" cy="214554"/>
          </a:xfrm>
          <a:prstGeom prst="ellipse">
            <a:avLst/>
          </a:prstGeom>
          <a:solidFill>
            <a:schemeClr val="accent4"/>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solidFill>
                <a:schemeClr val="tx2"/>
              </a:solidFill>
              <a:latin typeface="Montserrat" panose="02000505000000020004" pitchFamily="2" charset="0"/>
              <a:ea typeface="Arial Regular" charset="0"/>
              <a:cs typeface="Arial Regular" charset="0"/>
            </a:endParaRPr>
          </a:p>
        </p:txBody>
      </p:sp>
    </p:spTree>
    <p:custDataLst>
      <p:tags r:id="rId1"/>
    </p:custDataLst>
    <p:extLst>
      <p:ext uri="{BB962C8B-B14F-4D97-AF65-F5344CB8AC3E}">
        <p14:creationId xmlns:p14="http://schemas.microsoft.com/office/powerpoint/2010/main" val="1950058164"/>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curity">
            <a:extLst>
              <a:ext uri="{FF2B5EF4-FFF2-40B4-BE49-F238E27FC236}">
                <a16:creationId xmlns:a16="http://schemas.microsoft.com/office/drawing/2014/main" id="{DA9002C0-3B39-4D5E-B76A-51AB728215F3}"/>
              </a:ext>
            </a:extLst>
          </p:cNvPr>
          <p:cNvSpPr>
            <a:spLocks noGrp="1"/>
          </p:cNvSpPr>
          <p:nvPr>
            <p:ph type="title" idx="4294967295"/>
          </p:nvPr>
        </p:nvSpPr>
        <p:spPr>
          <a:xfrm>
            <a:off x="1063690" y="436182"/>
            <a:ext cx="22617404" cy="892937"/>
          </a:xfrm>
          <a:prstGeom prst="rect">
            <a:avLst/>
          </a:prstGeom>
          <a:noFill/>
          <a:ln w="12700">
            <a:noFill/>
            <a:prstDash/>
            <a:miter lim="400000"/>
          </a:ln>
          <a:effectLst/>
          <a:extLst>
            <a:ext uri="{C572A759-6A51-4108-AA02-DFA0A04FC94B}">
              <ma14:wrappingTextBoxFlag xmlns:ma14="http://schemas.microsoft.com/office/mac/drawingml/2011/main" xmlns="" val="1"/>
            </a:ext>
          </a:ex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lvl1pPr defTabSz="1155700">
              <a:lnSpc>
                <a:spcPct val="80000"/>
              </a:lnSpc>
              <a:defRPr sz="7200" cap="all">
                <a:solidFill>
                  <a:srgbClr val="FFFFFF"/>
                </a:solidFill>
                <a:latin typeface="Montserrat Bold"/>
                <a:ea typeface="Montserrat Bold"/>
                <a:cs typeface="Montserrat Bold"/>
                <a:sym typeface="Montserrat Bold"/>
              </a:defRPr>
            </a:lvl1pPr>
          </a:lstStyle>
          <a:p>
            <a:pPr marL="0" marR="0" lvl="0" indent="0" algn="ctr" defTabSz="1155700" rtl="0" eaLnBrk="1" fontAlgn="auto" latinLnBrk="0" hangingPunct="0">
              <a:lnSpc>
                <a:spcPct val="80000"/>
              </a:lnSpc>
              <a:spcBef>
                <a:spcPts val="0"/>
              </a:spcBef>
              <a:spcAft>
                <a:spcPts val="0"/>
              </a:spcAft>
              <a:buClrTx/>
              <a:buSzTx/>
              <a:buFontTx/>
              <a:buNone/>
              <a:tabLst/>
              <a:defRPr/>
            </a:pPr>
            <a:r>
              <a:rPr kumimoji="0" lang="en-US" sz="7200" b="1" i="0" u="none" strike="noStrike" kern="0" cap="all" spc="0" normalizeH="0" baseline="0" noProof="0" dirty="0">
                <a:ln>
                  <a:noFill/>
                </a:ln>
                <a:solidFill>
                  <a:schemeClr val="tx2"/>
                </a:solidFill>
                <a:effectLst/>
                <a:uLnTx/>
                <a:uFillTx/>
                <a:latin typeface="Montserrat" panose="02000505000000020004" pitchFamily="2" charset="0"/>
                <a:ea typeface="Montserrat Bold"/>
                <a:cs typeface="Montserrat Bold"/>
                <a:sym typeface="Montserrat Bold"/>
              </a:rPr>
              <a:t>Kali Linux</a:t>
            </a:r>
          </a:p>
        </p:txBody>
      </p:sp>
      <p:sp>
        <p:nvSpPr>
          <p:cNvPr id="4" name="Cyber Security…">
            <a:extLst>
              <a:ext uri="{FF2B5EF4-FFF2-40B4-BE49-F238E27FC236}">
                <a16:creationId xmlns:a16="http://schemas.microsoft.com/office/drawing/2014/main" id="{D4F234CF-4317-4576-A863-7182EB0AD45F}"/>
              </a:ext>
            </a:extLst>
          </p:cNvPr>
          <p:cNvSpPr/>
          <p:nvPr/>
        </p:nvSpPr>
        <p:spPr>
          <a:xfrm>
            <a:off x="1205061" y="4338078"/>
            <a:ext cx="10308915" cy="988540"/>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nchor="ctr">
            <a:spAutoFit/>
          </a:bodyPr>
          <a:lstStyle/>
          <a:p>
            <a:pPr algn="l" defTabSz="1155700">
              <a:lnSpc>
                <a:spcPct val="80000"/>
              </a:lnSpc>
              <a:defRPr sz="7200">
                <a:solidFill>
                  <a:srgbClr val="FFFFFF"/>
                </a:solidFill>
                <a:latin typeface="Montserrat Bold"/>
                <a:ea typeface="Montserrat Bold"/>
                <a:cs typeface="Montserrat Bold"/>
                <a:sym typeface="Montserrat Bold"/>
              </a:defRPr>
            </a:pPr>
            <a:r>
              <a:rPr lang="en-US" sz="4000" dirty="0">
                <a:solidFill>
                  <a:schemeClr val="accent2"/>
                </a:solidFill>
                <a:latin typeface="Montserrat" panose="02000505000000020004" pitchFamily="2" charset="0"/>
                <a:hlinkClick r:id="rId4">
                  <a:extLst>
                    <a:ext uri="{A12FA001-AC4F-418D-AE19-62706E023703}">
                      <ahyp:hlinkClr xmlns:ahyp="http://schemas.microsoft.com/office/drawing/2018/hyperlinkcolor" val="tx"/>
                    </a:ext>
                  </a:extLst>
                </a:hlinkClick>
              </a:rPr>
              <a:t>Kali</a:t>
            </a:r>
            <a:r>
              <a:rPr lang="en-US" sz="4000" dirty="0">
                <a:solidFill>
                  <a:schemeClr val="tx2"/>
                </a:solidFill>
                <a:latin typeface="Montserrat" panose="02000505000000020004" pitchFamily="2" charset="0"/>
              </a:rPr>
              <a:t> is a distribution of Linux prepared by </a:t>
            </a:r>
            <a:r>
              <a:rPr lang="en-US" sz="4000" dirty="0">
                <a:solidFill>
                  <a:schemeClr val="accent2"/>
                </a:solidFill>
                <a:latin typeface="Montserrat" panose="02000505000000020004" pitchFamily="2" charset="0"/>
                <a:hlinkClick r:id="rId5">
                  <a:extLst>
                    <a:ext uri="{A12FA001-AC4F-418D-AE19-62706E023703}">
                      <ahyp:hlinkClr xmlns:ahyp="http://schemas.microsoft.com/office/drawing/2018/hyperlinkcolor" val="tx"/>
                    </a:ext>
                  </a:extLst>
                </a:hlinkClick>
              </a:rPr>
              <a:t>Offensive Security</a:t>
            </a:r>
            <a:r>
              <a:rPr lang="en-US" sz="4000" dirty="0">
                <a:solidFill>
                  <a:schemeClr val="tx2"/>
                </a:solidFill>
                <a:latin typeface="Montserrat" panose="02000505000000020004" pitchFamily="2" charset="0"/>
              </a:rPr>
              <a:t>.</a:t>
            </a:r>
          </a:p>
        </p:txBody>
      </p:sp>
      <p:sp>
        <p:nvSpPr>
          <p:cNvPr id="5" name="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a:extLst>
              <a:ext uri="{FF2B5EF4-FFF2-40B4-BE49-F238E27FC236}">
                <a16:creationId xmlns:a16="http://schemas.microsoft.com/office/drawing/2014/main" id="{E7B40CCE-7740-4723-9216-12033A2F3A4C}"/>
              </a:ext>
            </a:extLst>
          </p:cNvPr>
          <p:cNvSpPr/>
          <p:nvPr/>
        </p:nvSpPr>
        <p:spPr>
          <a:xfrm>
            <a:off x="1212850" y="6879285"/>
            <a:ext cx="10301126" cy="3581686"/>
          </a:xfrm>
          <a:prstGeom prst="rect">
            <a:avLst/>
          </a:prstGeom>
          <a:ln w="12700"/>
          <a:extLst>
            <a:ext uri="{C572A759-6A51-4108-AA02-DFA0A04FC94B}">
              <ma14:wrappingTextBoxFlag xmlns:ma14="http://schemas.microsoft.com/office/mac/drawingml/2011/main" xmlns="" val="1"/>
            </a:ext>
          </a:extLst>
        </p:spPr>
        <p:txBody>
          <a:bodyPr wrap="square" lIns="0" tIns="0" rIns="0" bIns="0">
            <a:spAutoFit/>
          </a:bodyPr>
          <a:lstStyle>
            <a:lvl1pPr algn="l" defTabSz="952500">
              <a:lnSpc>
                <a:spcPct val="130000"/>
              </a:lnSpc>
              <a:buClr>
                <a:srgbClr val="E9F6FA"/>
              </a:buClr>
              <a:buFont typeface="Helvetica Neue UltraLight"/>
              <a:defRPr sz="3000">
                <a:solidFill>
                  <a:srgbClr val="FFFFFF"/>
                </a:solidFill>
                <a:uFill>
                  <a:solidFill>
                    <a:srgbClr val="FFFFFF"/>
                  </a:solidFill>
                </a:uFill>
                <a:latin typeface="Helvetica Neue"/>
                <a:ea typeface="Helvetica Neue"/>
                <a:cs typeface="Helvetica Neue"/>
                <a:sym typeface="Helvetica Neue"/>
              </a:defRPr>
            </a:lvl1pPr>
          </a:lstStyle>
          <a:p>
            <a:pPr>
              <a:spcBef>
                <a:spcPts val="600"/>
              </a:spcBef>
              <a:spcAft>
                <a:spcPts val="600"/>
              </a:spcAft>
            </a:pPr>
            <a:r>
              <a:rPr lang="en-US" sz="2900" dirty="0">
                <a:solidFill>
                  <a:schemeClr val="tx2"/>
                </a:solidFill>
                <a:latin typeface="Montserrat" panose="02000505000000020004" pitchFamily="2" charset="0"/>
                <a:ea typeface="Arial Regular" charset="0"/>
                <a:cs typeface="Arial Regular" charset="0"/>
              </a:rPr>
              <a:t>A </a:t>
            </a:r>
            <a:r>
              <a:rPr lang="en-US" sz="2900" dirty="0" err="1">
                <a:solidFill>
                  <a:schemeClr val="tx2"/>
                </a:solidFill>
                <a:latin typeface="Montserrat" panose="02000505000000020004" pitchFamily="2" charset="0"/>
                <a:ea typeface="Arial Regular" charset="0"/>
                <a:cs typeface="Arial Regular" charset="0"/>
              </a:rPr>
              <a:t>linux</a:t>
            </a:r>
            <a:r>
              <a:rPr lang="en-US" sz="2900" dirty="0">
                <a:solidFill>
                  <a:schemeClr val="tx2"/>
                </a:solidFill>
                <a:latin typeface="Montserrat" panose="02000505000000020004" pitchFamily="2" charset="0"/>
                <a:ea typeface="Arial Regular" charset="0"/>
                <a:cs typeface="Arial Regular" charset="0"/>
              </a:rPr>
              <a:t> </a:t>
            </a:r>
            <a:r>
              <a:rPr lang="en-US" sz="2900" i="1" dirty="0">
                <a:solidFill>
                  <a:schemeClr val="tx2"/>
                </a:solidFill>
                <a:latin typeface="Montserrat" panose="02000505000000020004" pitchFamily="2" charset="0"/>
                <a:ea typeface="Arial Regular" charset="0"/>
                <a:cs typeface="Arial Regular" charset="0"/>
              </a:rPr>
              <a:t>distro</a:t>
            </a:r>
            <a:r>
              <a:rPr lang="en-US" sz="2900" dirty="0">
                <a:solidFill>
                  <a:schemeClr val="tx2"/>
                </a:solidFill>
                <a:latin typeface="Montserrat" panose="02000505000000020004" pitchFamily="2" charset="0"/>
                <a:ea typeface="Arial Regular" charset="0"/>
                <a:cs typeface="Arial Regular" charset="0"/>
              </a:rPr>
              <a:t> is a combination of a base operating system and a set of installed software applications and libraries.</a:t>
            </a:r>
          </a:p>
          <a:p>
            <a:pPr>
              <a:spcBef>
                <a:spcPts val="600"/>
              </a:spcBef>
              <a:spcAft>
                <a:spcPts val="600"/>
              </a:spcAft>
            </a:pPr>
            <a:r>
              <a:rPr lang="en-US" sz="2900" dirty="0">
                <a:solidFill>
                  <a:schemeClr val="tx2"/>
                </a:solidFill>
                <a:latin typeface="Montserrat" panose="02000505000000020004" pitchFamily="2" charset="0"/>
                <a:ea typeface="Arial Regular" charset="0"/>
                <a:cs typeface="Arial Regular" charset="0"/>
              </a:rPr>
              <a:t>Kali is based on the Debian version of Linux and contains a variety of software tools that have been designed and used for penetration testing.</a:t>
            </a:r>
          </a:p>
        </p:txBody>
      </p:sp>
      <p:sp>
        <p:nvSpPr>
          <p:cNvPr id="6" name="Circle">
            <a:extLst>
              <a:ext uri="{FF2B5EF4-FFF2-40B4-BE49-F238E27FC236}">
                <a16:creationId xmlns:a16="http://schemas.microsoft.com/office/drawing/2014/main" id="{622C17DE-4504-4996-B2CD-401614CCA495}"/>
              </a:ext>
            </a:extLst>
          </p:cNvPr>
          <p:cNvSpPr/>
          <p:nvPr/>
        </p:nvSpPr>
        <p:spPr>
          <a:xfrm>
            <a:off x="2168471" y="6227494"/>
            <a:ext cx="214553" cy="214554"/>
          </a:xfrm>
          <a:prstGeom prst="ellipse">
            <a:avLst/>
          </a:prstGeom>
          <a:solidFill>
            <a:schemeClr val="accent2"/>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solidFill>
                <a:schemeClr val="tx2"/>
              </a:solidFill>
              <a:latin typeface="Montserrat" panose="02000505000000020004" pitchFamily="2" charset="0"/>
              <a:ea typeface="Arial Regular" charset="0"/>
              <a:cs typeface="Arial Regular" charset="0"/>
            </a:endParaRPr>
          </a:p>
        </p:txBody>
      </p:sp>
      <p:sp>
        <p:nvSpPr>
          <p:cNvPr id="7" name="Circle">
            <a:extLst>
              <a:ext uri="{FF2B5EF4-FFF2-40B4-BE49-F238E27FC236}">
                <a16:creationId xmlns:a16="http://schemas.microsoft.com/office/drawing/2014/main" id="{B71709F8-EB41-4CA0-9A1E-E069CCF0FA54}"/>
              </a:ext>
            </a:extLst>
          </p:cNvPr>
          <p:cNvSpPr/>
          <p:nvPr/>
        </p:nvSpPr>
        <p:spPr>
          <a:xfrm>
            <a:off x="1848358" y="6227494"/>
            <a:ext cx="214554" cy="214554"/>
          </a:xfrm>
          <a:prstGeom prst="ellipse">
            <a:avLst/>
          </a:prstGeom>
          <a:solidFill>
            <a:schemeClr val="accent3"/>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solidFill>
                <a:schemeClr val="tx2"/>
              </a:solidFill>
              <a:latin typeface="Montserrat" panose="02000505000000020004" pitchFamily="2" charset="0"/>
              <a:ea typeface="Arial Regular" charset="0"/>
              <a:cs typeface="Arial Regular" charset="0"/>
            </a:endParaRPr>
          </a:p>
        </p:txBody>
      </p:sp>
      <p:sp>
        <p:nvSpPr>
          <p:cNvPr id="8" name="Circle">
            <a:extLst>
              <a:ext uri="{FF2B5EF4-FFF2-40B4-BE49-F238E27FC236}">
                <a16:creationId xmlns:a16="http://schemas.microsoft.com/office/drawing/2014/main" id="{719FF64F-C607-43F4-97BF-D34E17D4BDFF}"/>
              </a:ext>
            </a:extLst>
          </p:cNvPr>
          <p:cNvSpPr/>
          <p:nvPr/>
        </p:nvSpPr>
        <p:spPr>
          <a:xfrm>
            <a:off x="1528244" y="6227494"/>
            <a:ext cx="214553" cy="214554"/>
          </a:xfrm>
          <a:prstGeom prst="ellipse">
            <a:avLst/>
          </a:prstGeom>
          <a:solidFill>
            <a:schemeClr val="accent1"/>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solidFill>
                <a:schemeClr val="tx2"/>
              </a:solidFill>
              <a:latin typeface="Montserrat" panose="02000505000000020004" pitchFamily="2" charset="0"/>
              <a:ea typeface="Arial Regular" charset="0"/>
              <a:cs typeface="Arial Regular" charset="0"/>
            </a:endParaRPr>
          </a:p>
        </p:txBody>
      </p:sp>
      <p:sp>
        <p:nvSpPr>
          <p:cNvPr id="9" name="Circle">
            <a:extLst>
              <a:ext uri="{FF2B5EF4-FFF2-40B4-BE49-F238E27FC236}">
                <a16:creationId xmlns:a16="http://schemas.microsoft.com/office/drawing/2014/main" id="{F7C05506-ABAD-4E69-A86F-10C179E5EFEA}"/>
              </a:ext>
            </a:extLst>
          </p:cNvPr>
          <p:cNvSpPr/>
          <p:nvPr/>
        </p:nvSpPr>
        <p:spPr>
          <a:xfrm>
            <a:off x="1207087" y="6227494"/>
            <a:ext cx="214553" cy="214554"/>
          </a:xfrm>
          <a:prstGeom prst="ellipse">
            <a:avLst/>
          </a:prstGeom>
          <a:solidFill>
            <a:schemeClr val="accent4"/>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solidFill>
                <a:schemeClr val="tx2"/>
              </a:solidFill>
              <a:latin typeface="Montserrat" panose="02000505000000020004" pitchFamily="2" charset="0"/>
              <a:ea typeface="Arial Regular" charset="0"/>
              <a:cs typeface="Arial Regular" charset="0"/>
            </a:endParaRPr>
          </a:p>
        </p:txBody>
      </p:sp>
      <p:pic>
        <p:nvPicPr>
          <p:cNvPr id="2" name="Picture 1">
            <a:extLst>
              <a:ext uri="{FF2B5EF4-FFF2-40B4-BE49-F238E27FC236}">
                <a16:creationId xmlns:a16="http://schemas.microsoft.com/office/drawing/2014/main" id="{C7D2DC30-ED21-4489-ADB0-CCE33D4D0D0F}"/>
              </a:ex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13482301" y="4504353"/>
            <a:ext cx="9231086" cy="5192486"/>
          </a:xfrm>
          <a:prstGeom prst="rect">
            <a:avLst/>
          </a:prstGeom>
        </p:spPr>
      </p:pic>
      <p:sp>
        <p:nvSpPr>
          <p:cNvPr id="11" name="Rectangle">
            <a:extLst>
              <a:ext uri="{FF2B5EF4-FFF2-40B4-BE49-F238E27FC236}">
                <a16:creationId xmlns:a16="http://schemas.microsoft.com/office/drawing/2014/main" id="{C6F31DA3-D314-4475-B594-967694C7CAF0}"/>
              </a:ext>
            </a:extLst>
          </p:cNvPr>
          <p:cNvSpPr/>
          <p:nvPr/>
        </p:nvSpPr>
        <p:spPr>
          <a:xfrm>
            <a:off x="13024539" y="3993502"/>
            <a:ext cx="10146611" cy="6214188"/>
          </a:xfrm>
          <a:prstGeom prst="roundRect">
            <a:avLst>
              <a:gd name="adj" fmla="val 0"/>
            </a:avLst>
          </a:prstGeom>
          <a:ln w="50800">
            <a:solidFill>
              <a:schemeClr val="accent4"/>
            </a:solidFill>
            <a:miter lim="400000"/>
          </a:ln>
        </p:spPr>
        <p:txBody>
          <a:bodyPr lIns="50800" tIns="50800" rIns="50800" bIns="50800" anchor="ctr"/>
          <a:lstStyle/>
          <a:p>
            <a:pPr defTabSz="584200">
              <a:defRPr sz="4000">
                <a:solidFill>
                  <a:srgbClr val="FFFFFF"/>
                </a:solidFill>
                <a:effectLst>
                  <a:outerShdw blurRad="38100" dist="12700" dir="5400000" rotWithShape="0">
                    <a:srgbClr val="000000">
                      <a:alpha val="50000"/>
                    </a:srgbClr>
                  </a:outerShdw>
                </a:effectLst>
              </a:defRPr>
            </a:pPr>
            <a:endParaRPr dirty="0">
              <a:latin typeface="Calibri Regular"/>
              <a:ea typeface="Arial Regular" charset="0"/>
              <a:cs typeface="Arial Regular" charset="0"/>
            </a:endParaRPr>
          </a:p>
        </p:txBody>
      </p:sp>
    </p:spTree>
    <p:custDataLst>
      <p:tags r:id="rId1"/>
    </p:custDataLst>
    <p:extLst>
      <p:ext uri="{BB962C8B-B14F-4D97-AF65-F5344CB8AC3E}">
        <p14:creationId xmlns:p14="http://schemas.microsoft.com/office/powerpoint/2010/main" val="189826427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curity">
            <a:extLst>
              <a:ext uri="{FF2B5EF4-FFF2-40B4-BE49-F238E27FC236}">
                <a16:creationId xmlns:a16="http://schemas.microsoft.com/office/drawing/2014/main" id="{DA9002C0-3B39-4D5E-B76A-51AB728215F3}"/>
              </a:ext>
            </a:extLst>
          </p:cNvPr>
          <p:cNvSpPr>
            <a:spLocks noGrp="1"/>
          </p:cNvSpPr>
          <p:nvPr>
            <p:ph type="title" idx="4294967295"/>
          </p:nvPr>
        </p:nvSpPr>
        <p:spPr>
          <a:xfrm>
            <a:off x="1063690" y="510593"/>
            <a:ext cx="22617404" cy="744114"/>
          </a:xfrm>
          <a:prstGeom prst="rect">
            <a:avLst/>
          </a:prstGeom>
          <a:noFill/>
          <a:ln w="12700">
            <a:noFill/>
            <a:prstDash/>
            <a:miter lim="400000"/>
          </a:ln>
          <a:effectLst/>
          <a:extLst>
            <a:ext uri="{C572A759-6A51-4108-AA02-DFA0A04FC94B}">
              <ma14:wrappingTextBoxFlag xmlns:ma14="http://schemas.microsoft.com/office/mac/drawingml/2011/main" xmlns="" val="1"/>
            </a:ext>
          </a:ex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lvl1pPr defTabSz="1155700">
              <a:lnSpc>
                <a:spcPct val="80000"/>
              </a:lnSpc>
              <a:defRPr sz="7200" cap="all">
                <a:solidFill>
                  <a:srgbClr val="FFFFFF"/>
                </a:solidFill>
                <a:latin typeface="Montserrat Bold"/>
                <a:ea typeface="Montserrat Bold"/>
                <a:cs typeface="Montserrat Bold"/>
                <a:sym typeface="Montserrat Bold"/>
              </a:defRPr>
            </a:lvl1pPr>
          </a:lstStyle>
          <a:p>
            <a:pPr marL="0" marR="0" lvl="0" indent="0" algn="ctr" defTabSz="1155700" rtl="0" eaLnBrk="1" fontAlgn="auto" latinLnBrk="0" hangingPunct="0">
              <a:lnSpc>
                <a:spcPct val="80000"/>
              </a:lnSpc>
              <a:spcBef>
                <a:spcPts val="0"/>
              </a:spcBef>
              <a:spcAft>
                <a:spcPts val="0"/>
              </a:spcAft>
              <a:buClrTx/>
              <a:buSzTx/>
              <a:buFontTx/>
              <a:buNone/>
              <a:tabLst/>
              <a:defRPr/>
            </a:pPr>
            <a:r>
              <a:rPr kumimoji="0" lang="en-US" sz="6000" b="1" i="0" u="none" strike="noStrike" kern="0" cap="all" spc="0" normalizeH="0" baseline="0" noProof="0" dirty="0">
                <a:ln>
                  <a:noFill/>
                </a:ln>
                <a:solidFill>
                  <a:schemeClr val="tx2"/>
                </a:solidFill>
                <a:effectLst/>
                <a:uLnTx/>
                <a:uFillTx/>
                <a:latin typeface="Montserrat" panose="02000505000000020004" pitchFamily="2" charset="0"/>
                <a:ea typeface="Montserrat Bold"/>
                <a:cs typeface="Montserrat Bold"/>
                <a:sym typeface="Montserrat Bold"/>
              </a:rPr>
              <a:t>What’s a Kali VM and Why Would I Use One?</a:t>
            </a:r>
          </a:p>
        </p:txBody>
      </p:sp>
      <p:sp>
        <p:nvSpPr>
          <p:cNvPr id="4" name="Cyber Security…">
            <a:extLst>
              <a:ext uri="{FF2B5EF4-FFF2-40B4-BE49-F238E27FC236}">
                <a16:creationId xmlns:a16="http://schemas.microsoft.com/office/drawing/2014/main" id="{D4F234CF-4317-4576-A863-7182EB0AD45F}"/>
              </a:ext>
            </a:extLst>
          </p:cNvPr>
          <p:cNvSpPr/>
          <p:nvPr/>
        </p:nvSpPr>
        <p:spPr>
          <a:xfrm>
            <a:off x="1205061" y="2169754"/>
            <a:ext cx="12137715" cy="1480983"/>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nchor="ctr">
            <a:spAutoFit/>
          </a:bodyPr>
          <a:lstStyle/>
          <a:p>
            <a:pPr algn="l" defTabSz="1155700">
              <a:lnSpc>
                <a:spcPct val="80000"/>
              </a:lnSpc>
              <a:defRPr sz="7200">
                <a:solidFill>
                  <a:srgbClr val="FFFFFF"/>
                </a:solidFill>
                <a:latin typeface="Montserrat Bold"/>
                <a:ea typeface="Montserrat Bold"/>
                <a:cs typeface="Montserrat Bold"/>
                <a:sym typeface="Montserrat Bold"/>
              </a:defRPr>
            </a:pPr>
            <a:r>
              <a:rPr lang="en-US" sz="4000" dirty="0">
                <a:solidFill>
                  <a:schemeClr val="tx1"/>
                </a:solidFill>
                <a:latin typeface="Montserrat" panose="02000505000000020004" pitchFamily="2" charset="0"/>
              </a:rPr>
              <a:t>A Kali VM is a virtual machine that behaves as a Kali Linux machine operating under the control of your host system.</a:t>
            </a:r>
          </a:p>
        </p:txBody>
      </p:sp>
      <p:sp>
        <p:nvSpPr>
          <p:cNvPr id="5" name="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a:extLst>
              <a:ext uri="{FF2B5EF4-FFF2-40B4-BE49-F238E27FC236}">
                <a16:creationId xmlns:a16="http://schemas.microsoft.com/office/drawing/2014/main" id="{E7B40CCE-7740-4723-9216-12033A2F3A4C}"/>
              </a:ext>
            </a:extLst>
          </p:cNvPr>
          <p:cNvSpPr/>
          <p:nvPr/>
        </p:nvSpPr>
        <p:spPr>
          <a:xfrm>
            <a:off x="1212850" y="4957182"/>
            <a:ext cx="12137714" cy="8181407"/>
          </a:xfrm>
          <a:prstGeom prst="rect">
            <a:avLst/>
          </a:prstGeom>
          <a:ln w="12700"/>
          <a:extLst>
            <a:ext uri="{C572A759-6A51-4108-AA02-DFA0A04FC94B}">
              <ma14:wrappingTextBoxFlag xmlns:ma14="http://schemas.microsoft.com/office/mac/drawingml/2011/main" xmlns="" val="1"/>
            </a:ext>
          </a:extLst>
        </p:spPr>
        <p:txBody>
          <a:bodyPr wrap="square" lIns="0" tIns="0" rIns="0" bIns="0">
            <a:spAutoFit/>
          </a:bodyPr>
          <a:lstStyle>
            <a:lvl1pPr algn="l" defTabSz="952500">
              <a:lnSpc>
                <a:spcPct val="130000"/>
              </a:lnSpc>
              <a:buClr>
                <a:srgbClr val="E9F6FA"/>
              </a:buClr>
              <a:buFont typeface="Helvetica Neue UltraLight"/>
              <a:defRPr sz="3000">
                <a:solidFill>
                  <a:srgbClr val="FFFFFF"/>
                </a:solidFill>
                <a:uFill>
                  <a:solidFill>
                    <a:srgbClr val="FFFFFF"/>
                  </a:solidFill>
                </a:uFill>
                <a:latin typeface="Helvetica Neue"/>
                <a:ea typeface="Helvetica Neue"/>
                <a:cs typeface="Helvetica Neue"/>
                <a:sym typeface="Helvetica Neue"/>
              </a:defRPr>
            </a:lvl1pPr>
          </a:lstStyle>
          <a:p>
            <a:pPr>
              <a:spcBef>
                <a:spcPts val="600"/>
              </a:spcBef>
              <a:spcAft>
                <a:spcPts val="1200"/>
              </a:spcAft>
            </a:pPr>
            <a:r>
              <a:rPr lang="en-US" sz="2900" b="1" dirty="0">
                <a:solidFill>
                  <a:schemeClr val="tx2"/>
                </a:solidFill>
                <a:latin typeface="Montserrat" panose="02000505000000020004" pitchFamily="2" charset="0"/>
                <a:ea typeface="Arial Regular" charset="0"/>
                <a:cs typeface="Arial Regular" charset="0"/>
              </a:rPr>
              <a:t>Penetration testers often use virtual machines for several reasons:</a:t>
            </a:r>
          </a:p>
          <a:p>
            <a:pPr>
              <a:spcBef>
                <a:spcPts val="600"/>
              </a:spcBef>
              <a:spcAft>
                <a:spcPts val="1200"/>
              </a:spcAft>
            </a:pPr>
            <a:r>
              <a:rPr lang="en-US" sz="2900" dirty="0">
                <a:solidFill>
                  <a:schemeClr val="tx2"/>
                </a:solidFill>
                <a:latin typeface="Montserrat" panose="02000505000000020004" pitchFamily="2" charset="0"/>
                <a:ea typeface="Arial Regular" charset="0"/>
                <a:cs typeface="Arial Regular" charset="0"/>
              </a:rPr>
              <a:t>It may be necessary to use a variety of operating systems in a penetration test, but one doesn’t want to employ numerous physical machines.</a:t>
            </a:r>
          </a:p>
          <a:p>
            <a:pPr>
              <a:spcBef>
                <a:spcPts val="600"/>
              </a:spcBef>
              <a:spcAft>
                <a:spcPts val="1200"/>
              </a:spcAft>
            </a:pPr>
            <a:r>
              <a:rPr lang="en-US" sz="2900" dirty="0">
                <a:solidFill>
                  <a:schemeClr val="tx2"/>
                </a:solidFill>
                <a:latin typeface="Montserrat" panose="02000505000000020004" pitchFamily="2" charset="0"/>
                <a:ea typeface="Arial Regular" charset="0"/>
                <a:cs typeface="Arial Regular" charset="0"/>
              </a:rPr>
              <a:t>A virtual machine can be used and modified and then easily returned to its original state through a </a:t>
            </a:r>
            <a:r>
              <a:rPr lang="en-US" sz="2900" dirty="0">
                <a:solidFill>
                  <a:schemeClr val="accent4"/>
                </a:solidFill>
                <a:latin typeface="Montserrat" panose="02000505000000020004" pitchFamily="2" charset="0"/>
                <a:ea typeface="Arial Regular" charset="0"/>
                <a:cs typeface="Arial Regular" charset="0"/>
              </a:rPr>
              <a:t>snapshot</a:t>
            </a:r>
            <a:r>
              <a:rPr lang="en-US" sz="2900" dirty="0">
                <a:solidFill>
                  <a:schemeClr val="tx2"/>
                </a:solidFill>
                <a:latin typeface="Montserrat" panose="02000505000000020004" pitchFamily="2" charset="0"/>
                <a:ea typeface="Arial Regular" charset="0"/>
                <a:cs typeface="Arial Regular" charset="0"/>
              </a:rPr>
              <a:t>, that is, an instantaneous record of the machine state.</a:t>
            </a:r>
          </a:p>
          <a:p>
            <a:pPr>
              <a:spcBef>
                <a:spcPts val="600"/>
              </a:spcBef>
              <a:spcAft>
                <a:spcPts val="1200"/>
              </a:spcAft>
            </a:pPr>
            <a:r>
              <a:rPr lang="en-US" sz="2900" dirty="0">
                <a:solidFill>
                  <a:schemeClr val="tx2"/>
                </a:solidFill>
                <a:latin typeface="Montserrat" panose="02000505000000020004" pitchFamily="2" charset="0"/>
                <a:ea typeface="Arial Regular" charset="0"/>
                <a:cs typeface="Arial Regular" charset="0"/>
              </a:rPr>
              <a:t>If a virtual machine is compromised by an attacker, it is unlikely (but still possible) that your host machine can be compromised. Because penetration testers may use tools from dubious sources, it’s helpful to localize possible compromises to virtual machines (which can easily be rolled back to earlier snapshots).</a:t>
            </a:r>
          </a:p>
        </p:txBody>
      </p:sp>
      <p:sp>
        <p:nvSpPr>
          <p:cNvPr id="6" name="Circle">
            <a:extLst>
              <a:ext uri="{FF2B5EF4-FFF2-40B4-BE49-F238E27FC236}">
                <a16:creationId xmlns:a16="http://schemas.microsoft.com/office/drawing/2014/main" id="{622C17DE-4504-4996-B2CD-401614CCA495}"/>
              </a:ext>
            </a:extLst>
          </p:cNvPr>
          <p:cNvSpPr/>
          <p:nvPr/>
        </p:nvSpPr>
        <p:spPr>
          <a:xfrm>
            <a:off x="2168471" y="4305391"/>
            <a:ext cx="214553" cy="214554"/>
          </a:xfrm>
          <a:prstGeom prst="ellipse">
            <a:avLst/>
          </a:prstGeom>
          <a:solidFill>
            <a:schemeClr val="accent2"/>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solidFill>
                <a:schemeClr val="tx2"/>
              </a:solidFill>
              <a:latin typeface="Montserrat" panose="02000505000000020004" pitchFamily="2" charset="0"/>
              <a:ea typeface="Arial Regular" charset="0"/>
              <a:cs typeface="Arial Regular" charset="0"/>
            </a:endParaRPr>
          </a:p>
        </p:txBody>
      </p:sp>
      <p:sp>
        <p:nvSpPr>
          <p:cNvPr id="7" name="Circle">
            <a:extLst>
              <a:ext uri="{FF2B5EF4-FFF2-40B4-BE49-F238E27FC236}">
                <a16:creationId xmlns:a16="http://schemas.microsoft.com/office/drawing/2014/main" id="{B71709F8-EB41-4CA0-9A1E-E069CCF0FA54}"/>
              </a:ext>
            </a:extLst>
          </p:cNvPr>
          <p:cNvSpPr/>
          <p:nvPr/>
        </p:nvSpPr>
        <p:spPr>
          <a:xfrm>
            <a:off x="1848358" y="4305391"/>
            <a:ext cx="214554" cy="214554"/>
          </a:xfrm>
          <a:prstGeom prst="ellipse">
            <a:avLst/>
          </a:prstGeom>
          <a:solidFill>
            <a:schemeClr val="accent3"/>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solidFill>
                <a:schemeClr val="tx2"/>
              </a:solidFill>
              <a:latin typeface="Montserrat" panose="02000505000000020004" pitchFamily="2" charset="0"/>
              <a:ea typeface="Arial Regular" charset="0"/>
              <a:cs typeface="Arial Regular" charset="0"/>
            </a:endParaRPr>
          </a:p>
        </p:txBody>
      </p:sp>
      <p:sp>
        <p:nvSpPr>
          <p:cNvPr id="8" name="Circle">
            <a:extLst>
              <a:ext uri="{FF2B5EF4-FFF2-40B4-BE49-F238E27FC236}">
                <a16:creationId xmlns:a16="http://schemas.microsoft.com/office/drawing/2014/main" id="{719FF64F-C607-43F4-97BF-D34E17D4BDFF}"/>
              </a:ext>
            </a:extLst>
          </p:cNvPr>
          <p:cNvSpPr/>
          <p:nvPr/>
        </p:nvSpPr>
        <p:spPr>
          <a:xfrm>
            <a:off x="1528244" y="4305391"/>
            <a:ext cx="214553" cy="214554"/>
          </a:xfrm>
          <a:prstGeom prst="ellipse">
            <a:avLst/>
          </a:prstGeom>
          <a:solidFill>
            <a:schemeClr val="accent1"/>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solidFill>
                <a:schemeClr val="tx2"/>
              </a:solidFill>
              <a:latin typeface="Montserrat" panose="02000505000000020004" pitchFamily="2" charset="0"/>
              <a:ea typeface="Arial Regular" charset="0"/>
              <a:cs typeface="Arial Regular" charset="0"/>
            </a:endParaRPr>
          </a:p>
        </p:txBody>
      </p:sp>
      <p:sp>
        <p:nvSpPr>
          <p:cNvPr id="9" name="Circle">
            <a:extLst>
              <a:ext uri="{FF2B5EF4-FFF2-40B4-BE49-F238E27FC236}">
                <a16:creationId xmlns:a16="http://schemas.microsoft.com/office/drawing/2014/main" id="{F7C05506-ABAD-4E69-A86F-10C179E5EFEA}"/>
              </a:ext>
            </a:extLst>
          </p:cNvPr>
          <p:cNvSpPr/>
          <p:nvPr/>
        </p:nvSpPr>
        <p:spPr>
          <a:xfrm>
            <a:off x="1207087" y="4305391"/>
            <a:ext cx="214553" cy="214554"/>
          </a:xfrm>
          <a:prstGeom prst="ellipse">
            <a:avLst/>
          </a:prstGeom>
          <a:solidFill>
            <a:schemeClr val="accent4"/>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solidFill>
                <a:schemeClr val="tx2"/>
              </a:solidFill>
              <a:latin typeface="Montserrat" panose="02000505000000020004" pitchFamily="2" charset="0"/>
              <a:ea typeface="Arial Regular" charset="0"/>
              <a:cs typeface="Arial Regular" charset="0"/>
            </a:endParaRPr>
          </a:p>
        </p:txBody>
      </p:sp>
    </p:spTree>
    <p:custDataLst>
      <p:tags r:id="rId1"/>
    </p:custDataLst>
    <p:extLst>
      <p:ext uri="{BB962C8B-B14F-4D97-AF65-F5344CB8AC3E}">
        <p14:creationId xmlns:p14="http://schemas.microsoft.com/office/powerpoint/2010/main" val="2572134470"/>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curity">
            <a:extLst>
              <a:ext uri="{FF2B5EF4-FFF2-40B4-BE49-F238E27FC236}">
                <a16:creationId xmlns:a16="http://schemas.microsoft.com/office/drawing/2014/main" id="{DA9002C0-3B39-4D5E-B76A-51AB728215F3}"/>
              </a:ext>
            </a:extLst>
          </p:cNvPr>
          <p:cNvSpPr>
            <a:spLocks noGrp="1"/>
          </p:cNvSpPr>
          <p:nvPr>
            <p:ph type="title" idx="4294967295"/>
          </p:nvPr>
        </p:nvSpPr>
        <p:spPr>
          <a:xfrm>
            <a:off x="1063690" y="436182"/>
            <a:ext cx="22617404" cy="892937"/>
          </a:xfrm>
          <a:prstGeom prst="rect">
            <a:avLst/>
          </a:prstGeom>
          <a:noFill/>
          <a:ln w="12700">
            <a:noFill/>
            <a:prstDash/>
            <a:miter lim="400000"/>
          </a:ln>
          <a:effectLst/>
          <a:extLst>
            <a:ext uri="{C572A759-6A51-4108-AA02-DFA0A04FC94B}">
              <ma14:wrappingTextBoxFlag xmlns:ma14="http://schemas.microsoft.com/office/mac/drawingml/2011/main" xmlns="" val="1"/>
            </a:ext>
          </a:ex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lvl1pPr defTabSz="1155700">
              <a:lnSpc>
                <a:spcPct val="80000"/>
              </a:lnSpc>
              <a:defRPr sz="7200" cap="all">
                <a:solidFill>
                  <a:srgbClr val="FFFFFF"/>
                </a:solidFill>
                <a:latin typeface="Montserrat Bold"/>
                <a:ea typeface="Montserrat Bold"/>
                <a:cs typeface="Montserrat Bold"/>
                <a:sym typeface="Montserrat Bold"/>
              </a:defRPr>
            </a:lvl1pPr>
          </a:lstStyle>
          <a:p>
            <a:pPr marL="0" marR="0" lvl="0" indent="0" algn="ctr" defTabSz="1155700" rtl="0" eaLnBrk="1" fontAlgn="auto" latinLnBrk="0" hangingPunct="0">
              <a:lnSpc>
                <a:spcPct val="80000"/>
              </a:lnSpc>
              <a:spcBef>
                <a:spcPts val="0"/>
              </a:spcBef>
              <a:spcAft>
                <a:spcPts val="0"/>
              </a:spcAft>
              <a:buClrTx/>
              <a:buSzTx/>
              <a:buFontTx/>
              <a:buNone/>
              <a:tabLst/>
              <a:defRPr/>
            </a:pPr>
            <a:r>
              <a:rPr kumimoji="0" lang="en-US" sz="7200" b="1" i="0" u="none" strike="noStrike" kern="0" cap="all" spc="0" normalizeH="0" baseline="0" noProof="0" dirty="0">
                <a:ln>
                  <a:noFill/>
                </a:ln>
                <a:solidFill>
                  <a:schemeClr val="tx2"/>
                </a:solidFill>
                <a:effectLst/>
                <a:uLnTx/>
                <a:uFillTx/>
                <a:latin typeface="Montserrat" panose="02000505000000020004" pitchFamily="2" charset="0"/>
                <a:ea typeface="Montserrat Bold"/>
                <a:cs typeface="Montserrat Bold"/>
                <a:sym typeface="Montserrat Bold"/>
              </a:rPr>
              <a:t>Why Should I Care About Linux?</a:t>
            </a:r>
          </a:p>
        </p:txBody>
      </p:sp>
      <p:sp>
        <p:nvSpPr>
          <p:cNvPr id="4" name="Cyber Security…">
            <a:extLst>
              <a:ext uri="{FF2B5EF4-FFF2-40B4-BE49-F238E27FC236}">
                <a16:creationId xmlns:a16="http://schemas.microsoft.com/office/drawing/2014/main" id="{D4F234CF-4317-4576-A863-7182EB0AD45F}"/>
              </a:ext>
            </a:extLst>
          </p:cNvPr>
          <p:cNvSpPr/>
          <p:nvPr/>
        </p:nvSpPr>
        <p:spPr>
          <a:xfrm>
            <a:off x="1506236" y="4710178"/>
            <a:ext cx="10308915" cy="988540"/>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nchor="ctr">
            <a:spAutoFit/>
          </a:bodyPr>
          <a:lstStyle/>
          <a:p>
            <a:pPr algn="l" defTabSz="1155700">
              <a:lnSpc>
                <a:spcPct val="80000"/>
              </a:lnSpc>
              <a:defRPr sz="7200">
                <a:solidFill>
                  <a:srgbClr val="FFFFFF"/>
                </a:solidFill>
                <a:latin typeface="Montserrat Bold"/>
                <a:ea typeface="Montserrat Bold"/>
                <a:cs typeface="Montserrat Bold"/>
                <a:sym typeface="Montserrat Bold"/>
              </a:defRPr>
            </a:pPr>
            <a:r>
              <a:rPr lang="en-US" sz="4000" dirty="0">
                <a:solidFill>
                  <a:schemeClr val="tx1"/>
                </a:solidFill>
                <a:latin typeface="Montserrat" panose="02000505000000020004" pitchFamily="2" charset="0"/>
              </a:rPr>
              <a:t>Kali is a </a:t>
            </a:r>
            <a:r>
              <a:rPr lang="en-US" sz="4000" dirty="0" err="1">
                <a:solidFill>
                  <a:schemeClr val="tx1"/>
                </a:solidFill>
                <a:latin typeface="Montserrat" panose="02000505000000020004" pitchFamily="2" charset="0"/>
              </a:rPr>
              <a:t>linux</a:t>
            </a:r>
            <a:r>
              <a:rPr lang="en-US" sz="4000" dirty="0">
                <a:solidFill>
                  <a:schemeClr val="tx1"/>
                </a:solidFill>
                <a:latin typeface="Montserrat" panose="02000505000000020004" pitchFamily="2" charset="0"/>
              </a:rPr>
              <a:t> distro, so you won’t use it very well if you don’t use </a:t>
            </a:r>
            <a:r>
              <a:rPr lang="en-US" sz="4000" dirty="0" err="1">
                <a:solidFill>
                  <a:schemeClr val="tx1"/>
                </a:solidFill>
                <a:latin typeface="Montserrat" panose="02000505000000020004" pitchFamily="2" charset="0"/>
              </a:rPr>
              <a:t>linux</a:t>
            </a:r>
            <a:r>
              <a:rPr lang="en-US" sz="4000" dirty="0">
                <a:solidFill>
                  <a:schemeClr val="tx1"/>
                </a:solidFill>
                <a:latin typeface="Montserrat" panose="02000505000000020004" pitchFamily="2" charset="0"/>
              </a:rPr>
              <a:t> well.</a:t>
            </a:r>
          </a:p>
        </p:txBody>
      </p:sp>
      <p:sp>
        <p:nvSpPr>
          <p:cNvPr id="5" name="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a:extLst>
              <a:ext uri="{FF2B5EF4-FFF2-40B4-BE49-F238E27FC236}">
                <a16:creationId xmlns:a16="http://schemas.microsoft.com/office/drawing/2014/main" id="{E7B40CCE-7740-4723-9216-12033A2F3A4C}"/>
              </a:ext>
            </a:extLst>
          </p:cNvPr>
          <p:cNvSpPr/>
          <p:nvPr/>
        </p:nvSpPr>
        <p:spPr>
          <a:xfrm>
            <a:off x="1514025" y="7251385"/>
            <a:ext cx="10301126" cy="1687321"/>
          </a:xfrm>
          <a:prstGeom prst="rect">
            <a:avLst/>
          </a:prstGeom>
          <a:ln w="12700"/>
          <a:extLst>
            <a:ext uri="{C572A759-6A51-4108-AA02-DFA0A04FC94B}">
              <ma14:wrappingTextBoxFlag xmlns:ma14="http://schemas.microsoft.com/office/mac/drawingml/2011/main" xmlns="" val="1"/>
            </a:ext>
          </a:extLst>
        </p:spPr>
        <p:txBody>
          <a:bodyPr wrap="square" lIns="0" tIns="0" rIns="0" bIns="0">
            <a:spAutoFit/>
          </a:bodyPr>
          <a:lstStyle>
            <a:lvl1pPr algn="l" defTabSz="952500">
              <a:lnSpc>
                <a:spcPct val="130000"/>
              </a:lnSpc>
              <a:buClr>
                <a:srgbClr val="E9F6FA"/>
              </a:buClr>
              <a:buFont typeface="Helvetica Neue UltraLight"/>
              <a:defRPr sz="3000">
                <a:solidFill>
                  <a:srgbClr val="FFFFFF"/>
                </a:solidFill>
                <a:uFill>
                  <a:solidFill>
                    <a:srgbClr val="FFFFFF"/>
                  </a:solidFill>
                </a:uFill>
                <a:latin typeface="Helvetica Neue"/>
                <a:ea typeface="Helvetica Neue"/>
                <a:cs typeface="Helvetica Neue"/>
                <a:sym typeface="Helvetica Neue"/>
              </a:defRPr>
            </a:lvl1pPr>
          </a:lstStyle>
          <a:p>
            <a:pPr>
              <a:spcBef>
                <a:spcPts val="600"/>
              </a:spcBef>
              <a:spcAft>
                <a:spcPts val="600"/>
              </a:spcAft>
            </a:pPr>
            <a:r>
              <a:rPr lang="en-US" sz="2900" dirty="0">
                <a:solidFill>
                  <a:schemeClr val="tx2"/>
                </a:solidFill>
                <a:latin typeface="Montserrat" panose="02000505000000020004" pitchFamily="2" charset="0"/>
                <a:ea typeface="Arial Regular" charset="0"/>
                <a:cs typeface="Arial Regular" charset="0"/>
              </a:rPr>
              <a:t>The </a:t>
            </a:r>
            <a:r>
              <a:rPr lang="en-US" sz="2900" dirty="0" err="1">
                <a:solidFill>
                  <a:schemeClr val="tx2"/>
                </a:solidFill>
                <a:latin typeface="Montserrat" panose="02000505000000020004" pitchFamily="2" charset="0"/>
                <a:ea typeface="Arial Regular" charset="0"/>
                <a:cs typeface="Arial Regular" charset="0"/>
              </a:rPr>
              <a:t>linux</a:t>
            </a:r>
            <a:r>
              <a:rPr lang="en-US" sz="2900" dirty="0">
                <a:solidFill>
                  <a:schemeClr val="tx2"/>
                </a:solidFill>
                <a:latin typeface="Montserrat" panose="02000505000000020004" pitchFamily="2" charset="0"/>
                <a:ea typeface="Arial Regular" charset="0"/>
                <a:cs typeface="Arial Regular" charset="0"/>
              </a:rPr>
              <a:t> command line is king. Facility with the </a:t>
            </a:r>
            <a:r>
              <a:rPr lang="en-US" sz="2900" dirty="0" err="1">
                <a:solidFill>
                  <a:schemeClr val="tx2"/>
                </a:solidFill>
                <a:latin typeface="Montserrat" panose="02000505000000020004" pitchFamily="2" charset="0"/>
                <a:ea typeface="Arial Regular" charset="0"/>
                <a:cs typeface="Arial Regular" charset="0"/>
              </a:rPr>
              <a:t>linux</a:t>
            </a:r>
            <a:r>
              <a:rPr lang="en-US" sz="2900" dirty="0">
                <a:solidFill>
                  <a:schemeClr val="tx2"/>
                </a:solidFill>
                <a:latin typeface="Montserrat" panose="02000505000000020004" pitchFamily="2" charset="0"/>
                <a:ea typeface="Arial Regular" charset="0"/>
                <a:cs typeface="Arial Regular" charset="0"/>
              </a:rPr>
              <a:t> command line leads to penetration testing wins. Wins lead to glory. Glory leads to….</a:t>
            </a:r>
          </a:p>
        </p:txBody>
      </p:sp>
      <p:sp>
        <p:nvSpPr>
          <p:cNvPr id="6" name="Circle">
            <a:extLst>
              <a:ext uri="{FF2B5EF4-FFF2-40B4-BE49-F238E27FC236}">
                <a16:creationId xmlns:a16="http://schemas.microsoft.com/office/drawing/2014/main" id="{622C17DE-4504-4996-B2CD-401614CCA495}"/>
              </a:ext>
            </a:extLst>
          </p:cNvPr>
          <p:cNvSpPr/>
          <p:nvPr/>
        </p:nvSpPr>
        <p:spPr>
          <a:xfrm>
            <a:off x="2469646" y="6599594"/>
            <a:ext cx="214553" cy="214554"/>
          </a:xfrm>
          <a:prstGeom prst="ellipse">
            <a:avLst/>
          </a:prstGeom>
          <a:solidFill>
            <a:schemeClr val="accent2"/>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solidFill>
                <a:schemeClr val="tx2"/>
              </a:solidFill>
              <a:latin typeface="Montserrat" panose="02000505000000020004" pitchFamily="2" charset="0"/>
              <a:ea typeface="Arial Regular" charset="0"/>
              <a:cs typeface="Arial Regular" charset="0"/>
            </a:endParaRPr>
          </a:p>
        </p:txBody>
      </p:sp>
      <p:sp>
        <p:nvSpPr>
          <p:cNvPr id="7" name="Circle">
            <a:extLst>
              <a:ext uri="{FF2B5EF4-FFF2-40B4-BE49-F238E27FC236}">
                <a16:creationId xmlns:a16="http://schemas.microsoft.com/office/drawing/2014/main" id="{B71709F8-EB41-4CA0-9A1E-E069CCF0FA54}"/>
              </a:ext>
            </a:extLst>
          </p:cNvPr>
          <p:cNvSpPr/>
          <p:nvPr/>
        </p:nvSpPr>
        <p:spPr>
          <a:xfrm>
            <a:off x="2149533" y="6599594"/>
            <a:ext cx="214554" cy="214554"/>
          </a:xfrm>
          <a:prstGeom prst="ellipse">
            <a:avLst/>
          </a:prstGeom>
          <a:solidFill>
            <a:schemeClr val="accent3"/>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solidFill>
                <a:schemeClr val="tx2"/>
              </a:solidFill>
              <a:latin typeface="Montserrat" panose="02000505000000020004" pitchFamily="2" charset="0"/>
              <a:ea typeface="Arial Regular" charset="0"/>
              <a:cs typeface="Arial Regular" charset="0"/>
            </a:endParaRPr>
          </a:p>
        </p:txBody>
      </p:sp>
      <p:sp>
        <p:nvSpPr>
          <p:cNvPr id="8" name="Circle">
            <a:extLst>
              <a:ext uri="{FF2B5EF4-FFF2-40B4-BE49-F238E27FC236}">
                <a16:creationId xmlns:a16="http://schemas.microsoft.com/office/drawing/2014/main" id="{719FF64F-C607-43F4-97BF-D34E17D4BDFF}"/>
              </a:ext>
            </a:extLst>
          </p:cNvPr>
          <p:cNvSpPr/>
          <p:nvPr/>
        </p:nvSpPr>
        <p:spPr>
          <a:xfrm>
            <a:off x="1829419" y="6599594"/>
            <a:ext cx="214553" cy="214554"/>
          </a:xfrm>
          <a:prstGeom prst="ellipse">
            <a:avLst/>
          </a:prstGeom>
          <a:solidFill>
            <a:schemeClr val="accent1"/>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solidFill>
                <a:schemeClr val="tx2"/>
              </a:solidFill>
              <a:latin typeface="Montserrat" panose="02000505000000020004" pitchFamily="2" charset="0"/>
              <a:ea typeface="Arial Regular" charset="0"/>
              <a:cs typeface="Arial Regular" charset="0"/>
            </a:endParaRPr>
          </a:p>
        </p:txBody>
      </p:sp>
      <p:sp>
        <p:nvSpPr>
          <p:cNvPr id="9" name="Circle">
            <a:extLst>
              <a:ext uri="{FF2B5EF4-FFF2-40B4-BE49-F238E27FC236}">
                <a16:creationId xmlns:a16="http://schemas.microsoft.com/office/drawing/2014/main" id="{F7C05506-ABAD-4E69-A86F-10C179E5EFEA}"/>
              </a:ext>
            </a:extLst>
          </p:cNvPr>
          <p:cNvSpPr/>
          <p:nvPr/>
        </p:nvSpPr>
        <p:spPr>
          <a:xfrm>
            <a:off x="1508262" y="6599594"/>
            <a:ext cx="214553" cy="214554"/>
          </a:xfrm>
          <a:prstGeom prst="ellipse">
            <a:avLst/>
          </a:prstGeom>
          <a:solidFill>
            <a:schemeClr val="accent4"/>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solidFill>
                <a:schemeClr val="tx2"/>
              </a:solidFill>
              <a:latin typeface="Montserrat" panose="02000505000000020004" pitchFamily="2" charset="0"/>
              <a:ea typeface="Arial Regular" charset="0"/>
              <a:cs typeface="Arial Regular" charset="0"/>
            </a:endParaRPr>
          </a:p>
        </p:txBody>
      </p:sp>
      <p:grpSp>
        <p:nvGrpSpPr>
          <p:cNvPr id="14" name="Group 13">
            <a:extLst>
              <a:ext uri="{FF2B5EF4-FFF2-40B4-BE49-F238E27FC236}">
                <a16:creationId xmlns:a16="http://schemas.microsoft.com/office/drawing/2014/main" id="{89D17F15-7AAB-4D25-99AE-440C8346839A}"/>
              </a:ext>
            </a:extLst>
          </p:cNvPr>
          <p:cNvGrpSpPr/>
          <p:nvPr/>
        </p:nvGrpSpPr>
        <p:grpSpPr>
          <a:xfrm>
            <a:off x="16300067" y="4201372"/>
            <a:ext cx="5614287" cy="5313256"/>
            <a:chOff x="15150042" y="3853168"/>
            <a:chExt cx="6841552" cy="6727746"/>
          </a:xfrm>
        </p:grpSpPr>
        <p:sp>
          <p:nvSpPr>
            <p:cNvPr id="12" name="Rectangle">
              <a:extLst>
                <a:ext uri="{FF2B5EF4-FFF2-40B4-BE49-F238E27FC236}">
                  <a16:creationId xmlns:a16="http://schemas.microsoft.com/office/drawing/2014/main" id="{A52A4BD4-BBE9-46FD-A91C-0E3C3DE98125}"/>
                </a:ext>
              </a:extLst>
            </p:cNvPr>
            <p:cNvSpPr/>
            <p:nvPr/>
          </p:nvSpPr>
          <p:spPr>
            <a:xfrm>
              <a:off x="15150042" y="3853168"/>
              <a:ext cx="6841552" cy="6727746"/>
            </a:xfrm>
            <a:prstGeom prst="roundRect">
              <a:avLst>
                <a:gd name="adj" fmla="val 0"/>
              </a:avLst>
            </a:prstGeom>
            <a:ln w="50800">
              <a:solidFill>
                <a:schemeClr val="accent4"/>
              </a:solidFill>
              <a:miter lim="400000"/>
            </a:ln>
          </p:spPr>
          <p:txBody>
            <a:bodyPr lIns="50800" tIns="50800" rIns="50800" bIns="50800" anchor="ctr"/>
            <a:lstStyle/>
            <a:p>
              <a:pPr defTabSz="584200">
                <a:defRPr sz="4000">
                  <a:solidFill>
                    <a:srgbClr val="FFFFFF"/>
                  </a:solidFill>
                  <a:effectLst>
                    <a:outerShdw blurRad="38100" dist="12700" dir="5400000" rotWithShape="0">
                      <a:srgbClr val="000000">
                        <a:alpha val="50000"/>
                      </a:srgbClr>
                    </a:outerShdw>
                  </a:effectLst>
                </a:defRPr>
              </a:pPr>
              <a:endParaRPr dirty="0">
                <a:latin typeface="Calibri Regular"/>
                <a:ea typeface="Arial Regular" charset="0"/>
                <a:cs typeface="Arial Regular" charset="0"/>
              </a:endParaRPr>
            </a:p>
          </p:txBody>
        </p:sp>
        <p:pic>
          <p:nvPicPr>
            <p:cNvPr id="13" name="Picture 12">
              <a:extLst>
                <a:ext uri="{FF2B5EF4-FFF2-40B4-BE49-F238E27FC236}">
                  <a16:creationId xmlns:a16="http://schemas.microsoft.com/office/drawing/2014/main" id="{04EC8877-CFC7-44EF-8F3F-2B2E96963F90}"/>
                </a:ext>
                <a:ext uri="{C183D7F6-B498-43B3-948B-1728B52AA6E4}">
                  <adec:decorative xmlns:adec="http://schemas.microsoft.com/office/drawing/2017/decorative" val="1"/>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16374163" y="4619043"/>
              <a:ext cx="4390166" cy="5201933"/>
            </a:xfrm>
            <a:prstGeom prst="rect">
              <a:avLst/>
            </a:prstGeom>
            <a:effectLst>
              <a:glow rad="63500">
                <a:schemeClr val="tx1">
                  <a:alpha val="40000"/>
                </a:schemeClr>
              </a:glow>
            </a:effectLst>
          </p:spPr>
        </p:pic>
      </p:grpSp>
    </p:spTree>
    <p:custDataLst>
      <p:tags r:id="rId1"/>
    </p:custDataLst>
    <p:extLst>
      <p:ext uri="{BB962C8B-B14F-4D97-AF65-F5344CB8AC3E}">
        <p14:creationId xmlns:p14="http://schemas.microsoft.com/office/powerpoint/2010/main" val="2704542437"/>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curity">
            <a:extLst>
              <a:ext uri="{FF2B5EF4-FFF2-40B4-BE49-F238E27FC236}">
                <a16:creationId xmlns:a16="http://schemas.microsoft.com/office/drawing/2014/main" id="{DA9002C0-3B39-4D5E-B76A-51AB728215F3}"/>
              </a:ext>
            </a:extLst>
          </p:cNvPr>
          <p:cNvSpPr>
            <a:spLocks noGrp="1"/>
          </p:cNvSpPr>
          <p:nvPr>
            <p:ph type="title" idx="4294967295"/>
          </p:nvPr>
        </p:nvSpPr>
        <p:spPr>
          <a:xfrm>
            <a:off x="1063690" y="436182"/>
            <a:ext cx="22617404" cy="892937"/>
          </a:xfrm>
          <a:prstGeom prst="rect">
            <a:avLst/>
          </a:prstGeom>
          <a:noFill/>
          <a:ln w="12700">
            <a:noFill/>
            <a:prstDash/>
            <a:miter lim="400000"/>
          </a:ln>
          <a:effectLst/>
          <a:extLst>
            <a:ext uri="{C572A759-6A51-4108-AA02-DFA0A04FC94B}">
              <ma14:wrappingTextBoxFlag xmlns:ma14="http://schemas.microsoft.com/office/mac/drawingml/2011/main" xmlns="" val="1"/>
            </a:ext>
          </a:ex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lvl1pPr defTabSz="1155700">
              <a:lnSpc>
                <a:spcPct val="80000"/>
              </a:lnSpc>
              <a:defRPr sz="7200" cap="all">
                <a:solidFill>
                  <a:srgbClr val="FFFFFF"/>
                </a:solidFill>
                <a:latin typeface="Montserrat Bold"/>
                <a:ea typeface="Montserrat Bold"/>
                <a:cs typeface="Montserrat Bold"/>
                <a:sym typeface="Montserrat Bold"/>
              </a:defRPr>
            </a:lvl1pPr>
          </a:lstStyle>
          <a:p>
            <a:pPr marL="0" marR="0" lvl="0" indent="0" algn="ctr" defTabSz="1155700" rtl="0" eaLnBrk="1" fontAlgn="auto" latinLnBrk="0" hangingPunct="0">
              <a:lnSpc>
                <a:spcPct val="80000"/>
              </a:lnSpc>
              <a:spcBef>
                <a:spcPts val="0"/>
              </a:spcBef>
              <a:spcAft>
                <a:spcPts val="0"/>
              </a:spcAft>
              <a:buClrTx/>
              <a:buSzTx/>
              <a:buFontTx/>
              <a:buNone/>
              <a:tabLst/>
              <a:defRPr/>
            </a:pPr>
            <a:r>
              <a:rPr kumimoji="0" lang="en-US" sz="7200" b="1" i="0" u="none" strike="noStrike" kern="0" cap="all" spc="0" normalizeH="0" baseline="0" noProof="0" dirty="0">
                <a:ln>
                  <a:noFill/>
                </a:ln>
                <a:solidFill>
                  <a:schemeClr val="tx2"/>
                </a:solidFill>
                <a:effectLst/>
                <a:uLnTx/>
                <a:uFillTx/>
                <a:latin typeface="Montserrat" panose="02000505000000020004" pitchFamily="2" charset="0"/>
                <a:ea typeface="Montserrat Bold"/>
                <a:cs typeface="Montserrat Bold"/>
                <a:sym typeface="Montserrat Bold"/>
              </a:rPr>
              <a:t>But What If I am Not a Linux Guru?</a:t>
            </a:r>
          </a:p>
        </p:txBody>
      </p:sp>
      <p:sp>
        <p:nvSpPr>
          <p:cNvPr id="4" name="Cyber Security…">
            <a:extLst>
              <a:ext uri="{FF2B5EF4-FFF2-40B4-BE49-F238E27FC236}">
                <a16:creationId xmlns:a16="http://schemas.microsoft.com/office/drawing/2014/main" id="{D4F234CF-4317-4576-A863-7182EB0AD45F}"/>
              </a:ext>
            </a:extLst>
          </p:cNvPr>
          <p:cNvSpPr/>
          <p:nvPr/>
        </p:nvSpPr>
        <p:spPr>
          <a:xfrm>
            <a:off x="1205061" y="2818339"/>
            <a:ext cx="10308915" cy="892937"/>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nchor="ctr">
            <a:spAutoFit/>
          </a:bodyPr>
          <a:lstStyle/>
          <a:p>
            <a:pPr algn="l" defTabSz="1155700">
              <a:lnSpc>
                <a:spcPct val="80000"/>
              </a:lnSpc>
              <a:defRPr sz="7200">
                <a:solidFill>
                  <a:srgbClr val="FFFFFF"/>
                </a:solidFill>
                <a:latin typeface="Montserrat Bold"/>
                <a:ea typeface="Montserrat Bold"/>
                <a:cs typeface="Montserrat Bold"/>
                <a:sym typeface="Montserrat Bold"/>
              </a:defRPr>
            </a:pPr>
            <a:r>
              <a:rPr lang="en-US" sz="7200" dirty="0">
                <a:solidFill>
                  <a:schemeClr val="tx1"/>
                </a:solidFill>
                <a:latin typeface="Montserrat" panose="02000505000000020004" pitchFamily="2" charset="0"/>
              </a:rPr>
              <a:t>Become one!</a:t>
            </a:r>
          </a:p>
        </p:txBody>
      </p:sp>
      <p:sp>
        <p:nvSpPr>
          <p:cNvPr id="5" name="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a:extLst>
              <a:ext uri="{FF2B5EF4-FFF2-40B4-BE49-F238E27FC236}">
                <a16:creationId xmlns:a16="http://schemas.microsoft.com/office/drawing/2014/main" id="{E7B40CCE-7740-4723-9216-12033A2F3A4C}"/>
              </a:ext>
            </a:extLst>
          </p:cNvPr>
          <p:cNvSpPr/>
          <p:nvPr/>
        </p:nvSpPr>
        <p:spPr>
          <a:xfrm>
            <a:off x="1212850" y="5311743"/>
            <a:ext cx="10301126" cy="1841210"/>
          </a:xfrm>
          <a:prstGeom prst="rect">
            <a:avLst/>
          </a:prstGeom>
          <a:ln w="12700"/>
          <a:extLst>
            <a:ext uri="{C572A759-6A51-4108-AA02-DFA0A04FC94B}">
              <ma14:wrappingTextBoxFlag xmlns:ma14="http://schemas.microsoft.com/office/mac/drawingml/2011/main" xmlns="" val="1"/>
            </a:ext>
          </a:extLst>
        </p:spPr>
        <p:txBody>
          <a:bodyPr wrap="square" lIns="0" tIns="0" rIns="0" bIns="0">
            <a:spAutoFit/>
          </a:bodyPr>
          <a:lstStyle>
            <a:lvl1pPr algn="l" defTabSz="952500">
              <a:lnSpc>
                <a:spcPct val="130000"/>
              </a:lnSpc>
              <a:buClr>
                <a:srgbClr val="E9F6FA"/>
              </a:buClr>
              <a:buFont typeface="Helvetica Neue UltraLight"/>
              <a:defRPr sz="3000">
                <a:solidFill>
                  <a:srgbClr val="FFFFFF"/>
                </a:solidFill>
                <a:uFill>
                  <a:solidFill>
                    <a:srgbClr val="FFFFFF"/>
                  </a:solidFill>
                </a:uFill>
                <a:latin typeface="Helvetica Neue"/>
                <a:ea typeface="Helvetica Neue"/>
                <a:cs typeface="Helvetica Neue"/>
                <a:sym typeface="Helvetica Neue"/>
              </a:defRPr>
            </a:lvl1pPr>
          </a:lstStyle>
          <a:p>
            <a:pPr>
              <a:spcBef>
                <a:spcPts val="600"/>
              </a:spcBef>
              <a:spcAft>
                <a:spcPts val="600"/>
              </a:spcAft>
            </a:pPr>
            <a:r>
              <a:rPr lang="en-US" sz="2900" dirty="0">
                <a:solidFill>
                  <a:schemeClr val="tx2"/>
                </a:solidFill>
                <a:latin typeface="Montserrat" panose="02000505000000020004" pitchFamily="2" charset="0"/>
                <a:ea typeface="Arial Regular" charset="0"/>
                <a:cs typeface="Arial Regular" charset="0"/>
              </a:rPr>
              <a:t>These commands are critical. Find out about them today and know them right away!</a:t>
            </a:r>
          </a:p>
          <a:p>
            <a:pPr>
              <a:spcBef>
                <a:spcPts val="600"/>
              </a:spcBef>
              <a:spcAft>
                <a:spcPts val="600"/>
              </a:spcAft>
            </a:pPr>
            <a:r>
              <a:rPr lang="en-US" sz="2900" dirty="0">
                <a:solidFill>
                  <a:schemeClr val="tx2"/>
                </a:solidFill>
                <a:latin typeface="Montserrat" panose="02000505000000020004" pitchFamily="2" charset="0"/>
                <a:ea typeface="Arial Regular" charset="0"/>
                <a:cs typeface="Arial Regular" charset="0"/>
              </a:rPr>
              <a:t>What do they do? Which are shell built-in commands?</a:t>
            </a:r>
          </a:p>
        </p:txBody>
      </p:sp>
      <p:sp>
        <p:nvSpPr>
          <p:cNvPr id="6" name="Circle">
            <a:extLst>
              <a:ext uri="{FF2B5EF4-FFF2-40B4-BE49-F238E27FC236}">
                <a16:creationId xmlns:a16="http://schemas.microsoft.com/office/drawing/2014/main" id="{622C17DE-4504-4996-B2CD-401614CCA495}"/>
              </a:ext>
            </a:extLst>
          </p:cNvPr>
          <p:cNvSpPr/>
          <p:nvPr/>
        </p:nvSpPr>
        <p:spPr>
          <a:xfrm>
            <a:off x="2168471" y="4659952"/>
            <a:ext cx="214553" cy="214554"/>
          </a:xfrm>
          <a:prstGeom prst="ellipse">
            <a:avLst/>
          </a:prstGeom>
          <a:solidFill>
            <a:schemeClr val="accent2"/>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solidFill>
                <a:schemeClr val="tx2"/>
              </a:solidFill>
              <a:latin typeface="Montserrat" panose="02000505000000020004" pitchFamily="2" charset="0"/>
              <a:ea typeface="Arial Regular" charset="0"/>
              <a:cs typeface="Arial Regular" charset="0"/>
            </a:endParaRPr>
          </a:p>
        </p:txBody>
      </p:sp>
      <p:sp>
        <p:nvSpPr>
          <p:cNvPr id="7" name="Circle">
            <a:extLst>
              <a:ext uri="{FF2B5EF4-FFF2-40B4-BE49-F238E27FC236}">
                <a16:creationId xmlns:a16="http://schemas.microsoft.com/office/drawing/2014/main" id="{B71709F8-EB41-4CA0-9A1E-E069CCF0FA54}"/>
              </a:ext>
            </a:extLst>
          </p:cNvPr>
          <p:cNvSpPr/>
          <p:nvPr/>
        </p:nvSpPr>
        <p:spPr>
          <a:xfrm>
            <a:off x="1848358" y="4659952"/>
            <a:ext cx="214554" cy="214554"/>
          </a:xfrm>
          <a:prstGeom prst="ellipse">
            <a:avLst/>
          </a:prstGeom>
          <a:solidFill>
            <a:schemeClr val="accent3"/>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solidFill>
                <a:schemeClr val="tx2"/>
              </a:solidFill>
              <a:latin typeface="Montserrat" panose="02000505000000020004" pitchFamily="2" charset="0"/>
              <a:ea typeface="Arial Regular" charset="0"/>
              <a:cs typeface="Arial Regular" charset="0"/>
            </a:endParaRPr>
          </a:p>
        </p:txBody>
      </p:sp>
      <p:sp>
        <p:nvSpPr>
          <p:cNvPr id="8" name="Circle">
            <a:extLst>
              <a:ext uri="{FF2B5EF4-FFF2-40B4-BE49-F238E27FC236}">
                <a16:creationId xmlns:a16="http://schemas.microsoft.com/office/drawing/2014/main" id="{719FF64F-C607-43F4-97BF-D34E17D4BDFF}"/>
              </a:ext>
            </a:extLst>
          </p:cNvPr>
          <p:cNvSpPr/>
          <p:nvPr/>
        </p:nvSpPr>
        <p:spPr>
          <a:xfrm>
            <a:off x="1528244" y="4659952"/>
            <a:ext cx="214553" cy="214554"/>
          </a:xfrm>
          <a:prstGeom prst="ellipse">
            <a:avLst/>
          </a:prstGeom>
          <a:solidFill>
            <a:schemeClr val="accent1"/>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solidFill>
                <a:schemeClr val="tx2"/>
              </a:solidFill>
              <a:latin typeface="Montserrat" panose="02000505000000020004" pitchFamily="2" charset="0"/>
              <a:ea typeface="Arial Regular" charset="0"/>
              <a:cs typeface="Arial Regular" charset="0"/>
            </a:endParaRPr>
          </a:p>
        </p:txBody>
      </p:sp>
      <p:sp>
        <p:nvSpPr>
          <p:cNvPr id="9" name="Circle">
            <a:extLst>
              <a:ext uri="{FF2B5EF4-FFF2-40B4-BE49-F238E27FC236}">
                <a16:creationId xmlns:a16="http://schemas.microsoft.com/office/drawing/2014/main" id="{F7C05506-ABAD-4E69-A86F-10C179E5EFEA}"/>
              </a:ext>
            </a:extLst>
          </p:cNvPr>
          <p:cNvSpPr/>
          <p:nvPr/>
        </p:nvSpPr>
        <p:spPr>
          <a:xfrm>
            <a:off x="1207087" y="4659952"/>
            <a:ext cx="214553" cy="214554"/>
          </a:xfrm>
          <a:prstGeom prst="ellipse">
            <a:avLst/>
          </a:prstGeom>
          <a:solidFill>
            <a:schemeClr val="accent4"/>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solidFill>
                <a:schemeClr val="tx2"/>
              </a:solidFill>
              <a:latin typeface="Montserrat" panose="02000505000000020004" pitchFamily="2" charset="0"/>
              <a:ea typeface="Arial Regular" charset="0"/>
              <a:cs typeface="Arial Regular" charset="0"/>
            </a:endParaRPr>
          </a:p>
        </p:txBody>
      </p:sp>
      <p:sp>
        <p:nvSpPr>
          <p:cNvPr id="10" name="Rectangle 9">
            <a:extLst>
              <a:ext uri="{FF2B5EF4-FFF2-40B4-BE49-F238E27FC236}">
                <a16:creationId xmlns:a16="http://schemas.microsoft.com/office/drawing/2014/main" id="{2F4D7C3A-A659-4150-9355-1AB4BFBAD2F8}"/>
              </a:ext>
            </a:extLst>
          </p:cNvPr>
          <p:cNvSpPr/>
          <p:nvPr/>
        </p:nvSpPr>
        <p:spPr>
          <a:xfrm>
            <a:off x="14219852" y="2089715"/>
            <a:ext cx="3694923" cy="8771632"/>
          </a:xfrm>
          <a:prstGeom prst="rect">
            <a:avLst/>
          </a:prstGeom>
          <a:ln w="28575">
            <a:solidFill>
              <a:schemeClr val="tx2"/>
            </a:solidFill>
          </a:ln>
        </p:spPr>
        <p:txBody>
          <a:bodyPr wrap="square">
            <a:spAutoFit/>
          </a:bodyPr>
          <a:lstStyle/>
          <a:p>
            <a:pPr marL="914400" lvl="2" indent="0" algn="l" fontAlgn="base"/>
            <a:endParaRPr lang="en-US" sz="3000" dirty="0">
              <a:solidFill>
                <a:schemeClr val="accent3"/>
              </a:solidFill>
              <a:latin typeface="Consolas" panose="020B0609020204030204" pitchFamily="49" charset="0"/>
            </a:endParaRPr>
          </a:p>
          <a:p>
            <a:pPr marL="914400" algn="l" fontAlgn="base"/>
            <a:r>
              <a:rPr lang="en-US" sz="3600" dirty="0">
                <a:solidFill>
                  <a:schemeClr val="accent3"/>
                </a:solidFill>
                <a:latin typeface="Fira Code" panose="020B0809050000020004" pitchFamily="49" charset="0"/>
                <a:ea typeface="Fira Code" panose="020B0809050000020004" pitchFamily="49" charset="0"/>
              </a:rPr>
              <a:t>cat </a:t>
            </a:r>
          </a:p>
          <a:p>
            <a:pPr marL="914400" algn="l" fontAlgn="base"/>
            <a:r>
              <a:rPr lang="en-US" sz="3600" dirty="0">
                <a:solidFill>
                  <a:schemeClr val="accent3"/>
                </a:solidFill>
                <a:latin typeface="Fira Code" panose="020B0809050000020004" pitchFamily="49" charset="0"/>
                <a:ea typeface="Fira Code" panose="020B0809050000020004" pitchFamily="49" charset="0"/>
              </a:rPr>
              <a:t>cd</a:t>
            </a:r>
          </a:p>
          <a:p>
            <a:pPr marL="914400" algn="l" fontAlgn="base"/>
            <a:r>
              <a:rPr lang="en-US" sz="3600" dirty="0" err="1">
                <a:solidFill>
                  <a:schemeClr val="accent3"/>
                </a:solidFill>
                <a:latin typeface="Fira Code" panose="020B0809050000020004" pitchFamily="49" charset="0"/>
                <a:ea typeface="Fira Code" panose="020B0809050000020004" pitchFamily="49" charset="0"/>
              </a:rPr>
              <a:t>chmod</a:t>
            </a:r>
            <a:endParaRPr lang="en-US" sz="3600" dirty="0">
              <a:solidFill>
                <a:schemeClr val="accent3"/>
              </a:solidFill>
              <a:latin typeface="Fira Code" panose="020B0809050000020004" pitchFamily="49" charset="0"/>
              <a:ea typeface="Fira Code" panose="020B0809050000020004" pitchFamily="49" charset="0"/>
            </a:endParaRPr>
          </a:p>
          <a:p>
            <a:pPr marL="914400" algn="l" fontAlgn="base"/>
            <a:r>
              <a:rPr lang="en-US" sz="3600" dirty="0">
                <a:solidFill>
                  <a:schemeClr val="accent3"/>
                </a:solidFill>
                <a:latin typeface="Fira Code" panose="020B0809050000020004" pitchFamily="49" charset="0"/>
                <a:ea typeface="Fira Code" panose="020B0809050000020004" pitchFamily="49" charset="0"/>
              </a:rPr>
              <a:t>find</a:t>
            </a:r>
          </a:p>
          <a:p>
            <a:pPr marL="914400" algn="l" fontAlgn="base"/>
            <a:r>
              <a:rPr lang="en-US" sz="3600" dirty="0">
                <a:solidFill>
                  <a:schemeClr val="accent3"/>
                </a:solidFill>
                <a:latin typeface="Fira Code" panose="020B0809050000020004" pitchFamily="49" charset="0"/>
                <a:ea typeface="Fira Code" panose="020B0809050000020004" pitchFamily="49" charset="0"/>
              </a:rPr>
              <a:t>grep</a:t>
            </a:r>
          </a:p>
          <a:p>
            <a:pPr marL="914400" algn="l" fontAlgn="base"/>
            <a:r>
              <a:rPr lang="en-US" sz="3600" dirty="0">
                <a:solidFill>
                  <a:schemeClr val="accent3"/>
                </a:solidFill>
                <a:latin typeface="Fira Code" panose="020B0809050000020004" pitchFamily="49" charset="0"/>
                <a:ea typeface="Fira Code" panose="020B0809050000020004" pitchFamily="49" charset="0"/>
              </a:rPr>
              <a:t>less</a:t>
            </a:r>
          </a:p>
          <a:p>
            <a:pPr marL="914400" algn="l" fontAlgn="base"/>
            <a:r>
              <a:rPr lang="en-US" sz="3600" dirty="0">
                <a:solidFill>
                  <a:schemeClr val="accent3"/>
                </a:solidFill>
                <a:latin typeface="Fira Code" panose="020B0809050000020004" pitchFamily="49" charset="0"/>
                <a:ea typeface="Fira Code" panose="020B0809050000020004" pitchFamily="49" charset="0"/>
              </a:rPr>
              <a:t>ls</a:t>
            </a:r>
          </a:p>
          <a:p>
            <a:pPr marL="914400" algn="l" fontAlgn="base"/>
            <a:r>
              <a:rPr lang="en-US" sz="3600" dirty="0" err="1">
                <a:solidFill>
                  <a:schemeClr val="accent3"/>
                </a:solidFill>
                <a:latin typeface="Fira Code" panose="020B0809050000020004" pitchFamily="49" charset="0"/>
                <a:ea typeface="Fira Code" panose="020B0809050000020004" pitchFamily="49" charset="0"/>
              </a:rPr>
              <a:t>ps</a:t>
            </a:r>
            <a:endParaRPr lang="en-US" sz="3600" dirty="0">
              <a:solidFill>
                <a:schemeClr val="accent3"/>
              </a:solidFill>
              <a:latin typeface="Fira Code" panose="020B0809050000020004" pitchFamily="49" charset="0"/>
              <a:ea typeface="Fira Code" panose="020B0809050000020004" pitchFamily="49" charset="0"/>
            </a:endParaRPr>
          </a:p>
          <a:p>
            <a:pPr marL="914400" algn="l" fontAlgn="base"/>
            <a:r>
              <a:rPr lang="en-US" sz="3600" dirty="0" err="1">
                <a:solidFill>
                  <a:schemeClr val="accent3"/>
                </a:solidFill>
                <a:latin typeface="Fira Code" panose="020B0809050000020004" pitchFamily="49" charset="0"/>
                <a:ea typeface="Fira Code" panose="020B0809050000020004" pitchFamily="49" charset="0"/>
              </a:rPr>
              <a:t>pwd</a:t>
            </a:r>
            <a:endParaRPr lang="en-US" sz="3600" dirty="0">
              <a:solidFill>
                <a:schemeClr val="accent3"/>
              </a:solidFill>
              <a:latin typeface="Fira Code" panose="020B0809050000020004" pitchFamily="49" charset="0"/>
              <a:ea typeface="Fira Code" panose="020B0809050000020004" pitchFamily="49" charset="0"/>
            </a:endParaRPr>
          </a:p>
          <a:p>
            <a:pPr marL="914400" algn="l" fontAlgn="base"/>
            <a:r>
              <a:rPr lang="en-US" sz="3600" dirty="0" err="1">
                <a:solidFill>
                  <a:schemeClr val="accent3"/>
                </a:solidFill>
                <a:latin typeface="Fira Code" panose="020B0809050000020004" pitchFamily="49" charset="0"/>
                <a:ea typeface="Fira Code" panose="020B0809050000020004" pitchFamily="49" charset="0"/>
              </a:rPr>
              <a:t>scp</a:t>
            </a:r>
            <a:endParaRPr lang="en-US" sz="3600" dirty="0">
              <a:solidFill>
                <a:schemeClr val="accent3"/>
              </a:solidFill>
              <a:latin typeface="Fira Code" panose="020B0809050000020004" pitchFamily="49" charset="0"/>
              <a:ea typeface="Fira Code" panose="020B0809050000020004" pitchFamily="49" charset="0"/>
            </a:endParaRPr>
          </a:p>
          <a:p>
            <a:pPr marL="914400" algn="l" fontAlgn="base"/>
            <a:r>
              <a:rPr lang="en-US" sz="3600" dirty="0" err="1">
                <a:solidFill>
                  <a:schemeClr val="accent3"/>
                </a:solidFill>
                <a:latin typeface="Fira Code" panose="020B0809050000020004" pitchFamily="49" charset="0"/>
                <a:ea typeface="Fira Code" panose="020B0809050000020004" pitchFamily="49" charset="0"/>
              </a:rPr>
              <a:t>ssh</a:t>
            </a:r>
            <a:endParaRPr lang="en-US" sz="3600" dirty="0">
              <a:solidFill>
                <a:schemeClr val="accent3"/>
              </a:solidFill>
              <a:latin typeface="Fira Code" panose="020B0809050000020004" pitchFamily="49" charset="0"/>
              <a:ea typeface="Fira Code" panose="020B0809050000020004" pitchFamily="49" charset="0"/>
            </a:endParaRPr>
          </a:p>
          <a:p>
            <a:pPr marL="914400" algn="l" fontAlgn="base"/>
            <a:r>
              <a:rPr lang="en-US" sz="3600" dirty="0" err="1">
                <a:solidFill>
                  <a:schemeClr val="accent3"/>
                </a:solidFill>
                <a:latin typeface="Fira Code" panose="020B0809050000020004" pitchFamily="49" charset="0"/>
                <a:ea typeface="Fira Code" panose="020B0809050000020004" pitchFamily="49" charset="0"/>
              </a:rPr>
              <a:t>su</a:t>
            </a:r>
            <a:endParaRPr lang="en-US" sz="3600" dirty="0">
              <a:solidFill>
                <a:schemeClr val="accent3"/>
              </a:solidFill>
              <a:latin typeface="Fira Code" panose="020B0809050000020004" pitchFamily="49" charset="0"/>
              <a:ea typeface="Fira Code" panose="020B0809050000020004" pitchFamily="49" charset="0"/>
            </a:endParaRPr>
          </a:p>
          <a:p>
            <a:pPr marL="914400" algn="l" fontAlgn="base"/>
            <a:r>
              <a:rPr lang="en-US" sz="3600" dirty="0">
                <a:solidFill>
                  <a:schemeClr val="accent3"/>
                </a:solidFill>
                <a:latin typeface="Fira Code" panose="020B0809050000020004" pitchFamily="49" charset="0"/>
                <a:ea typeface="Fira Code" panose="020B0809050000020004" pitchFamily="49" charset="0"/>
              </a:rPr>
              <a:t>tail</a:t>
            </a:r>
          </a:p>
          <a:p>
            <a:pPr marL="914400" algn="l" fontAlgn="base"/>
            <a:r>
              <a:rPr lang="en-US" sz="3600" dirty="0" err="1">
                <a:solidFill>
                  <a:schemeClr val="accent3"/>
                </a:solidFill>
                <a:latin typeface="Fira Code" panose="020B0809050000020004" pitchFamily="49" charset="0"/>
                <a:ea typeface="Fira Code" panose="020B0809050000020004" pitchFamily="49" charset="0"/>
              </a:rPr>
              <a:t>whoami</a:t>
            </a:r>
            <a:endParaRPr lang="en-US" sz="3600" dirty="0">
              <a:solidFill>
                <a:schemeClr val="accent3"/>
              </a:solidFill>
              <a:latin typeface="Fira Code" panose="020B0809050000020004" pitchFamily="49" charset="0"/>
              <a:ea typeface="Fira Code" panose="020B0809050000020004" pitchFamily="49" charset="0"/>
            </a:endParaRPr>
          </a:p>
          <a:p>
            <a:pPr marL="914400" lvl="2" indent="0" algn="l" fontAlgn="base"/>
            <a:endParaRPr lang="en-US" sz="3000" dirty="0">
              <a:solidFill>
                <a:schemeClr val="accent3"/>
              </a:solidFill>
              <a:latin typeface="Consolas" panose="020B0609020204030204" pitchFamily="49" charset="0"/>
            </a:endParaRPr>
          </a:p>
        </p:txBody>
      </p:sp>
      <p:sp>
        <p:nvSpPr>
          <p:cNvPr id="12" name="Left Brace 11">
            <a:extLst>
              <a:ext uri="{FF2B5EF4-FFF2-40B4-BE49-F238E27FC236}">
                <a16:creationId xmlns:a16="http://schemas.microsoft.com/office/drawing/2014/main" id="{6B80B672-CF17-4F46-8909-4051C1DDC17D}"/>
              </a:ext>
            </a:extLst>
          </p:cNvPr>
          <p:cNvSpPr/>
          <p:nvPr/>
        </p:nvSpPr>
        <p:spPr>
          <a:xfrm>
            <a:off x="11964188" y="2123531"/>
            <a:ext cx="1623527" cy="8217634"/>
          </a:xfrm>
          <a:prstGeom prst="leftBrace">
            <a:avLst/>
          </a:prstGeom>
          <a:noFill/>
          <a:ln w="57150" cap="flat">
            <a:solidFill>
              <a:schemeClr val="accent4">
                <a:alpha val="75000"/>
              </a:schemeClr>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endParaRPr>
          </a:p>
        </p:txBody>
      </p:sp>
      <p:sp>
        <p:nvSpPr>
          <p:cNvPr id="13" name="Rectangle 12">
            <a:extLst>
              <a:ext uri="{FF2B5EF4-FFF2-40B4-BE49-F238E27FC236}">
                <a16:creationId xmlns:a16="http://schemas.microsoft.com/office/drawing/2014/main" id="{4FBC046F-5355-410E-8393-7BDEDA330F5C}"/>
              </a:ext>
            </a:extLst>
          </p:cNvPr>
          <p:cNvSpPr/>
          <p:nvPr/>
        </p:nvSpPr>
        <p:spPr>
          <a:xfrm>
            <a:off x="2663640" y="8236308"/>
            <a:ext cx="9104342" cy="1384995"/>
          </a:xfrm>
          <a:prstGeom prst="rect">
            <a:avLst/>
          </a:prstGeom>
        </p:spPr>
        <p:txBody>
          <a:bodyPr wrap="square">
            <a:spAutoFit/>
          </a:bodyPr>
          <a:lstStyle/>
          <a:p>
            <a:pPr algn="l"/>
            <a:r>
              <a:rPr lang="en-US" sz="2800" dirty="0">
                <a:solidFill>
                  <a:schemeClr val="tx1"/>
                </a:solidFill>
                <a:latin typeface="Montserrat Bold"/>
              </a:rPr>
              <a:t>If you are a complete </a:t>
            </a:r>
            <a:r>
              <a:rPr lang="en-US" sz="2800" dirty="0" err="1">
                <a:solidFill>
                  <a:schemeClr val="tx1"/>
                </a:solidFill>
                <a:latin typeface="Montserrat Bold"/>
              </a:rPr>
              <a:t>linux</a:t>
            </a:r>
            <a:r>
              <a:rPr lang="en-US" sz="2800" dirty="0">
                <a:solidFill>
                  <a:schemeClr val="tx1"/>
                </a:solidFill>
                <a:latin typeface="Montserrat Bold"/>
              </a:rPr>
              <a:t> newb, go to </a:t>
            </a:r>
            <a:r>
              <a:rPr lang="en-US" sz="2800" dirty="0">
                <a:solidFill>
                  <a:schemeClr val="accent2"/>
                </a:solidFill>
                <a:latin typeface="Montserrat Bold"/>
                <a:hlinkClick r:id="rId4">
                  <a:extLst>
                    <a:ext uri="{A12FA001-AC4F-418D-AE19-62706E023703}">
                      <ahyp:hlinkClr xmlns:ahyp="http://schemas.microsoft.com/office/drawing/2018/hyperlinkcolor" val="tx"/>
                    </a:ext>
                  </a:extLst>
                </a:hlinkClick>
              </a:rPr>
              <a:t>http://linuxcommand.org/</a:t>
            </a:r>
            <a:r>
              <a:rPr lang="en-US" sz="2800" dirty="0">
                <a:solidFill>
                  <a:schemeClr val="accent2"/>
                </a:solidFill>
                <a:latin typeface="Montserrat Bold"/>
              </a:rPr>
              <a:t> </a:t>
            </a:r>
            <a:r>
              <a:rPr lang="en-US" sz="2800" dirty="0">
                <a:solidFill>
                  <a:schemeClr val="tx1"/>
                </a:solidFill>
                <a:latin typeface="Montserrat Bold"/>
              </a:rPr>
              <a:t>and follow the Learning the Shell tutorial.</a:t>
            </a:r>
          </a:p>
        </p:txBody>
      </p:sp>
      <p:sp>
        <p:nvSpPr>
          <p:cNvPr id="14" name="Circle">
            <a:extLst>
              <a:ext uri="{FF2B5EF4-FFF2-40B4-BE49-F238E27FC236}">
                <a16:creationId xmlns:a16="http://schemas.microsoft.com/office/drawing/2014/main" id="{10C059E4-C4BD-4D64-8A8D-EC3096F93A80}"/>
              </a:ext>
            </a:extLst>
          </p:cNvPr>
          <p:cNvSpPr/>
          <p:nvPr/>
        </p:nvSpPr>
        <p:spPr>
          <a:xfrm>
            <a:off x="981879" y="8236308"/>
            <a:ext cx="1318636" cy="1318636"/>
          </a:xfrm>
          <a:prstGeom prst="ellipse">
            <a:avLst/>
          </a:prstGeom>
          <a:ln w="76200">
            <a:solidFill>
              <a:schemeClr val="tx2"/>
            </a:solidFill>
            <a:miter lim="400000"/>
          </a:ln>
        </p:spPr>
        <p:txBody>
          <a:bodyPr lIns="50800" tIns="50800" rIns="50800" bIns="50800" anchor="ctr"/>
          <a:lstStyle/>
          <a:p>
            <a:pPr>
              <a:defRPr sz="3600">
                <a:solidFill>
                  <a:srgbClr val="FFFFFF"/>
                </a:solidFill>
                <a:latin typeface="Montserrat Bold"/>
                <a:ea typeface="Montserrat Bold"/>
                <a:cs typeface="Montserrat Bold"/>
                <a:sym typeface="Montserrat Bold"/>
              </a:defRPr>
            </a:pPr>
            <a:endParaRPr b="1" dirty="0">
              <a:latin typeface="Calibri Bold"/>
            </a:endParaRPr>
          </a:p>
        </p:txBody>
      </p:sp>
      <p:pic>
        <p:nvPicPr>
          <p:cNvPr id="15" name="Graphic 14" descr="Link">
            <a:extLst>
              <a:ext uri="{FF2B5EF4-FFF2-40B4-BE49-F238E27FC236}">
                <a16:creationId xmlns:a16="http://schemas.microsoft.com/office/drawing/2014/main" id="{C89141D6-04D0-4380-B2E5-0682DD79DFF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81455" y="8438748"/>
            <a:ext cx="914400" cy="914400"/>
          </a:xfrm>
          <a:prstGeom prst="rect">
            <a:avLst/>
          </a:prstGeom>
        </p:spPr>
      </p:pic>
      <p:sp>
        <p:nvSpPr>
          <p:cNvPr id="16" name="Rectangle 15">
            <a:extLst>
              <a:ext uri="{FF2B5EF4-FFF2-40B4-BE49-F238E27FC236}">
                <a16:creationId xmlns:a16="http://schemas.microsoft.com/office/drawing/2014/main" id="{AB8D26CD-A387-4BAE-9280-7E2C6CA25960}"/>
              </a:ext>
            </a:extLst>
          </p:cNvPr>
          <p:cNvSpPr/>
          <p:nvPr/>
        </p:nvSpPr>
        <p:spPr>
          <a:xfrm>
            <a:off x="2663640" y="10173051"/>
            <a:ext cx="9104342" cy="954107"/>
          </a:xfrm>
          <a:prstGeom prst="rect">
            <a:avLst/>
          </a:prstGeom>
        </p:spPr>
        <p:txBody>
          <a:bodyPr wrap="square">
            <a:spAutoFit/>
          </a:bodyPr>
          <a:lstStyle/>
          <a:p>
            <a:pPr algn="l"/>
            <a:r>
              <a:rPr lang="en-US" sz="2800" dirty="0">
                <a:solidFill>
                  <a:schemeClr val="tx1"/>
                </a:solidFill>
                <a:latin typeface="Montserrat Bold"/>
              </a:rPr>
              <a:t>For a learning </a:t>
            </a:r>
            <a:r>
              <a:rPr lang="en-US" sz="2800" dirty="0" err="1">
                <a:solidFill>
                  <a:schemeClr val="tx1"/>
                </a:solidFill>
                <a:latin typeface="Montserrat Bold"/>
              </a:rPr>
              <a:t>linux</a:t>
            </a:r>
            <a:r>
              <a:rPr lang="en-US" sz="2800" dirty="0">
                <a:solidFill>
                  <a:schemeClr val="tx1"/>
                </a:solidFill>
                <a:latin typeface="Montserrat Bold"/>
              </a:rPr>
              <a:t> </a:t>
            </a:r>
            <a:r>
              <a:rPr lang="en-US" sz="2800" dirty="0" err="1">
                <a:solidFill>
                  <a:schemeClr val="tx1"/>
                </a:solidFill>
                <a:latin typeface="Montserrat Bold"/>
              </a:rPr>
              <a:t>ctf-ish</a:t>
            </a:r>
            <a:r>
              <a:rPr lang="en-US" sz="2800" dirty="0">
                <a:solidFill>
                  <a:schemeClr val="tx1"/>
                </a:solidFill>
                <a:latin typeface="Montserrat Bold"/>
              </a:rPr>
              <a:t> game, visit: </a:t>
            </a:r>
            <a:r>
              <a:rPr lang="en-US" sz="2800" dirty="0">
                <a:solidFill>
                  <a:schemeClr val="accent2"/>
                </a:solidFill>
                <a:latin typeface="Montserrat Bold"/>
                <a:hlinkClick r:id="rId7">
                  <a:extLst>
                    <a:ext uri="{A12FA001-AC4F-418D-AE19-62706E023703}">
                      <ahyp:hlinkClr xmlns:ahyp="http://schemas.microsoft.com/office/drawing/2018/hyperlinkcolor" val="tx"/>
                    </a:ext>
                  </a:extLst>
                </a:hlinkClick>
              </a:rPr>
              <a:t>http://overthewire.org/wargames/bandit/</a:t>
            </a:r>
            <a:endParaRPr lang="en-US" sz="2800" dirty="0">
              <a:solidFill>
                <a:schemeClr val="accent2"/>
              </a:solidFill>
              <a:latin typeface="Montserrat Bold"/>
            </a:endParaRPr>
          </a:p>
        </p:txBody>
      </p:sp>
      <p:sp>
        <p:nvSpPr>
          <p:cNvPr id="17" name="Circle">
            <a:extLst>
              <a:ext uri="{FF2B5EF4-FFF2-40B4-BE49-F238E27FC236}">
                <a16:creationId xmlns:a16="http://schemas.microsoft.com/office/drawing/2014/main" id="{2BD989F7-E97F-45B3-B369-9FE160A2229C}"/>
              </a:ext>
            </a:extLst>
          </p:cNvPr>
          <p:cNvSpPr/>
          <p:nvPr/>
        </p:nvSpPr>
        <p:spPr>
          <a:xfrm>
            <a:off x="981879" y="9970611"/>
            <a:ext cx="1318636" cy="1318636"/>
          </a:xfrm>
          <a:prstGeom prst="ellipse">
            <a:avLst/>
          </a:prstGeom>
          <a:ln w="76200">
            <a:solidFill>
              <a:schemeClr val="tx2"/>
            </a:solidFill>
            <a:miter lim="400000"/>
          </a:ln>
        </p:spPr>
        <p:txBody>
          <a:bodyPr lIns="50800" tIns="50800" rIns="50800" bIns="50800" anchor="ctr"/>
          <a:lstStyle/>
          <a:p>
            <a:pPr>
              <a:defRPr sz="3600">
                <a:solidFill>
                  <a:srgbClr val="FFFFFF"/>
                </a:solidFill>
                <a:latin typeface="Montserrat Bold"/>
                <a:ea typeface="Montserrat Bold"/>
                <a:cs typeface="Montserrat Bold"/>
                <a:sym typeface="Montserrat Bold"/>
              </a:defRPr>
            </a:pPr>
            <a:endParaRPr b="1" dirty="0">
              <a:latin typeface="Calibri Bold"/>
            </a:endParaRPr>
          </a:p>
        </p:txBody>
      </p:sp>
      <p:pic>
        <p:nvPicPr>
          <p:cNvPr id="18" name="Graphic 17" descr="Link">
            <a:extLst>
              <a:ext uri="{FF2B5EF4-FFF2-40B4-BE49-F238E27FC236}">
                <a16:creationId xmlns:a16="http://schemas.microsoft.com/office/drawing/2014/main" id="{C5A36F3C-C76B-44A2-8831-20DCCFE4F4C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81455" y="10173051"/>
            <a:ext cx="914400" cy="914400"/>
          </a:xfrm>
          <a:prstGeom prst="rect">
            <a:avLst/>
          </a:prstGeom>
        </p:spPr>
      </p:pic>
      <p:pic>
        <p:nvPicPr>
          <p:cNvPr id="1026" name="Picture 2">
            <a:extLst>
              <a:ext uri="{FF2B5EF4-FFF2-40B4-BE49-F238E27FC236}">
                <a16:creationId xmlns:a16="http://schemas.microsoft.com/office/drawing/2014/main" id="{37BF11D6-31FE-48AB-9C60-B921A9BBF357}"/>
              </a:ext>
              <a:ext uri="{C183D7F6-B498-43B3-948B-1728B52AA6E4}">
                <adec:decorative xmlns:adec="http://schemas.microsoft.com/office/drawing/2017/decorative" val="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614008" y="4311480"/>
            <a:ext cx="4610082" cy="3841735"/>
          </a:xfrm>
          <a:prstGeom prst="rect">
            <a:avLst/>
          </a:prstGeom>
          <a:noFill/>
          <a:extLst>
            <a:ext uri="{909E8E84-426E-40DD-AFC4-6F175D3DCCD1}">
              <a14:hiddenFill xmlns:a14="http://schemas.microsoft.com/office/drawing/2010/main">
                <a:solidFill>
                  <a:srgbClr val="FFFFFF"/>
                </a:solidFill>
              </a14:hiddenFill>
            </a:ext>
          </a:extLst>
        </p:spPr>
      </p:pic>
      <p:sp>
        <p:nvSpPr>
          <p:cNvPr id="19" name="Rectangle">
            <a:extLst>
              <a:ext uri="{FF2B5EF4-FFF2-40B4-BE49-F238E27FC236}">
                <a16:creationId xmlns:a16="http://schemas.microsoft.com/office/drawing/2014/main" id="{62BA2F89-F0D5-496C-A405-7F44D3A81D0E}"/>
              </a:ext>
            </a:extLst>
          </p:cNvPr>
          <p:cNvSpPr/>
          <p:nvPr/>
        </p:nvSpPr>
        <p:spPr>
          <a:xfrm>
            <a:off x="18349109" y="3993502"/>
            <a:ext cx="5139881" cy="4445246"/>
          </a:xfrm>
          <a:prstGeom prst="roundRect">
            <a:avLst>
              <a:gd name="adj" fmla="val 0"/>
            </a:avLst>
          </a:prstGeom>
          <a:ln w="50800">
            <a:solidFill>
              <a:schemeClr val="accent3"/>
            </a:solidFill>
            <a:miter lim="400000"/>
          </a:ln>
        </p:spPr>
        <p:txBody>
          <a:bodyPr lIns="50800" tIns="50800" rIns="50800" bIns="50800" anchor="ctr"/>
          <a:lstStyle/>
          <a:p>
            <a:pPr defTabSz="584200">
              <a:defRPr sz="4000">
                <a:solidFill>
                  <a:srgbClr val="FFFFFF"/>
                </a:solidFill>
                <a:effectLst>
                  <a:outerShdw blurRad="38100" dist="12700" dir="5400000" rotWithShape="0">
                    <a:srgbClr val="000000">
                      <a:alpha val="50000"/>
                    </a:srgbClr>
                  </a:outerShdw>
                </a:effectLst>
              </a:defRPr>
            </a:pPr>
            <a:endParaRPr dirty="0">
              <a:latin typeface="Calibri Regular"/>
              <a:ea typeface="Arial Regular" charset="0"/>
              <a:cs typeface="Arial Regular" charset="0"/>
            </a:endParaRPr>
          </a:p>
        </p:txBody>
      </p:sp>
      <p:sp>
        <p:nvSpPr>
          <p:cNvPr id="2" name="Rectangle 1">
            <a:extLst>
              <a:ext uri="{FF2B5EF4-FFF2-40B4-BE49-F238E27FC236}">
                <a16:creationId xmlns:a16="http://schemas.microsoft.com/office/drawing/2014/main" id="{F0C52D5A-555E-4A74-AC4B-D984D08621FF}"/>
              </a:ext>
            </a:extLst>
          </p:cNvPr>
          <p:cNvSpPr/>
          <p:nvPr/>
        </p:nvSpPr>
        <p:spPr>
          <a:xfrm>
            <a:off x="18620859" y="8790306"/>
            <a:ext cx="4596379" cy="830997"/>
          </a:xfrm>
          <a:prstGeom prst="rect">
            <a:avLst/>
          </a:prstGeom>
        </p:spPr>
        <p:txBody>
          <a:bodyPr wrap="square">
            <a:spAutoFit/>
          </a:bodyPr>
          <a:lstStyle/>
          <a:p>
            <a:r>
              <a:rPr lang="en-US" sz="2400" dirty="0">
                <a:solidFill>
                  <a:schemeClr val="tx1"/>
                </a:solidFill>
                <a:latin typeface="Montserrat" panose="02000505000000020004" pitchFamily="2" charset="0"/>
              </a:rPr>
              <a:t>This man is the Linux guru</a:t>
            </a:r>
          </a:p>
          <a:p>
            <a:r>
              <a:rPr lang="en-US" sz="2400" dirty="0">
                <a:solidFill>
                  <a:schemeClr val="tx1"/>
                </a:solidFill>
                <a:latin typeface="Montserrat" panose="02000505000000020004" pitchFamily="2" charset="0"/>
              </a:rPr>
              <a:t>(but maybe not polite).</a:t>
            </a:r>
          </a:p>
        </p:txBody>
      </p:sp>
    </p:spTree>
    <p:custDataLst>
      <p:tags r:id="rId1"/>
    </p:custDataLst>
    <p:extLst>
      <p:ext uri="{BB962C8B-B14F-4D97-AF65-F5344CB8AC3E}">
        <p14:creationId xmlns:p14="http://schemas.microsoft.com/office/powerpoint/2010/main" val="235143894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fade">
                                      <p:cBhvr>
                                        <p:cTn id="7" dur="500"/>
                                        <p:tgtEl>
                                          <p:spTgt spid="102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500"/>
                                        <p:tgtEl>
                                          <p:spTgt spid="1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5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12"/>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6"/>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7"/>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8"/>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14"/>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9" dur="1" fill="hold">
                                          <p:stCondLst>
                                            <p:cond delay="0"/>
                                          </p:stCondLst>
                                        </p:cTn>
                                        <p:tgtEl>
                                          <p:spTgt spid="15"/>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13"/>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16"/>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17"/>
                                        </p:tgtEl>
                                        <p:attrNameLst>
                                          <p:attrName>style.visibility</p:attrName>
                                        </p:attrNameLst>
                                      </p:cBhvr>
                                      <p:to>
                                        <p:strVal val="visible"/>
                                      </p:to>
                                    </p:set>
                                  </p:childTnLst>
                                </p:cTn>
                              </p:par>
                              <p:par>
                                <p:cTn id="48" presetID="1" presetClass="entr" presetSubtype="0" fill="hold" nodeType="withEffect">
                                  <p:stCondLst>
                                    <p:cond delay="0"/>
                                  </p:stCondLst>
                                  <p:childTnLst>
                                    <p:set>
                                      <p:cBhvr>
                                        <p:cTn id="49"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2" grpId="0" animBg="1"/>
      <p:bldP spid="13" grpId="0"/>
      <p:bldP spid="14" grpId="0" animBg="1"/>
      <p:bldP spid="16" grpId="0"/>
      <p:bldP spid="17" grpId="0" animBg="1"/>
      <p:bldP spid="19" grpId="0" animBg="1"/>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curity">
            <a:extLst>
              <a:ext uri="{FF2B5EF4-FFF2-40B4-BE49-F238E27FC236}">
                <a16:creationId xmlns:a16="http://schemas.microsoft.com/office/drawing/2014/main" id="{DA9002C0-3B39-4D5E-B76A-51AB728215F3}"/>
              </a:ext>
            </a:extLst>
          </p:cNvPr>
          <p:cNvSpPr>
            <a:spLocks noGrp="1"/>
          </p:cNvSpPr>
          <p:nvPr>
            <p:ph type="title" idx="4294967295"/>
          </p:nvPr>
        </p:nvSpPr>
        <p:spPr>
          <a:xfrm>
            <a:off x="1063690" y="436182"/>
            <a:ext cx="22617404" cy="892937"/>
          </a:xfrm>
          <a:prstGeom prst="rect">
            <a:avLst/>
          </a:prstGeom>
          <a:noFill/>
          <a:ln w="12700">
            <a:noFill/>
            <a:prstDash/>
            <a:miter lim="400000"/>
          </a:ln>
          <a:effectLst/>
          <a:extLst>
            <a:ext uri="{C572A759-6A51-4108-AA02-DFA0A04FC94B}">
              <ma14:wrappingTextBoxFlag xmlns:ma14="http://schemas.microsoft.com/office/mac/drawingml/2011/main" xmlns="" val="1"/>
            </a:ext>
          </a:ex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lvl1pPr defTabSz="1155700">
              <a:lnSpc>
                <a:spcPct val="80000"/>
              </a:lnSpc>
              <a:defRPr sz="7200" cap="all">
                <a:solidFill>
                  <a:srgbClr val="FFFFFF"/>
                </a:solidFill>
                <a:latin typeface="Montserrat Bold"/>
                <a:ea typeface="Montserrat Bold"/>
                <a:cs typeface="Montserrat Bold"/>
                <a:sym typeface="Montserrat Bold"/>
              </a:defRPr>
            </a:lvl1pPr>
          </a:lstStyle>
          <a:p>
            <a:pPr marL="0" marR="0" lvl="0" indent="0" algn="ctr" defTabSz="1155700" rtl="0" eaLnBrk="1" fontAlgn="auto" latinLnBrk="0" hangingPunct="0">
              <a:lnSpc>
                <a:spcPct val="80000"/>
              </a:lnSpc>
              <a:spcBef>
                <a:spcPts val="0"/>
              </a:spcBef>
              <a:spcAft>
                <a:spcPts val="0"/>
              </a:spcAft>
              <a:buClrTx/>
              <a:buSzTx/>
              <a:buFontTx/>
              <a:buNone/>
              <a:tabLst/>
              <a:defRPr/>
            </a:pPr>
            <a:r>
              <a:rPr kumimoji="0" lang="en-US" sz="7200" b="1" i="0" u="none" strike="noStrike" kern="0" cap="all" spc="0" normalizeH="0" baseline="0" noProof="0" dirty="0">
                <a:ln>
                  <a:noFill/>
                </a:ln>
                <a:solidFill>
                  <a:schemeClr val="tx2"/>
                </a:solidFill>
                <a:effectLst/>
                <a:uLnTx/>
                <a:uFillTx/>
                <a:latin typeface="Montserrat" panose="02000505000000020004" pitchFamily="2" charset="0"/>
                <a:ea typeface="Montserrat Bold"/>
                <a:cs typeface="Montserrat Bold"/>
                <a:sym typeface="Montserrat Bold"/>
              </a:rPr>
              <a:t>What’s the Etc. Part?</a:t>
            </a:r>
          </a:p>
        </p:txBody>
      </p:sp>
      <p:sp>
        <p:nvSpPr>
          <p:cNvPr id="4" name="Cyber Security…">
            <a:extLst>
              <a:ext uri="{FF2B5EF4-FFF2-40B4-BE49-F238E27FC236}">
                <a16:creationId xmlns:a16="http://schemas.microsoft.com/office/drawing/2014/main" id="{D4F234CF-4317-4576-A863-7182EB0AD45F}"/>
              </a:ext>
            </a:extLst>
          </p:cNvPr>
          <p:cNvSpPr/>
          <p:nvPr/>
        </p:nvSpPr>
        <p:spPr>
          <a:xfrm>
            <a:off x="1205061" y="3121475"/>
            <a:ext cx="10532849" cy="1480983"/>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nchor="ctr">
            <a:spAutoFit/>
          </a:bodyPr>
          <a:lstStyle/>
          <a:p>
            <a:pPr algn="l" defTabSz="1155700">
              <a:lnSpc>
                <a:spcPct val="80000"/>
              </a:lnSpc>
              <a:defRPr sz="7200">
                <a:solidFill>
                  <a:srgbClr val="FFFFFF"/>
                </a:solidFill>
                <a:latin typeface="Montserrat Bold"/>
                <a:ea typeface="Montserrat Bold"/>
                <a:cs typeface="Montserrat Bold"/>
                <a:sym typeface="Montserrat Bold"/>
              </a:defRPr>
            </a:pPr>
            <a:r>
              <a:rPr lang="en-US" sz="4000" dirty="0">
                <a:solidFill>
                  <a:schemeClr val="tx1"/>
                </a:solidFill>
                <a:latin typeface="Montserrat" panose="02000505000000020004" pitchFamily="2" charset="0"/>
              </a:rPr>
              <a:t>The Etc. Part is how to log in to the UF </a:t>
            </a:r>
            <a:r>
              <a:rPr lang="en-US" sz="4000" dirty="0" err="1">
                <a:solidFill>
                  <a:schemeClr val="tx1"/>
                </a:solidFill>
                <a:latin typeface="Montserrat" panose="02000505000000020004" pitchFamily="2" charset="0"/>
              </a:rPr>
              <a:t>Netlab</a:t>
            </a:r>
            <a:r>
              <a:rPr lang="en-US" sz="4000" dirty="0">
                <a:solidFill>
                  <a:schemeClr val="tx1"/>
                </a:solidFill>
                <a:latin typeface="Montserrat" panose="02000505000000020004" pitchFamily="2" charset="0"/>
              </a:rPr>
              <a:t> NDG server so you can complete exercises for the class.</a:t>
            </a:r>
          </a:p>
        </p:txBody>
      </p:sp>
      <p:sp>
        <p:nvSpPr>
          <p:cNvPr id="5" name="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a:extLst>
              <a:ext uri="{FF2B5EF4-FFF2-40B4-BE49-F238E27FC236}">
                <a16:creationId xmlns:a16="http://schemas.microsoft.com/office/drawing/2014/main" id="{E7B40CCE-7740-4723-9216-12033A2F3A4C}"/>
              </a:ext>
            </a:extLst>
          </p:cNvPr>
          <p:cNvSpPr/>
          <p:nvPr/>
        </p:nvSpPr>
        <p:spPr>
          <a:xfrm>
            <a:off x="1063690" y="8079608"/>
            <a:ext cx="10301126" cy="3581686"/>
          </a:xfrm>
          <a:prstGeom prst="rect">
            <a:avLst/>
          </a:prstGeom>
          <a:ln w="12700"/>
          <a:extLst>
            <a:ext uri="{C572A759-6A51-4108-AA02-DFA0A04FC94B}">
              <ma14:wrappingTextBoxFlag xmlns:ma14="http://schemas.microsoft.com/office/mac/drawingml/2011/main" xmlns="" val="1"/>
            </a:ext>
          </a:extLst>
        </p:spPr>
        <p:txBody>
          <a:bodyPr wrap="square" lIns="0" tIns="0" rIns="0" bIns="0">
            <a:spAutoFit/>
          </a:bodyPr>
          <a:lstStyle>
            <a:lvl1pPr algn="l" defTabSz="952500">
              <a:lnSpc>
                <a:spcPct val="130000"/>
              </a:lnSpc>
              <a:buClr>
                <a:srgbClr val="E9F6FA"/>
              </a:buClr>
              <a:buFont typeface="Helvetica Neue UltraLight"/>
              <a:defRPr sz="3000">
                <a:solidFill>
                  <a:srgbClr val="FFFFFF"/>
                </a:solidFill>
                <a:uFill>
                  <a:solidFill>
                    <a:srgbClr val="FFFFFF"/>
                  </a:solidFill>
                </a:uFill>
                <a:latin typeface="Helvetica Neue"/>
                <a:ea typeface="Helvetica Neue"/>
                <a:cs typeface="Helvetica Neue"/>
                <a:sym typeface="Helvetica Neue"/>
              </a:defRPr>
            </a:lvl1pPr>
          </a:lstStyle>
          <a:p>
            <a:pPr>
              <a:spcBef>
                <a:spcPts val="600"/>
              </a:spcBef>
              <a:spcAft>
                <a:spcPts val="600"/>
              </a:spcAft>
            </a:pPr>
            <a:r>
              <a:rPr lang="en-US" sz="2900" dirty="0">
                <a:solidFill>
                  <a:schemeClr val="tx2"/>
                </a:solidFill>
                <a:latin typeface="Montserrat" panose="02000505000000020004" pitchFamily="2" charset="0"/>
                <a:ea typeface="Arial Regular" charset="0"/>
                <a:cs typeface="Arial Regular" charset="0"/>
              </a:rPr>
              <a:t>You log in using credentials you will receive (or already have received from me) via email.</a:t>
            </a:r>
          </a:p>
          <a:p>
            <a:pPr>
              <a:spcBef>
                <a:spcPts val="600"/>
              </a:spcBef>
              <a:spcAft>
                <a:spcPts val="600"/>
              </a:spcAft>
            </a:pPr>
            <a:r>
              <a:rPr lang="en-US" sz="2900" dirty="0">
                <a:solidFill>
                  <a:schemeClr val="tx2"/>
                </a:solidFill>
                <a:latin typeface="Montserrat" panose="02000505000000020004" pitchFamily="2" charset="0"/>
                <a:ea typeface="Arial Regular" charset="0"/>
                <a:cs typeface="Arial Regular" charset="0"/>
              </a:rPr>
              <a:t>NDG has copious documentation about its </a:t>
            </a:r>
            <a:r>
              <a:rPr lang="en-US" sz="2900" dirty="0" err="1">
                <a:solidFill>
                  <a:schemeClr val="tx2"/>
                </a:solidFill>
                <a:latin typeface="Montserrat" panose="02000505000000020004" pitchFamily="2" charset="0"/>
                <a:ea typeface="Arial Regular" charset="0"/>
                <a:cs typeface="Arial Regular" charset="0"/>
              </a:rPr>
              <a:t>Netlab</a:t>
            </a:r>
            <a:r>
              <a:rPr lang="en-US" sz="2900" dirty="0">
                <a:solidFill>
                  <a:schemeClr val="tx2"/>
                </a:solidFill>
                <a:latin typeface="Montserrat" panose="02000505000000020004" pitchFamily="2" charset="0"/>
                <a:ea typeface="Arial Regular" charset="0"/>
                <a:cs typeface="Arial Regular" charset="0"/>
              </a:rPr>
              <a:t>-VE product. The </a:t>
            </a:r>
            <a:r>
              <a:rPr lang="en-US" sz="2900" dirty="0">
                <a:solidFill>
                  <a:schemeClr val="accent2"/>
                </a:solidFill>
                <a:latin typeface="Montserrat" panose="02000505000000020004" pitchFamily="2" charset="0"/>
                <a:ea typeface="Arial Regular" charset="0"/>
                <a:cs typeface="Arial Regular" charset="0"/>
                <a:hlinkClick r:id="rId4">
                  <a:extLst>
                    <a:ext uri="{A12FA001-AC4F-418D-AE19-62706E023703}">
                      <ahyp:hlinkClr xmlns:ahyp="http://schemas.microsoft.com/office/drawing/2018/hyperlinkcolor" val="tx"/>
                    </a:ext>
                  </a:extLst>
                </a:hlinkClick>
              </a:rPr>
              <a:t>student guide</a:t>
            </a:r>
            <a:r>
              <a:rPr lang="en-US" sz="2900" dirty="0">
                <a:solidFill>
                  <a:schemeClr val="accent2"/>
                </a:solidFill>
                <a:latin typeface="Montserrat" panose="02000505000000020004" pitchFamily="2" charset="0"/>
                <a:ea typeface="Arial Regular" charset="0"/>
                <a:cs typeface="Arial Regular" charset="0"/>
              </a:rPr>
              <a:t> </a:t>
            </a:r>
            <a:r>
              <a:rPr lang="en-US" sz="2900" dirty="0">
                <a:solidFill>
                  <a:schemeClr val="tx2"/>
                </a:solidFill>
                <a:latin typeface="Montserrat" panose="02000505000000020004" pitchFamily="2" charset="0"/>
                <a:ea typeface="Arial Regular" charset="0"/>
                <a:cs typeface="Arial Regular" charset="0"/>
              </a:rPr>
              <a:t>may be useful to you. I find this documentation tedious to read, so I will show you how to log in and start a lab exercise.</a:t>
            </a:r>
          </a:p>
        </p:txBody>
      </p:sp>
      <p:sp>
        <p:nvSpPr>
          <p:cNvPr id="6" name="Circle">
            <a:extLst>
              <a:ext uri="{FF2B5EF4-FFF2-40B4-BE49-F238E27FC236}">
                <a16:creationId xmlns:a16="http://schemas.microsoft.com/office/drawing/2014/main" id="{622C17DE-4504-4996-B2CD-401614CCA495}"/>
              </a:ext>
            </a:extLst>
          </p:cNvPr>
          <p:cNvSpPr/>
          <p:nvPr/>
        </p:nvSpPr>
        <p:spPr>
          <a:xfrm>
            <a:off x="2168471" y="5257112"/>
            <a:ext cx="214553" cy="214554"/>
          </a:xfrm>
          <a:prstGeom prst="ellipse">
            <a:avLst/>
          </a:prstGeom>
          <a:solidFill>
            <a:schemeClr val="accent2"/>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solidFill>
                <a:schemeClr val="tx2"/>
              </a:solidFill>
              <a:latin typeface="Montserrat" panose="02000505000000020004" pitchFamily="2" charset="0"/>
              <a:ea typeface="Arial Regular" charset="0"/>
              <a:cs typeface="Arial Regular" charset="0"/>
            </a:endParaRPr>
          </a:p>
        </p:txBody>
      </p:sp>
      <p:sp>
        <p:nvSpPr>
          <p:cNvPr id="7" name="Circle">
            <a:extLst>
              <a:ext uri="{FF2B5EF4-FFF2-40B4-BE49-F238E27FC236}">
                <a16:creationId xmlns:a16="http://schemas.microsoft.com/office/drawing/2014/main" id="{B71709F8-EB41-4CA0-9A1E-E069CCF0FA54}"/>
              </a:ext>
            </a:extLst>
          </p:cNvPr>
          <p:cNvSpPr/>
          <p:nvPr/>
        </p:nvSpPr>
        <p:spPr>
          <a:xfrm>
            <a:off x="1848358" y="5257112"/>
            <a:ext cx="214554" cy="214554"/>
          </a:xfrm>
          <a:prstGeom prst="ellipse">
            <a:avLst/>
          </a:prstGeom>
          <a:solidFill>
            <a:schemeClr val="accent3"/>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solidFill>
                <a:schemeClr val="tx2"/>
              </a:solidFill>
              <a:latin typeface="Montserrat" panose="02000505000000020004" pitchFamily="2" charset="0"/>
              <a:ea typeface="Arial Regular" charset="0"/>
              <a:cs typeface="Arial Regular" charset="0"/>
            </a:endParaRPr>
          </a:p>
        </p:txBody>
      </p:sp>
      <p:sp>
        <p:nvSpPr>
          <p:cNvPr id="8" name="Circle">
            <a:extLst>
              <a:ext uri="{FF2B5EF4-FFF2-40B4-BE49-F238E27FC236}">
                <a16:creationId xmlns:a16="http://schemas.microsoft.com/office/drawing/2014/main" id="{719FF64F-C607-43F4-97BF-D34E17D4BDFF}"/>
              </a:ext>
            </a:extLst>
          </p:cNvPr>
          <p:cNvSpPr/>
          <p:nvPr/>
        </p:nvSpPr>
        <p:spPr>
          <a:xfrm>
            <a:off x="1528244" y="5257112"/>
            <a:ext cx="214553" cy="214554"/>
          </a:xfrm>
          <a:prstGeom prst="ellipse">
            <a:avLst/>
          </a:prstGeom>
          <a:solidFill>
            <a:schemeClr val="accent1"/>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solidFill>
                <a:schemeClr val="tx2"/>
              </a:solidFill>
              <a:latin typeface="Montserrat" panose="02000505000000020004" pitchFamily="2" charset="0"/>
              <a:ea typeface="Arial Regular" charset="0"/>
              <a:cs typeface="Arial Regular" charset="0"/>
            </a:endParaRPr>
          </a:p>
        </p:txBody>
      </p:sp>
      <p:sp>
        <p:nvSpPr>
          <p:cNvPr id="9" name="Circle">
            <a:extLst>
              <a:ext uri="{FF2B5EF4-FFF2-40B4-BE49-F238E27FC236}">
                <a16:creationId xmlns:a16="http://schemas.microsoft.com/office/drawing/2014/main" id="{F7C05506-ABAD-4E69-A86F-10C179E5EFEA}"/>
              </a:ext>
            </a:extLst>
          </p:cNvPr>
          <p:cNvSpPr/>
          <p:nvPr/>
        </p:nvSpPr>
        <p:spPr>
          <a:xfrm>
            <a:off x="1207087" y="5257112"/>
            <a:ext cx="214553" cy="214554"/>
          </a:xfrm>
          <a:prstGeom prst="ellipse">
            <a:avLst/>
          </a:prstGeom>
          <a:solidFill>
            <a:schemeClr val="accent4"/>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solidFill>
                <a:schemeClr val="tx2"/>
              </a:solidFill>
              <a:latin typeface="Montserrat" panose="02000505000000020004" pitchFamily="2" charset="0"/>
              <a:ea typeface="Arial Regular" charset="0"/>
              <a:cs typeface="Arial Regular" charset="0"/>
            </a:endParaRPr>
          </a:p>
        </p:txBody>
      </p:sp>
      <p:sp>
        <p:nvSpPr>
          <p:cNvPr id="12" name="Rectangle 11">
            <a:extLst>
              <a:ext uri="{FF2B5EF4-FFF2-40B4-BE49-F238E27FC236}">
                <a16:creationId xmlns:a16="http://schemas.microsoft.com/office/drawing/2014/main" id="{EEA65AF4-6DEE-45F3-90DE-B8C185341C43}"/>
              </a:ext>
            </a:extLst>
          </p:cNvPr>
          <p:cNvSpPr/>
          <p:nvPr/>
        </p:nvSpPr>
        <p:spPr>
          <a:xfrm>
            <a:off x="2745450" y="6331443"/>
            <a:ext cx="10018827" cy="1077218"/>
          </a:xfrm>
          <a:prstGeom prst="rect">
            <a:avLst/>
          </a:prstGeom>
        </p:spPr>
        <p:txBody>
          <a:bodyPr wrap="square">
            <a:spAutoFit/>
          </a:bodyPr>
          <a:lstStyle/>
          <a:p>
            <a:pPr algn="l"/>
            <a:r>
              <a:rPr lang="en-US" sz="3200" dirty="0">
                <a:solidFill>
                  <a:schemeClr val="tx1"/>
                </a:solidFill>
                <a:latin typeface="Montserrat Bold"/>
              </a:rPr>
              <a:t>You connect to this server at </a:t>
            </a:r>
            <a:r>
              <a:rPr lang="en-US" sz="3200" dirty="0">
                <a:solidFill>
                  <a:schemeClr val="accent2"/>
                </a:solidFill>
                <a:latin typeface="Montserrat Bold"/>
                <a:hlinkClick r:id="rId5">
                  <a:extLst>
                    <a:ext uri="{A12FA001-AC4F-418D-AE19-62706E023703}">
                      <ahyp:hlinkClr xmlns:ahyp="http://schemas.microsoft.com/office/drawing/2018/hyperlinkcolor" val="tx"/>
                    </a:ext>
                  </a:extLst>
                </a:hlinkClick>
              </a:rPr>
              <a:t>https://ndg.cise.ufl.edu</a:t>
            </a:r>
            <a:r>
              <a:rPr lang="en-US" sz="3200" dirty="0">
                <a:solidFill>
                  <a:schemeClr val="accent2"/>
                </a:solidFill>
                <a:latin typeface="Montserrat Bold"/>
              </a:rPr>
              <a:t> </a:t>
            </a:r>
          </a:p>
        </p:txBody>
      </p:sp>
      <p:sp>
        <p:nvSpPr>
          <p:cNvPr id="13" name="Circle">
            <a:extLst>
              <a:ext uri="{FF2B5EF4-FFF2-40B4-BE49-F238E27FC236}">
                <a16:creationId xmlns:a16="http://schemas.microsoft.com/office/drawing/2014/main" id="{BE312D58-E6D0-46BC-8A68-81ED91A3E206}"/>
              </a:ext>
            </a:extLst>
          </p:cNvPr>
          <p:cNvSpPr/>
          <p:nvPr/>
        </p:nvSpPr>
        <p:spPr>
          <a:xfrm>
            <a:off x="1063690" y="6129003"/>
            <a:ext cx="1318636" cy="1318636"/>
          </a:xfrm>
          <a:prstGeom prst="ellipse">
            <a:avLst/>
          </a:prstGeom>
          <a:ln w="76200">
            <a:solidFill>
              <a:schemeClr val="tx2"/>
            </a:solidFill>
            <a:miter lim="400000"/>
          </a:ln>
        </p:spPr>
        <p:txBody>
          <a:bodyPr lIns="50800" tIns="50800" rIns="50800" bIns="50800" anchor="ctr"/>
          <a:lstStyle/>
          <a:p>
            <a:pPr>
              <a:defRPr sz="3600">
                <a:solidFill>
                  <a:srgbClr val="FFFFFF"/>
                </a:solidFill>
                <a:latin typeface="Montserrat Bold"/>
                <a:ea typeface="Montserrat Bold"/>
                <a:cs typeface="Montserrat Bold"/>
                <a:sym typeface="Montserrat Bold"/>
              </a:defRPr>
            </a:pPr>
            <a:endParaRPr b="1" dirty="0">
              <a:latin typeface="Calibri Bold"/>
            </a:endParaRPr>
          </a:p>
        </p:txBody>
      </p:sp>
      <p:pic>
        <p:nvPicPr>
          <p:cNvPr id="14" name="Graphic 13" descr="Link">
            <a:extLst>
              <a:ext uri="{FF2B5EF4-FFF2-40B4-BE49-F238E27FC236}">
                <a16:creationId xmlns:a16="http://schemas.microsoft.com/office/drawing/2014/main" id="{C16B5EBD-4864-4D40-B9AD-583BB1B547D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63266" y="6331443"/>
            <a:ext cx="914400" cy="914400"/>
          </a:xfrm>
          <a:prstGeom prst="rect">
            <a:avLst/>
          </a:prstGeom>
        </p:spPr>
      </p:pic>
    </p:spTree>
    <p:custDataLst>
      <p:tags r:id="rId1"/>
    </p:custDataLst>
    <p:extLst>
      <p:ext uri="{BB962C8B-B14F-4D97-AF65-F5344CB8AC3E}">
        <p14:creationId xmlns:p14="http://schemas.microsoft.com/office/powerpoint/2010/main" val="1672979576"/>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2" grpId="0"/>
      <p:bldP spid="1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curity">
            <a:extLst>
              <a:ext uri="{FF2B5EF4-FFF2-40B4-BE49-F238E27FC236}">
                <a16:creationId xmlns:a16="http://schemas.microsoft.com/office/drawing/2014/main" id="{DA9002C0-3B39-4D5E-B76A-51AB728215F3}"/>
              </a:ext>
            </a:extLst>
          </p:cNvPr>
          <p:cNvSpPr>
            <a:spLocks noGrp="1"/>
          </p:cNvSpPr>
          <p:nvPr>
            <p:ph type="title" idx="4294967295"/>
          </p:nvPr>
        </p:nvSpPr>
        <p:spPr>
          <a:xfrm>
            <a:off x="1063690" y="436182"/>
            <a:ext cx="22617404" cy="892937"/>
          </a:xfrm>
          <a:prstGeom prst="rect">
            <a:avLst/>
          </a:prstGeom>
          <a:noFill/>
          <a:ln w="12700">
            <a:noFill/>
            <a:prstDash/>
            <a:miter lim="400000"/>
          </a:ln>
          <a:effectLst/>
          <a:extLst>
            <a:ext uri="{C572A759-6A51-4108-AA02-DFA0A04FC94B}">
              <ma14:wrappingTextBoxFlag xmlns:ma14="http://schemas.microsoft.com/office/mac/drawingml/2011/main" xmlns="" val="1"/>
            </a:ext>
          </a:ex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lvl1pPr defTabSz="1155700">
              <a:lnSpc>
                <a:spcPct val="80000"/>
              </a:lnSpc>
              <a:defRPr sz="7200" cap="all">
                <a:solidFill>
                  <a:srgbClr val="FFFFFF"/>
                </a:solidFill>
                <a:latin typeface="Montserrat Bold"/>
                <a:ea typeface="Montserrat Bold"/>
                <a:cs typeface="Montserrat Bold"/>
                <a:sym typeface="Montserrat Bold"/>
              </a:defRPr>
            </a:lvl1pPr>
          </a:lstStyle>
          <a:p>
            <a:pPr marL="0" marR="0" lvl="0" indent="0" algn="ctr" defTabSz="1155700" rtl="0" eaLnBrk="1" fontAlgn="auto" latinLnBrk="0" hangingPunct="0">
              <a:lnSpc>
                <a:spcPct val="80000"/>
              </a:lnSpc>
              <a:spcBef>
                <a:spcPts val="0"/>
              </a:spcBef>
              <a:spcAft>
                <a:spcPts val="0"/>
              </a:spcAft>
              <a:buClrTx/>
              <a:buSzTx/>
              <a:buFontTx/>
              <a:buNone/>
              <a:tabLst/>
              <a:defRPr/>
            </a:pPr>
            <a:r>
              <a:rPr kumimoji="0" lang="en-US" sz="7200" b="1" i="0" u="none" strike="noStrike" kern="0" cap="all" spc="0" normalizeH="0" baseline="0" noProof="0" dirty="0">
                <a:ln>
                  <a:noFill/>
                </a:ln>
                <a:solidFill>
                  <a:schemeClr val="tx2"/>
                </a:solidFill>
                <a:effectLst/>
                <a:uLnTx/>
                <a:uFillTx/>
                <a:latin typeface="Montserrat" panose="02000505000000020004" pitchFamily="2" charset="0"/>
                <a:ea typeface="Montserrat Bold"/>
                <a:cs typeface="Montserrat Bold"/>
                <a:sym typeface="Montserrat Bold"/>
              </a:rPr>
              <a:t>What About Logging In to Kali?</a:t>
            </a:r>
          </a:p>
        </p:txBody>
      </p:sp>
      <p:sp>
        <p:nvSpPr>
          <p:cNvPr id="4" name="Cyber Security…">
            <a:extLst>
              <a:ext uri="{FF2B5EF4-FFF2-40B4-BE49-F238E27FC236}">
                <a16:creationId xmlns:a16="http://schemas.microsoft.com/office/drawing/2014/main" id="{D4F234CF-4317-4576-A863-7182EB0AD45F}"/>
              </a:ext>
            </a:extLst>
          </p:cNvPr>
          <p:cNvSpPr/>
          <p:nvPr/>
        </p:nvSpPr>
        <p:spPr>
          <a:xfrm>
            <a:off x="1205061" y="4273735"/>
            <a:ext cx="10532849" cy="1117229"/>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nchor="ctr">
            <a:spAutoFit/>
          </a:bodyPr>
          <a:lstStyle/>
          <a:p>
            <a:pPr algn="l" defTabSz="1155700">
              <a:lnSpc>
                <a:spcPct val="80000"/>
              </a:lnSpc>
              <a:defRPr sz="7200">
                <a:solidFill>
                  <a:srgbClr val="FFFFFF"/>
                </a:solidFill>
                <a:latin typeface="Montserrat Bold"/>
                <a:ea typeface="Montserrat Bold"/>
                <a:cs typeface="Montserrat Bold"/>
                <a:sym typeface="Montserrat Bold"/>
              </a:defRPr>
            </a:pPr>
            <a:r>
              <a:rPr lang="en-US" sz="4000" dirty="0">
                <a:solidFill>
                  <a:schemeClr val="tx1"/>
                </a:solidFill>
                <a:latin typeface="Montserrat" panose="02000505000000020004" pitchFamily="2" charset="0"/>
              </a:rPr>
              <a:t>The default Kali user is </a:t>
            </a:r>
            <a:r>
              <a:rPr lang="en-US" sz="4400" i="1" dirty="0">
                <a:solidFill>
                  <a:schemeClr val="tx1"/>
                </a:solidFill>
                <a:latin typeface="Fira Code" panose="020B0809050000020004" pitchFamily="49" charset="0"/>
                <a:ea typeface="Fira Code" panose="020B0809050000020004" pitchFamily="49" charset="0"/>
              </a:rPr>
              <a:t>kali</a:t>
            </a:r>
            <a:r>
              <a:rPr lang="en-US" sz="4000" dirty="0">
                <a:solidFill>
                  <a:schemeClr val="tx1"/>
                </a:solidFill>
                <a:latin typeface="Montserrat" panose="02000505000000020004" pitchFamily="2" charset="0"/>
              </a:rPr>
              <a:t> with password </a:t>
            </a:r>
            <a:r>
              <a:rPr lang="en-US" sz="4400" i="1" dirty="0">
                <a:solidFill>
                  <a:schemeClr val="tx1"/>
                </a:solidFill>
                <a:latin typeface="Fira Code" panose="020B0809050000020004" pitchFamily="49" charset="0"/>
                <a:ea typeface="Fira Code" panose="020B0809050000020004" pitchFamily="49" charset="0"/>
              </a:rPr>
              <a:t>kali</a:t>
            </a:r>
            <a:r>
              <a:rPr lang="en-US" sz="4000" dirty="0">
                <a:solidFill>
                  <a:schemeClr val="tx1"/>
                </a:solidFill>
                <a:latin typeface="Montserrat" panose="02000505000000020004" pitchFamily="2" charset="0"/>
              </a:rPr>
              <a:t> (very original).</a:t>
            </a:r>
          </a:p>
        </p:txBody>
      </p:sp>
      <p:sp>
        <p:nvSpPr>
          <p:cNvPr id="5" name="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a:extLst>
              <a:ext uri="{FF2B5EF4-FFF2-40B4-BE49-F238E27FC236}">
                <a16:creationId xmlns:a16="http://schemas.microsoft.com/office/drawing/2014/main" id="{E7B40CCE-7740-4723-9216-12033A2F3A4C}"/>
              </a:ext>
            </a:extLst>
          </p:cNvPr>
          <p:cNvSpPr/>
          <p:nvPr/>
        </p:nvSpPr>
        <p:spPr>
          <a:xfrm>
            <a:off x="1207087" y="7273953"/>
            <a:ext cx="10301126" cy="4315733"/>
          </a:xfrm>
          <a:prstGeom prst="rect">
            <a:avLst/>
          </a:prstGeom>
          <a:ln w="12700"/>
          <a:extLst>
            <a:ext uri="{C572A759-6A51-4108-AA02-DFA0A04FC94B}">
              <ma14:wrappingTextBoxFlag xmlns:ma14="http://schemas.microsoft.com/office/mac/drawingml/2011/main" xmlns="" val="1"/>
            </a:ext>
          </a:extLst>
        </p:spPr>
        <p:txBody>
          <a:bodyPr wrap="square" lIns="0" tIns="0" rIns="0" bIns="0">
            <a:spAutoFit/>
          </a:bodyPr>
          <a:lstStyle>
            <a:lvl1pPr algn="l" defTabSz="952500">
              <a:lnSpc>
                <a:spcPct val="130000"/>
              </a:lnSpc>
              <a:buClr>
                <a:srgbClr val="E9F6FA"/>
              </a:buClr>
              <a:buFont typeface="Helvetica Neue UltraLight"/>
              <a:defRPr sz="3000">
                <a:solidFill>
                  <a:srgbClr val="FFFFFF"/>
                </a:solidFill>
                <a:uFill>
                  <a:solidFill>
                    <a:srgbClr val="FFFFFF"/>
                  </a:solidFill>
                </a:uFill>
                <a:latin typeface="Helvetica Neue"/>
                <a:ea typeface="Helvetica Neue"/>
                <a:cs typeface="Helvetica Neue"/>
                <a:sym typeface="Helvetica Neue"/>
              </a:defRPr>
            </a:lvl1pPr>
          </a:lstStyle>
          <a:p>
            <a:pPr>
              <a:spcBef>
                <a:spcPts val="600"/>
              </a:spcBef>
              <a:spcAft>
                <a:spcPts val="600"/>
              </a:spcAft>
            </a:pPr>
            <a:r>
              <a:rPr lang="en-US" sz="2900" dirty="0">
                <a:solidFill>
                  <a:schemeClr val="tx2"/>
                </a:solidFill>
                <a:latin typeface="Montserrat" panose="02000505000000020004" pitchFamily="2" charset="0"/>
                <a:ea typeface="Arial Regular" charset="0"/>
                <a:cs typeface="Arial Regular" charset="0"/>
              </a:rPr>
              <a:t>Don’t ever use the default password.</a:t>
            </a:r>
          </a:p>
          <a:p>
            <a:pPr>
              <a:spcBef>
                <a:spcPts val="600"/>
              </a:spcBef>
              <a:spcAft>
                <a:spcPts val="600"/>
              </a:spcAft>
            </a:pPr>
            <a:r>
              <a:rPr lang="en-US" sz="2900" dirty="0">
                <a:solidFill>
                  <a:schemeClr val="tx2"/>
                </a:solidFill>
                <a:latin typeface="Montserrat" panose="02000505000000020004" pitchFamily="2" charset="0"/>
                <a:ea typeface="Arial Regular" charset="0"/>
                <a:cs typeface="Arial Regular" charset="0"/>
              </a:rPr>
              <a:t>Always change the password whenever you are presented with a machine you are to use and someone else knows the password. Always! Always! (Except when you consciously decide not to.)</a:t>
            </a:r>
          </a:p>
          <a:p>
            <a:pPr>
              <a:spcBef>
                <a:spcPts val="600"/>
              </a:spcBef>
              <a:spcAft>
                <a:spcPts val="600"/>
              </a:spcAft>
            </a:pPr>
            <a:r>
              <a:rPr lang="en-US" sz="2900" dirty="0">
                <a:solidFill>
                  <a:schemeClr val="tx2"/>
                </a:solidFill>
                <a:latin typeface="Montserrat" panose="02000505000000020004" pitchFamily="2" charset="0"/>
                <a:ea typeface="Arial Regular" charset="0"/>
                <a:cs typeface="Arial Regular" charset="0"/>
              </a:rPr>
              <a:t>The username and password for the NDG Kali instances has been given to you in Exercise 0x010.</a:t>
            </a:r>
          </a:p>
        </p:txBody>
      </p:sp>
      <p:sp>
        <p:nvSpPr>
          <p:cNvPr id="6" name="Circle">
            <a:extLst>
              <a:ext uri="{FF2B5EF4-FFF2-40B4-BE49-F238E27FC236}">
                <a16:creationId xmlns:a16="http://schemas.microsoft.com/office/drawing/2014/main" id="{622C17DE-4504-4996-B2CD-401614CCA495}"/>
              </a:ext>
            </a:extLst>
          </p:cNvPr>
          <p:cNvSpPr/>
          <p:nvPr/>
        </p:nvSpPr>
        <p:spPr>
          <a:xfrm>
            <a:off x="2168471" y="6227494"/>
            <a:ext cx="214553" cy="214554"/>
          </a:xfrm>
          <a:prstGeom prst="ellipse">
            <a:avLst/>
          </a:prstGeom>
          <a:solidFill>
            <a:schemeClr val="accent2"/>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solidFill>
                <a:schemeClr val="tx2"/>
              </a:solidFill>
              <a:latin typeface="Montserrat" panose="02000505000000020004" pitchFamily="2" charset="0"/>
              <a:ea typeface="Arial Regular" charset="0"/>
              <a:cs typeface="Arial Regular" charset="0"/>
            </a:endParaRPr>
          </a:p>
        </p:txBody>
      </p:sp>
      <p:sp>
        <p:nvSpPr>
          <p:cNvPr id="7" name="Circle">
            <a:extLst>
              <a:ext uri="{FF2B5EF4-FFF2-40B4-BE49-F238E27FC236}">
                <a16:creationId xmlns:a16="http://schemas.microsoft.com/office/drawing/2014/main" id="{B71709F8-EB41-4CA0-9A1E-E069CCF0FA54}"/>
              </a:ext>
            </a:extLst>
          </p:cNvPr>
          <p:cNvSpPr/>
          <p:nvPr/>
        </p:nvSpPr>
        <p:spPr>
          <a:xfrm>
            <a:off x="1848358" y="6227494"/>
            <a:ext cx="214554" cy="214554"/>
          </a:xfrm>
          <a:prstGeom prst="ellipse">
            <a:avLst/>
          </a:prstGeom>
          <a:solidFill>
            <a:schemeClr val="accent3"/>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solidFill>
                <a:schemeClr val="tx2"/>
              </a:solidFill>
              <a:latin typeface="Montserrat" panose="02000505000000020004" pitchFamily="2" charset="0"/>
              <a:ea typeface="Arial Regular" charset="0"/>
              <a:cs typeface="Arial Regular" charset="0"/>
            </a:endParaRPr>
          </a:p>
        </p:txBody>
      </p:sp>
      <p:sp>
        <p:nvSpPr>
          <p:cNvPr id="8" name="Circle">
            <a:extLst>
              <a:ext uri="{FF2B5EF4-FFF2-40B4-BE49-F238E27FC236}">
                <a16:creationId xmlns:a16="http://schemas.microsoft.com/office/drawing/2014/main" id="{719FF64F-C607-43F4-97BF-D34E17D4BDFF}"/>
              </a:ext>
            </a:extLst>
          </p:cNvPr>
          <p:cNvSpPr/>
          <p:nvPr/>
        </p:nvSpPr>
        <p:spPr>
          <a:xfrm>
            <a:off x="1528244" y="6227494"/>
            <a:ext cx="214553" cy="214554"/>
          </a:xfrm>
          <a:prstGeom prst="ellipse">
            <a:avLst/>
          </a:prstGeom>
          <a:solidFill>
            <a:schemeClr val="accent1"/>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solidFill>
                <a:schemeClr val="tx2"/>
              </a:solidFill>
              <a:latin typeface="Montserrat" panose="02000505000000020004" pitchFamily="2" charset="0"/>
              <a:ea typeface="Arial Regular" charset="0"/>
              <a:cs typeface="Arial Regular" charset="0"/>
            </a:endParaRPr>
          </a:p>
        </p:txBody>
      </p:sp>
      <p:sp>
        <p:nvSpPr>
          <p:cNvPr id="9" name="Circle">
            <a:extLst>
              <a:ext uri="{FF2B5EF4-FFF2-40B4-BE49-F238E27FC236}">
                <a16:creationId xmlns:a16="http://schemas.microsoft.com/office/drawing/2014/main" id="{F7C05506-ABAD-4E69-A86F-10C179E5EFEA}"/>
              </a:ext>
            </a:extLst>
          </p:cNvPr>
          <p:cNvSpPr/>
          <p:nvPr/>
        </p:nvSpPr>
        <p:spPr>
          <a:xfrm>
            <a:off x="1207087" y="6227494"/>
            <a:ext cx="214553" cy="214554"/>
          </a:xfrm>
          <a:prstGeom prst="ellipse">
            <a:avLst/>
          </a:prstGeom>
          <a:solidFill>
            <a:schemeClr val="accent4"/>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solidFill>
                <a:schemeClr val="tx2"/>
              </a:solidFill>
              <a:latin typeface="Montserrat" panose="02000505000000020004" pitchFamily="2" charset="0"/>
              <a:ea typeface="Arial Regular" charset="0"/>
              <a:cs typeface="Arial Regular" charset="0"/>
            </a:endParaRPr>
          </a:p>
        </p:txBody>
      </p:sp>
      <p:pic>
        <p:nvPicPr>
          <p:cNvPr id="10" name="Picture 9">
            <a:extLst>
              <a:ext uri="{FF2B5EF4-FFF2-40B4-BE49-F238E27FC236}">
                <a16:creationId xmlns:a16="http://schemas.microsoft.com/office/drawing/2014/main" id="{B3D8F4DD-BD18-4798-A184-C3D2E2BC3344}"/>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236131" y="3909327"/>
            <a:ext cx="9299510" cy="6158600"/>
          </a:xfrm>
          <a:prstGeom prst="rect">
            <a:avLst/>
          </a:prstGeom>
        </p:spPr>
      </p:pic>
      <p:sp>
        <p:nvSpPr>
          <p:cNvPr id="15" name="Rectangle">
            <a:extLst>
              <a:ext uri="{FF2B5EF4-FFF2-40B4-BE49-F238E27FC236}">
                <a16:creationId xmlns:a16="http://schemas.microsoft.com/office/drawing/2014/main" id="{4B6A6C98-4DF8-4BD9-A5BF-4511AB3E9A56}"/>
              </a:ext>
            </a:extLst>
          </p:cNvPr>
          <p:cNvSpPr/>
          <p:nvPr/>
        </p:nvSpPr>
        <p:spPr>
          <a:xfrm>
            <a:off x="12812581" y="3470987"/>
            <a:ext cx="10146611" cy="7035281"/>
          </a:xfrm>
          <a:prstGeom prst="roundRect">
            <a:avLst>
              <a:gd name="adj" fmla="val 0"/>
            </a:avLst>
          </a:prstGeom>
          <a:ln w="50800">
            <a:solidFill>
              <a:schemeClr val="accent3"/>
            </a:solidFill>
            <a:miter lim="400000"/>
          </a:ln>
        </p:spPr>
        <p:txBody>
          <a:bodyPr lIns="50800" tIns="50800" rIns="50800" bIns="50800" anchor="ctr"/>
          <a:lstStyle/>
          <a:p>
            <a:pPr defTabSz="584200">
              <a:defRPr sz="4000">
                <a:solidFill>
                  <a:srgbClr val="FFFFFF"/>
                </a:solidFill>
                <a:effectLst>
                  <a:outerShdw blurRad="38100" dist="12700" dir="5400000" rotWithShape="0">
                    <a:srgbClr val="000000">
                      <a:alpha val="50000"/>
                    </a:srgbClr>
                  </a:outerShdw>
                </a:effectLst>
              </a:defRPr>
            </a:pPr>
            <a:endParaRPr dirty="0">
              <a:latin typeface="Calibri Regular"/>
              <a:ea typeface="Arial Regular" charset="0"/>
              <a:cs typeface="Arial Regular" charset="0"/>
            </a:endParaRPr>
          </a:p>
        </p:txBody>
      </p:sp>
    </p:spTree>
    <p:custDataLst>
      <p:tags r:id="rId1"/>
    </p:custDataLst>
    <p:extLst>
      <p:ext uri="{BB962C8B-B14F-4D97-AF65-F5344CB8AC3E}">
        <p14:creationId xmlns:p14="http://schemas.microsoft.com/office/powerpoint/2010/main" val="833554936"/>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curity">
            <a:extLst>
              <a:ext uri="{FF2B5EF4-FFF2-40B4-BE49-F238E27FC236}">
                <a16:creationId xmlns:a16="http://schemas.microsoft.com/office/drawing/2014/main" id="{DA9002C0-3B39-4D5E-B76A-51AB728215F3}"/>
              </a:ext>
            </a:extLst>
          </p:cNvPr>
          <p:cNvSpPr>
            <a:spLocks noGrp="1"/>
          </p:cNvSpPr>
          <p:nvPr>
            <p:ph type="title" idx="4294967295"/>
          </p:nvPr>
        </p:nvSpPr>
        <p:spPr>
          <a:xfrm>
            <a:off x="1063690" y="436182"/>
            <a:ext cx="22617404" cy="892937"/>
          </a:xfrm>
          <a:prstGeom prst="rect">
            <a:avLst/>
          </a:prstGeom>
          <a:noFill/>
          <a:ln w="12700">
            <a:noFill/>
            <a:prstDash/>
            <a:miter lim="400000"/>
          </a:ln>
          <a:effectLst/>
          <a:extLst>
            <a:ext uri="{C572A759-6A51-4108-AA02-DFA0A04FC94B}">
              <ma14:wrappingTextBoxFlag xmlns:ma14="http://schemas.microsoft.com/office/mac/drawingml/2011/main" xmlns="" val="1"/>
            </a:ext>
          </a:ex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lvl1pPr defTabSz="1155700">
              <a:lnSpc>
                <a:spcPct val="80000"/>
              </a:lnSpc>
              <a:defRPr sz="7200" cap="all">
                <a:solidFill>
                  <a:srgbClr val="FFFFFF"/>
                </a:solidFill>
                <a:latin typeface="Montserrat Bold"/>
                <a:ea typeface="Montserrat Bold"/>
                <a:cs typeface="Montserrat Bold"/>
                <a:sym typeface="Montserrat Bold"/>
              </a:defRPr>
            </a:lvl1pPr>
          </a:lstStyle>
          <a:p>
            <a:pPr marL="0" marR="0" lvl="0" indent="0" algn="ctr" defTabSz="1155700" rtl="0" eaLnBrk="1" fontAlgn="auto" latinLnBrk="0" hangingPunct="0">
              <a:lnSpc>
                <a:spcPct val="80000"/>
              </a:lnSpc>
              <a:spcBef>
                <a:spcPts val="0"/>
              </a:spcBef>
              <a:spcAft>
                <a:spcPts val="0"/>
              </a:spcAft>
              <a:buClrTx/>
              <a:buSzTx/>
              <a:buFontTx/>
              <a:buNone/>
              <a:tabLst/>
              <a:defRPr/>
            </a:pPr>
            <a:r>
              <a:rPr kumimoji="0" lang="en-US" sz="7200" b="1" i="0" u="none" strike="noStrike" kern="0" cap="all" spc="0" normalizeH="0" baseline="0" noProof="0" dirty="0">
                <a:ln>
                  <a:noFill/>
                </a:ln>
                <a:solidFill>
                  <a:schemeClr val="tx2"/>
                </a:solidFill>
                <a:effectLst/>
                <a:uLnTx/>
                <a:uFillTx/>
                <a:latin typeface="Montserrat" panose="02000505000000020004" pitchFamily="2" charset="0"/>
                <a:ea typeface="Montserrat Bold"/>
                <a:cs typeface="Montserrat Bold"/>
                <a:sym typeface="Montserrat Bold"/>
              </a:rPr>
              <a:t>What’s Up With This Plunder Server?</a:t>
            </a:r>
          </a:p>
        </p:txBody>
      </p:sp>
      <p:sp>
        <p:nvSpPr>
          <p:cNvPr id="4" name="Cyber Security…">
            <a:extLst>
              <a:ext uri="{FF2B5EF4-FFF2-40B4-BE49-F238E27FC236}">
                <a16:creationId xmlns:a16="http://schemas.microsoft.com/office/drawing/2014/main" id="{D4F234CF-4317-4576-A863-7182EB0AD45F}"/>
              </a:ext>
            </a:extLst>
          </p:cNvPr>
          <p:cNvSpPr/>
          <p:nvPr/>
        </p:nvSpPr>
        <p:spPr>
          <a:xfrm>
            <a:off x="1205061" y="2505655"/>
            <a:ext cx="11335282" cy="1480983"/>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nchor="ctr">
            <a:spAutoFit/>
          </a:bodyPr>
          <a:lstStyle/>
          <a:p>
            <a:pPr algn="l" defTabSz="1155700">
              <a:lnSpc>
                <a:spcPct val="80000"/>
              </a:lnSpc>
              <a:defRPr sz="7200">
                <a:solidFill>
                  <a:srgbClr val="FFFFFF"/>
                </a:solidFill>
                <a:latin typeface="Montserrat Bold"/>
                <a:ea typeface="Montserrat Bold"/>
                <a:cs typeface="Montserrat Bold"/>
                <a:sym typeface="Montserrat Bold"/>
              </a:defRPr>
            </a:pPr>
            <a:r>
              <a:rPr lang="en-US" sz="4000" dirty="0">
                <a:solidFill>
                  <a:schemeClr val="tx1"/>
                </a:solidFill>
                <a:latin typeface="Montserrat" panose="02000505000000020004" pitchFamily="2" charset="0"/>
              </a:rPr>
              <a:t>You are now the newest intern at </a:t>
            </a:r>
            <a:r>
              <a:rPr lang="en-US" sz="4000" dirty="0">
                <a:solidFill>
                  <a:schemeClr val="accent2"/>
                </a:solidFill>
                <a:latin typeface="Consolas" panose="020B0609020204030204" pitchFamily="49" charset="0"/>
                <a:hlinkClick r:id="rId4">
                  <a:extLst>
                    <a:ext uri="{A12FA001-AC4F-418D-AE19-62706E023703}">
                      <ahyp:hlinkClr xmlns:ahyp="http://schemas.microsoft.com/office/drawing/2018/hyperlinkcolor" val="tx"/>
                    </a:ext>
                  </a:extLst>
                </a:hlinkClick>
              </a:rPr>
              <a:t>pr0b3.com</a:t>
            </a:r>
            <a:r>
              <a:rPr lang="en-US" sz="4000" dirty="0">
                <a:solidFill>
                  <a:schemeClr val="tx1"/>
                </a:solidFill>
                <a:latin typeface="Montserrat" panose="02000505000000020004" pitchFamily="2" charset="0"/>
              </a:rPr>
              <a:t>, one of the most respected penetration testing firms you’ve never heard of.</a:t>
            </a:r>
          </a:p>
        </p:txBody>
      </p:sp>
      <p:sp>
        <p:nvSpPr>
          <p:cNvPr id="5" name="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a:extLst>
              <a:ext uri="{FF2B5EF4-FFF2-40B4-BE49-F238E27FC236}">
                <a16:creationId xmlns:a16="http://schemas.microsoft.com/office/drawing/2014/main" id="{E7B40CCE-7740-4723-9216-12033A2F3A4C}"/>
              </a:ext>
            </a:extLst>
          </p:cNvPr>
          <p:cNvSpPr/>
          <p:nvPr/>
        </p:nvSpPr>
        <p:spPr>
          <a:xfrm>
            <a:off x="1207087" y="5687750"/>
            <a:ext cx="11333256" cy="7370416"/>
          </a:xfrm>
          <a:prstGeom prst="rect">
            <a:avLst/>
          </a:prstGeom>
          <a:ln w="12700"/>
          <a:extLst>
            <a:ext uri="{C572A759-6A51-4108-AA02-DFA0A04FC94B}">
              <ma14:wrappingTextBoxFlag xmlns:ma14="http://schemas.microsoft.com/office/mac/drawingml/2011/main" xmlns="" val="1"/>
            </a:ext>
          </a:extLst>
        </p:spPr>
        <p:txBody>
          <a:bodyPr wrap="square" lIns="0" tIns="0" rIns="0" bIns="0">
            <a:spAutoFit/>
          </a:bodyPr>
          <a:lstStyle>
            <a:lvl1pPr algn="l" defTabSz="952500">
              <a:lnSpc>
                <a:spcPct val="130000"/>
              </a:lnSpc>
              <a:buClr>
                <a:srgbClr val="E9F6FA"/>
              </a:buClr>
              <a:buFont typeface="Helvetica Neue UltraLight"/>
              <a:defRPr sz="3000">
                <a:solidFill>
                  <a:srgbClr val="FFFFFF"/>
                </a:solidFill>
                <a:uFill>
                  <a:solidFill>
                    <a:srgbClr val="FFFFFF"/>
                  </a:solidFill>
                </a:uFill>
                <a:latin typeface="Helvetica Neue"/>
                <a:ea typeface="Helvetica Neue"/>
                <a:cs typeface="Helvetica Neue"/>
                <a:sym typeface="Helvetica Neue"/>
              </a:defRPr>
            </a:lvl1pPr>
          </a:lstStyle>
          <a:p>
            <a:pPr>
              <a:spcBef>
                <a:spcPts val="600"/>
              </a:spcBef>
              <a:spcAft>
                <a:spcPts val="600"/>
              </a:spcAft>
            </a:pPr>
            <a:r>
              <a:rPr lang="en-US" sz="2900" dirty="0">
                <a:solidFill>
                  <a:schemeClr val="tx2"/>
                </a:solidFill>
                <a:latin typeface="Montserrat" panose="02000505000000020004" pitchFamily="2" charset="0"/>
                <a:ea typeface="Arial Regular" charset="0"/>
                <a:cs typeface="Arial Regular" charset="0"/>
              </a:rPr>
              <a:t>You will perform your penetration testing using a </a:t>
            </a:r>
            <a:r>
              <a:rPr lang="en-US" sz="2900" dirty="0" err="1">
                <a:solidFill>
                  <a:schemeClr val="tx2"/>
                </a:solidFill>
                <a:latin typeface="Montserrat" panose="02000505000000020004" pitchFamily="2" charset="0"/>
                <a:ea typeface="Arial Regular" charset="0"/>
                <a:cs typeface="Arial Regular" charset="0"/>
              </a:rPr>
              <a:t>Netlab</a:t>
            </a:r>
            <a:r>
              <a:rPr lang="en-US" sz="2900" dirty="0">
                <a:solidFill>
                  <a:schemeClr val="tx2"/>
                </a:solidFill>
                <a:latin typeface="Montserrat" panose="02000505000000020004" pitchFamily="2" charset="0"/>
                <a:ea typeface="Arial Regular" charset="0"/>
                <a:cs typeface="Arial Regular" charset="0"/>
              </a:rPr>
              <a:t> Kali instance.</a:t>
            </a:r>
          </a:p>
          <a:p>
            <a:pPr>
              <a:spcBef>
                <a:spcPts val="600"/>
              </a:spcBef>
              <a:spcAft>
                <a:spcPts val="600"/>
              </a:spcAft>
            </a:pPr>
            <a:r>
              <a:rPr lang="en-US" sz="2900" dirty="0">
                <a:solidFill>
                  <a:schemeClr val="tx2"/>
                </a:solidFill>
                <a:latin typeface="Montserrat" panose="02000505000000020004" pitchFamily="2" charset="0"/>
                <a:ea typeface="Arial Regular" charset="0"/>
                <a:cs typeface="Arial Regular" charset="0"/>
              </a:rPr>
              <a:t>Unfortunately, every time you start this Kali instance, it is started from a fixed snapshot. Any work you do is erased on logout. Thus, you need to store any information (like keys!!) you want to store somewhere else. For example, on a </a:t>
            </a:r>
            <a:r>
              <a:rPr lang="en-US" sz="2900" dirty="0">
                <a:solidFill>
                  <a:schemeClr val="accent2"/>
                </a:solidFill>
                <a:latin typeface="Consolas" panose="020B0609020204030204" pitchFamily="49" charset="0"/>
                <a:ea typeface="Arial Regular" charset="0"/>
                <a:cs typeface="Arial Regular" charset="0"/>
              </a:rPr>
              <a:t>pr0b3.com </a:t>
            </a:r>
            <a:r>
              <a:rPr lang="en-US" sz="2900" dirty="0">
                <a:solidFill>
                  <a:schemeClr val="tx2"/>
                </a:solidFill>
                <a:latin typeface="Montserrat" panose="02000505000000020004" pitchFamily="2" charset="0"/>
                <a:ea typeface="Arial Regular" charset="0"/>
                <a:cs typeface="Arial Regular" charset="0"/>
              </a:rPr>
              <a:t>server.</a:t>
            </a:r>
          </a:p>
          <a:p>
            <a:pPr>
              <a:spcBef>
                <a:spcPts val="600"/>
              </a:spcBef>
              <a:spcAft>
                <a:spcPts val="600"/>
              </a:spcAft>
            </a:pPr>
            <a:r>
              <a:rPr lang="en-US" sz="2900" dirty="0">
                <a:solidFill>
                  <a:schemeClr val="tx2"/>
                </a:solidFill>
                <a:latin typeface="Montserrat" panose="02000505000000020004" pitchFamily="2" charset="0"/>
                <a:ea typeface="Arial Regular" charset="0"/>
                <a:cs typeface="Arial Regular" charset="0"/>
              </a:rPr>
              <a:t>You can log in to </a:t>
            </a:r>
            <a:r>
              <a:rPr lang="en-US" sz="2900" dirty="0">
                <a:solidFill>
                  <a:schemeClr val="accent2"/>
                </a:solidFill>
                <a:latin typeface="Consolas" panose="020B0609020204030204" pitchFamily="49" charset="0"/>
                <a:ea typeface="Arial Regular" charset="0"/>
                <a:cs typeface="Arial Regular" charset="0"/>
              </a:rPr>
              <a:t>plunder.pr0b3.com </a:t>
            </a:r>
            <a:r>
              <a:rPr lang="en-US" sz="2900" dirty="0">
                <a:solidFill>
                  <a:schemeClr val="tx2"/>
                </a:solidFill>
                <a:latin typeface="Montserrat" panose="02000505000000020004" pitchFamily="2" charset="0"/>
                <a:ea typeface="Arial Regular" charset="0"/>
                <a:cs typeface="Arial Regular" charset="0"/>
              </a:rPr>
              <a:t>from your </a:t>
            </a:r>
            <a:r>
              <a:rPr lang="en-US" sz="2900" dirty="0" err="1">
                <a:solidFill>
                  <a:schemeClr val="tx2"/>
                </a:solidFill>
                <a:latin typeface="Montserrat" panose="02000505000000020004" pitchFamily="2" charset="0"/>
                <a:ea typeface="Arial Regular" charset="0"/>
                <a:cs typeface="Arial Regular" charset="0"/>
              </a:rPr>
              <a:t>Netlab</a:t>
            </a:r>
            <a:r>
              <a:rPr lang="en-US" sz="2900" dirty="0">
                <a:solidFill>
                  <a:schemeClr val="tx2"/>
                </a:solidFill>
                <a:latin typeface="Montserrat" panose="02000505000000020004" pitchFamily="2" charset="0"/>
                <a:ea typeface="Arial Regular" charset="0"/>
                <a:cs typeface="Arial Regular" charset="0"/>
              </a:rPr>
              <a:t> Kali instance.</a:t>
            </a:r>
          </a:p>
          <a:p>
            <a:pPr>
              <a:spcBef>
                <a:spcPts val="600"/>
              </a:spcBef>
              <a:spcAft>
                <a:spcPts val="600"/>
              </a:spcAft>
            </a:pPr>
            <a:r>
              <a:rPr lang="en-US" sz="2900" dirty="0">
                <a:solidFill>
                  <a:schemeClr val="tx2"/>
                </a:solidFill>
                <a:latin typeface="Montserrat" panose="02000505000000020004" pitchFamily="2" charset="0"/>
                <a:ea typeface="Arial Regular" charset="0"/>
                <a:cs typeface="Arial Regular" charset="0"/>
              </a:rPr>
              <a:t>Your log-in name on plunder is the same as your </a:t>
            </a:r>
            <a:r>
              <a:rPr lang="en-US" sz="2900" dirty="0" err="1">
                <a:solidFill>
                  <a:schemeClr val="tx2"/>
                </a:solidFill>
                <a:latin typeface="Montserrat" panose="02000505000000020004" pitchFamily="2" charset="0"/>
                <a:ea typeface="Arial Regular" charset="0"/>
                <a:cs typeface="Arial Regular" charset="0"/>
              </a:rPr>
              <a:t>ndg</a:t>
            </a:r>
            <a:r>
              <a:rPr lang="en-US" sz="2900" dirty="0">
                <a:solidFill>
                  <a:schemeClr val="tx2"/>
                </a:solidFill>
                <a:latin typeface="Montserrat" panose="02000505000000020004" pitchFamily="2" charset="0"/>
                <a:ea typeface="Arial Regular" charset="0"/>
                <a:cs typeface="Arial Regular" charset="0"/>
              </a:rPr>
              <a:t> login name. (It’s your </a:t>
            </a:r>
            <a:r>
              <a:rPr lang="en-US" sz="2900" dirty="0" err="1">
                <a:solidFill>
                  <a:schemeClr val="tx2"/>
                </a:solidFill>
                <a:latin typeface="Montserrat" panose="02000505000000020004" pitchFamily="2" charset="0"/>
                <a:ea typeface="Arial Regular" charset="0"/>
                <a:cs typeface="Arial Regular" charset="0"/>
              </a:rPr>
              <a:t>gatorlink</a:t>
            </a:r>
            <a:r>
              <a:rPr lang="en-US" sz="2900" dirty="0">
                <a:solidFill>
                  <a:schemeClr val="tx2"/>
                </a:solidFill>
                <a:latin typeface="Montserrat" panose="02000505000000020004" pitchFamily="2" charset="0"/>
                <a:ea typeface="Arial Regular" charset="0"/>
                <a:cs typeface="Arial Regular" charset="0"/>
              </a:rPr>
              <a:t> email address with underscores substituted for dots.) But what is your password on plunder?</a:t>
            </a:r>
          </a:p>
        </p:txBody>
      </p:sp>
      <p:sp>
        <p:nvSpPr>
          <p:cNvPr id="6" name="Circle">
            <a:extLst>
              <a:ext uri="{FF2B5EF4-FFF2-40B4-BE49-F238E27FC236}">
                <a16:creationId xmlns:a16="http://schemas.microsoft.com/office/drawing/2014/main" id="{622C17DE-4504-4996-B2CD-401614CCA495}"/>
              </a:ext>
            </a:extLst>
          </p:cNvPr>
          <p:cNvSpPr/>
          <p:nvPr/>
        </p:nvSpPr>
        <p:spPr>
          <a:xfrm>
            <a:off x="2168471" y="4641291"/>
            <a:ext cx="214553" cy="214554"/>
          </a:xfrm>
          <a:prstGeom prst="ellipse">
            <a:avLst/>
          </a:prstGeom>
          <a:solidFill>
            <a:schemeClr val="accent2"/>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solidFill>
                <a:schemeClr val="tx2"/>
              </a:solidFill>
              <a:latin typeface="Montserrat" panose="02000505000000020004" pitchFamily="2" charset="0"/>
              <a:ea typeface="Arial Regular" charset="0"/>
              <a:cs typeface="Arial Regular" charset="0"/>
            </a:endParaRPr>
          </a:p>
        </p:txBody>
      </p:sp>
      <p:sp>
        <p:nvSpPr>
          <p:cNvPr id="7" name="Circle">
            <a:extLst>
              <a:ext uri="{FF2B5EF4-FFF2-40B4-BE49-F238E27FC236}">
                <a16:creationId xmlns:a16="http://schemas.microsoft.com/office/drawing/2014/main" id="{B71709F8-EB41-4CA0-9A1E-E069CCF0FA54}"/>
              </a:ext>
            </a:extLst>
          </p:cNvPr>
          <p:cNvSpPr/>
          <p:nvPr/>
        </p:nvSpPr>
        <p:spPr>
          <a:xfrm>
            <a:off x="1848358" y="4641291"/>
            <a:ext cx="214554" cy="214554"/>
          </a:xfrm>
          <a:prstGeom prst="ellipse">
            <a:avLst/>
          </a:prstGeom>
          <a:solidFill>
            <a:schemeClr val="accent3"/>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solidFill>
                <a:schemeClr val="tx2"/>
              </a:solidFill>
              <a:latin typeface="Montserrat" panose="02000505000000020004" pitchFamily="2" charset="0"/>
              <a:ea typeface="Arial Regular" charset="0"/>
              <a:cs typeface="Arial Regular" charset="0"/>
            </a:endParaRPr>
          </a:p>
        </p:txBody>
      </p:sp>
      <p:sp>
        <p:nvSpPr>
          <p:cNvPr id="8" name="Circle">
            <a:extLst>
              <a:ext uri="{FF2B5EF4-FFF2-40B4-BE49-F238E27FC236}">
                <a16:creationId xmlns:a16="http://schemas.microsoft.com/office/drawing/2014/main" id="{719FF64F-C607-43F4-97BF-D34E17D4BDFF}"/>
              </a:ext>
            </a:extLst>
          </p:cNvPr>
          <p:cNvSpPr/>
          <p:nvPr/>
        </p:nvSpPr>
        <p:spPr>
          <a:xfrm>
            <a:off x="1528244" y="4641291"/>
            <a:ext cx="214553" cy="214554"/>
          </a:xfrm>
          <a:prstGeom prst="ellipse">
            <a:avLst/>
          </a:prstGeom>
          <a:solidFill>
            <a:schemeClr val="accent1"/>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solidFill>
                <a:schemeClr val="tx2"/>
              </a:solidFill>
              <a:latin typeface="Montserrat" panose="02000505000000020004" pitchFamily="2" charset="0"/>
              <a:ea typeface="Arial Regular" charset="0"/>
              <a:cs typeface="Arial Regular" charset="0"/>
            </a:endParaRPr>
          </a:p>
        </p:txBody>
      </p:sp>
      <p:sp>
        <p:nvSpPr>
          <p:cNvPr id="9" name="Circle">
            <a:extLst>
              <a:ext uri="{FF2B5EF4-FFF2-40B4-BE49-F238E27FC236}">
                <a16:creationId xmlns:a16="http://schemas.microsoft.com/office/drawing/2014/main" id="{F7C05506-ABAD-4E69-A86F-10C179E5EFEA}"/>
              </a:ext>
            </a:extLst>
          </p:cNvPr>
          <p:cNvSpPr/>
          <p:nvPr/>
        </p:nvSpPr>
        <p:spPr>
          <a:xfrm>
            <a:off x="1207087" y="4641291"/>
            <a:ext cx="214553" cy="214554"/>
          </a:xfrm>
          <a:prstGeom prst="ellipse">
            <a:avLst/>
          </a:prstGeom>
          <a:solidFill>
            <a:schemeClr val="accent4"/>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solidFill>
                <a:schemeClr val="tx2"/>
              </a:solidFill>
              <a:latin typeface="Montserrat" panose="02000505000000020004" pitchFamily="2" charset="0"/>
              <a:ea typeface="Arial Regular" charset="0"/>
              <a:cs typeface="Arial Regular" charset="0"/>
            </a:endParaRPr>
          </a:p>
        </p:txBody>
      </p:sp>
    </p:spTree>
    <p:custDataLst>
      <p:tags r:id="rId1"/>
    </p:custDataLst>
    <p:extLst>
      <p:ext uri="{BB962C8B-B14F-4D97-AF65-F5344CB8AC3E}">
        <p14:creationId xmlns:p14="http://schemas.microsoft.com/office/powerpoint/2010/main" val="2801839852"/>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8" name="our Goals"/>
          <p:cNvSpPr>
            <a:spLocks noGrp="1"/>
          </p:cNvSpPr>
          <p:nvPr>
            <p:ph type="title" idx="4294967295"/>
          </p:nvPr>
        </p:nvSpPr>
        <p:spPr>
          <a:xfrm>
            <a:off x="690466" y="436182"/>
            <a:ext cx="22477532" cy="892937"/>
          </a:xfrm>
          <a:prstGeom prst="rect">
            <a:avLst/>
          </a:prstGeom>
          <a:noFill/>
          <a:ln w="12700">
            <a:noFill/>
            <a:prstDash/>
            <a:miter lim="400000"/>
          </a:ln>
          <a:effectLst/>
          <a:extLst>
            <a:ext uri="{C572A759-6A51-4108-AA02-DFA0A04FC94B}">
              <ma14:wrappingTextBoxFlag xmlns="" xmlns:ma14="http://schemas.microsoft.com/office/mac/drawingml/2011/main" val="1"/>
            </a:ext>
          </a:ex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lvl1pPr defTabSz="1155700">
              <a:lnSpc>
                <a:spcPct val="80000"/>
              </a:lnSpc>
              <a:defRPr sz="7200" cap="all">
                <a:solidFill>
                  <a:srgbClr val="FFFFFF"/>
                </a:solidFill>
                <a:latin typeface="Montserrat Bold"/>
                <a:ea typeface="Montserrat Bold"/>
                <a:cs typeface="Montserrat Bold"/>
                <a:sym typeface="Montserrat Bold"/>
              </a:defRPr>
            </a:lvl1pPr>
          </a:lstStyle>
          <a:p>
            <a:pPr marL="0" marR="0" lvl="0" indent="0" algn="ctr" defTabSz="1155700" rtl="0" eaLnBrk="1" fontAlgn="auto" latinLnBrk="0" hangingPunct="0">
              <a:lnSpc>
                <a:spcPct val="80000"/>
              </a:lnSpc>
              <a:spcBef>
                <a:spcPts val="0"/>
              </a:spcBef>
              <a:spcAft>
                <a:spcPts val="0"/>
              </a:spcAft>
              <a:buClrTx/>
              <a:buSzTx/>
              <a:buFontTx/>
              <a:buNone/>
              <a:tabLst/>
              <a:defRPr/>
            </a:pPr>
            <a:r>
              <a:rPr kumimoji="0" lang="en-US" sz="7200" b="1" i="0" u="none" strike="noStrike" kern="0" cap="all" spc="0" normalizeH="0" baseline="0" noProof="0" dirty="0">
                <a:ln>
                  <a:noFill/>
                </a:ln>
                <a:solidFill>
                  <a:schemeClr val="tx2"/>
                </a:solidFill>
                <a:effectLst/>
                <a:uLnTx/>
                <a:uFillTx/>
                <a:latin typeface="Montserrat" panose="02000505000000020004" pitchFamily="2" charset="0"/>
                <a:ea typeface="Montserrat Bold"/>
                <a:cs typeface="Montserrat Bold"/>
                <a:sym typeface="Montserrat Bold"/>
              </a:rPr>
              <a:t>Plunder Passwords</a:t>
            </a:r>
          </a:p>
        </p:txBody>
      </p:sp>
      <p:sp>
        <p:nvSpPr>
          <p:cNvPr id="723" name="Nam quam nunc, blandit vel, luctus pulvinar, hendrerit id, lorem. Maecenas nec odio et ante tincidunt tempus. Donec vitae sapien ut libero venenatis faucibus."/>
          <p:cNvSpPr/>
          <p:nvPr/>
        </p:nvSpPr>
        <p:spPr>
          <a:xfrm>
            <a:off x="4896324" y="2484646"/>
            <a:ext cx="6703986" cy="2959100"/>
          </a:xfrm>
          <a:prstGeom prst="rect">
            <a:avLst/>
          </a:prstGeom>
          <a:ln w="12700"/>
          <a:extLst>
            <a:ext uri="{C572A759-6A51-4108-AA02-DFA0A04FC94B}">
              <ma14:wrappingTextBoxFlag xmlns="" xmlns:ma14="http://schemas.microsoft.com/office/mac/drawingml/2011/main" val="1"/>
            </a:ext>
          </a:extLst>
        </p:spPr>
        <p:txBody>
          <a:bodyPr lIns="0" tIns="0" rIns="0" bIns="0"/>
          <a:lstStyle>
            <a:lvl1pPr algn="l" defTabSz="952500">
              <a:lnSpc>
                <a:spcPct val="130000"/>
              </a:lnSpc>
              <a:buClr>
                <a:srgbClr val="E9F6FA"/>
              </a:buClr>
              <a:buFont typeface="Helvetica Neue UltraLight"/>
              <a:defRPr sz="3000">
                <a:solidFill>
                  <a:srgbClr val="FFFFFF"/>
                </a:solidFill>
                <a:uFill>
                  <a:solidFill>
                    <a:srgbClr val="FFFFFF"/>
                  </a:solidFill>
                </a:uFill>
                <a:latin typeface="Helvetica Neue"/>
                <a:ea typeface="Helvetica Neue"/>
                <a:cs typeface="Helvetica Neue"/>
                <a:sym typeface="Helvetica Neue"/>
              </a:defRPr>
            </a:lvl1pPr>
          </a:lstStyle>
          <a:p>
            <a:pPr>
              <a:spcBef>
                <a:spcPts val="600"/>
              </a:spcBef>
              <a:spcAft>
                <a:spcPts val="1200"/>
              </a:spcAft>
            </a:pPr>
            <a:r>
              <a:rPr lang="en-US" dirty="0">
                <a:solidFill>
                  <a:schemeClr val="tx2"/>
                </a:solidFill>
                <a:latin typeface="Montserrat" panose="02000505000000020004" pitchFamily="2" charset="0"/>
                <a:ea typeface="Arial Regular" charset="0"/>
                <a:cs typeface="Arial Regular" charset="0"/>
              </a:rPr>
              <a:t>You can find your plunder password by logging in to plunder as user guest.</a:t>
            </a:r>
          </a:p>
          <a:p>
            <a:pPr>
              <a:spcBef>
                <a:spcPts val="600"/>
              </a:spcBef>
              <a:spcAft>
                <a:spcPts val="1200"/>
              </a:spcAft>
            </a:pPr>
            <a:r>
              <a:rPr lang="en-US" dirty="0">
                <a:solidFill>
                  <a:schemeClr val="tx2"/>
                </a:solidFill>
                <a:latin typeface="Montserrat" panose="02000505000000020004" pitchFamily="2" charset="0"/>
                <a:ea typeface="Arial Regular" charset="0"/>
                <a:cs typeface="Arial Regular" charset="0"/>
              </a:rPr>
              <a:t>User guest is what is known as a “Joe” account. The password for guest is </a:t>
            </a:r>
            <a:r>
              <a:rPr lang="en-US" i="1" dirty="0">
                <a:solidFill>
                  <a:schemeClr val="tx2"/>
                </a:solidFill>
                <a:latin typeface="Montserrat" panose="02000505000000020004" pitchFamily="2" charset="0"/>
                <a:ea typeface="Arial Regular" charset="0"/>
                <a:cs typeface="Arial Regular" charset="0"/>
              </a:rPr>
              <a:t>guest</a:t>
            </a:r>
            <a:r>
              <a:rPr lang="en-US" dirty="0">
                <a:solidFill>
                  <a:schemeClr val="tx2"/>
                </a:solidFill>
                <a:latin typeface="Montserrat" panose="02000505000000020004" pitchFamily="2" charset="0"/>
                <a:ea typeface="Arial Regular" charset="0"/>
                <a:cs typeface="Arial Regular" charset="0"/>
              </a:rPr>
              <a:t>.</a:t>
            </a:r>
          </a:p>
        </p:txBody>
      </p:sp>
      <p:sp>
        <p:nvSpPr>
          <p:cNvPr id="724" name="Nam quam nunc, blandit vel, luctus pulvinar, hendrerit id, lorem. Maecenas nec odio et ante tincidunt tempus. Donec vitae sapien ut libero venenatis faucibus."/>
          <p:cNvSpPr/>
          <p:nvPr/>
        </p:nvSpPr>
        <p:spPr>
          <a:xfrm>
            <a:off x="15958024" y="2484646"/>
            <a:ext cx="6426202" cy="5353068"/>
          </a:xfrm>
          <a:prstGeom prst="rect">
            <a:avLst/>
          </a:prstGeom>
          <a:ln w="12700"/>
          <a:extLst>
            <a:ext uri="{C572A759-6A51-4108-AA02-DFA0A04FC94B}">
              <ma14:wrappingTextBoxFlag xmlns="" xmlns:ma14="http://schemas.microsoft.com/office/mac/drawingml/2011/main" val="1"/>
            </a:ext>
          </a:extLst>
        </p:spPr>
        <p:txBody>
          <a:bodyPr lIns="0" tIns="0" rIns="0" bIns="0"/>
          <a:lstStyle>
            <a:lvl1pPr algn="l" defTabSz="952500">
              <a:lnSpc>
                <a:spcPct val="130000"/>
              </a:lnSpc>
              <a:buClr>
                <a:srgbClr val="E9F6FA"/>
              </a:buClr>
              <a:buFont typeface="Helvetica Neue UltraLight"/>
              <a:defRPr sz="3000">
                <a:solidFill>
                  <a:srgbClr val="FFFFFF"/>
                </a:solidFill>
                <a:uFill>
                  <a:solidFill>
                    <a:srgbClr val="FFFFFF"/>
                  </a:solidFill>
                </a:uFill>
                <a:latin typeface="Helvetica Neue"/>
                <a:ea typeface="Helvetica Neue"/>
                <a:cs typeface="Helvetica Neue"/>
                <a:sym typeface="Helvetica Neue"/>
              </a:defRPr>
            </a:lvl1pPr>
          </a:lstStyle>
          <a:p>
            <a:pPr>
              <a:spcBef>
                <a:spcPts val="600"/>
              </a:spcBef>
              <a:spcAft>
                <a:spcPts val="1200"/>
              </a:spcAft>
            </a:pPr>
            <a:r>
              <a:rPr lang="en-US" dirty="0">
                <a:solidFill>
                  <a:schemeClr val="tx2"/>
                </a:solidFill>
                <a:latin typeface="Montserrat" panose="02000505000000020004" pitchFamily="2" charset="0"/>
                <a:ea typeface="Arial Regular" charset="0"/>
                <a:cs typeface="Arial Regular" charset="0"/>
              </a:rPr>
              <a:t>Once you’ve found your password, log in to plunder again and change your password!!!!!</a:t>
            </a:r>
          </a:p>
          <a:p>
            <a:pPr>
              <a:spcBef>
                <a:spcPts val="600"/>
              </a:spcBef>
              <a:spcAft>
                <a:spcPts val="1200"/>
              </a:spcAft>
            </a:pPr>
            <a:r>
              <a:rPr lang="en-US" dirty="0">
                <a:solidFill>
                  <a:schemeClr val="tx2"/>
                </a:solidFill>
                <a:latin typeface="Montserrat" panose="02000505000000020004" pitchFamily="2" charset="0"/>
                <a:ea typeface="Arial Regular" charset="0"/>
                <a:cs typeface="Arial Regular" charset="0"/>
              </a:rPr>
              <a:t>This process can be brute forced, so someone can steal your account if you don’t change the password.</a:t>
            </a:r>
          </a:p>
        </p:txBody>
      </p:sp>
      <p:sp>
        <p:nvSpPr>
          <p:cNvPr id="725" name="Nam quam nunc, blandit vel, luctus pulvinar, hendrerit id, lorem. Maecenas nec odio et ante tincidunt tempus. Donec vitae sapien ut libero venenatis faucibus."/>
          <p:cNvSpPr/>
          <p:nvPr/>
        </p:nvSpPr>
        <p:spPr>
          <a:xfrm>
            <a:off x="4896324" y="8480620"/>
            <a:ext cx="6703986" cy="3200400"/>
          </a:xfrm>
          <a:prstGeom prst="rect">
            <a:avLst/>
          </a:prstGeom>
          <a:ln w="12700">
            <a:noFill/>
          </a:ln>
          <a:extLst>
            <a:ext uri="{C572A759-6A51-4108-AA02-DFA0A04FC94B}">
              <ma14:wrappingTextBoxFlag xmlns="" xmlns:ma14="http://schemas.microsoft.com/office/mac/drawingml/2011/main" val="1"/>
            </a:ext>
          </a:extLst>
        </p:spPr>
        <p:txBody>
          <a:bodyPr lIns="0" tIns="0" rIns="0" bIns="0"/>
          <a:lstStyle>
            <a:lvl1pPr algn="l" defTabSz="952500">
              <a:lnSpc>
                <a:spcPct val="130000"/>
              </a:lnSpc>
              <a:buClr>
                <a:srgbClr val="E9F6FA"/>
              </a:buClr>
              <a:buFont typeface="Helvetica Neue UltraLight"/>
              <a:defRPr sz="3000">
                <a:solidFill>
                  <a:srgbClr val="FFFFFF"/>
                </a:solidFill>
                <a:uFill>
                  <a:solidFill>
                    <a:srgbClr val="FFFFFF"/>
                  </a:solidFill>
                </a:uFill>
                <a:latin typeface="Helvetica Neue"/>
                <a:ea typeface="Helvetica Neue"/>
                <a:cs typeface="Helvetica Neue"/>
                <a:sym typeface="Helvetica Neue"/>
              </a:defRPr>
            </a:lvl1pPr>
          </a:lstStyle>
          <a:p>
            <a:r>
              <a:rPr lang="en-US" dirty="0">
                <a:solidFill>
                  <a:schemeClr val="tx2"/>
                </a:solidFill>
                <a:latin typeface="Montserrat" panose="02000505000000020004" pitchFamily="2" charset="0"/>
                <a:ea typeface="Arial Regular" charset="0"/>
                <a:cs typeface="Arial Regular" charset="0"/>
              </a:rPr>
              <a:t>Once you’ve logged in as guest, you need to run the program</a:t>
            </a:r>
          </a:p>
          <a:p>
            <a:pPr lvl="1"/>
            <a:r>
              <a:rPr lang="en-US" sz="3600" dirty="0">
                <a:solidFill>
                  <a:schemeClr val="accent3"/>
                </a:solidFill>
                <a:latin typeface="Consolas" panose="020B0609020204030204" pitchFamily="49" charset="0"/>
                <a:ea typeface="Arial Regular" charset="0"/>
                <a:cs typeface="Arial Regular" charset="0"/>
              </a:rPr>
              <a:t>decrypt_account_list.py</a:t>
            </a:r>
          </a:p>
          <a:p>
            <a:r>
              <a:rPr lang="en-US" dirty="0">
                <a:solidFill>
                  <a:schemeClr val="tx2"/>
                </a:solidFill>
                <a:latin typeface="Montserrat" panose="02000505000000020004" pitchFamily="2" charset="0"/>
                <a:ea typeface="Arial Regular" charset="0"/>
                <a:cs typeface="Arial Regular" charset="0"/>
              </a:rPr>
              <a:t>to find your password.</a:t>
            </a:r>
          </a:p>
        </p:txBody>
      </p:sp>
      <p:sp>
        <p:nvSpPr>
          <p:cNvPr id="726" name="Nam quam nunc, blandit vel, luctus pulvinar, hendrerit id, lorem. Maecenas nec odio et ante tincidunt tempus. Donec vitae sapien ut libero venenatis faucibus."/>
          <p:cNvSpPr/>
          <p:nvPr/>
        </p:nvSpPr>
        <p:spPr>
          <a:xfrm>
            <a:off x="15958024" y="8480620"/>
            <a:ext cx="6752686" cy="4414286"/>
          </a:xfrm>
          <a:prstGeom prst="rect">
            <a:avLst/>
          </a:prstGeom>
          <a:ln w="12700"/>
          <a:extLst>
            <a:ext uri="{C572A759-6A51-4108-AA02-DFA0A04FC94B}">
              <ma14:wrappingTextBoxFlag xmlns="" xmlns:ma14="http://schemas.microsoft.com/office/mac/drawingml/2011/main" val="1"/>
            </a:ext>
          </a:extLst>
        </p:spPr>
        <p:txBody>
          <a:bodyPr lIns="0" tIns="0" rIns="0" bIns="0"/>
          <a:lstStyle>
            <a:lvl1pPr algn="l" defTabSz="952500">
              <a:lnSpc>
                <a:spcPct val="130000"/>
              </a:lnSpc>
              <a:buClr>
                <a:srgbClr val="E9F6FA"/>
              </a:buClr>
              <a:buFont typeface="Helvetica Neue UltraLight"/>
              <a:defRPr sz="3000">
                <a:solidFill>
                  <a:srgbClr val="FFFFFF"/>
                </a:solidFill>
                <a:uFill>
                  <a:solidFill>
                    <a:srgbClr val="FFFFFF"/>
                  </a:solidFill>
                </a:uFill>
                <a:latin typeface="Helvetica Neue"/>
                <a:ea typeface="Helvetica Neue"/>
                <a:cs typeface="Helvetica Neue"/>
                <a:sym typeface="Helvetica Neue"/>
              </a:defRPr>
            </a:lvl1pPr>
          </a:lstStyle>
          <a:p>
            <a:r>
              <a:rPr lang="en-US" dirty="0">
                <a:solidFill>
                  <a:schemeClr val="tx2"/>
                </a:solidFill>
                <a:latin typeface="Montserrat" panose="02000505000000020004" pitchFamily="2" charset="0"/>
                <a:ea typeface="Arial Regular" charset="0"/>
                <a:cs typeface="Arial Regular" charset="0"/>
              </a:rPr>
              <a:t>Important hint: </a:t>
            </a:r>
          </a:p>
          <a:p>
            <a:r>
              <a:rPr lang="en-US" dirty="0">
                <a:solidFill>
                  <a:schemeClr val="tx2"/>
                </a:solidFill>
                <a:latin typeface="Montserrat" panose="02000505000000020004" pitchFamily="2" charset="0"/>
                <a:ea typeface="Arial Regular" charset="0"/>
                <a:cs typeface="Arial Regular" charset="0"/>
              </a:rPr>
              <a:t>The passwords are encrypted using the exact same method I use to encrypt the keys. Thus, you can use decrypt_account_list.py as a model for a key </a:t>
            </a:r>
            <a:r>
              <a:rPr lang="en-US" dirty="0" err="1">
                <a:solidFill>
                  <a:schemeClr val="tx2"/>
                </a:solidFill>
                <a:latin typeface="Montserrat" panose="02000505000000020004" pitchFamily="2" charset="0"/>
                <a:ea typeface="Arial Regular" charset="0"/>
                <a:cs typeface="Arial Regular" charset="0"/>
              </a:rPr>
              <a:t>decrypter</a:t>
            </a:r>
            <a:r>
              <a:rPr lang="en-US" dirty="0">
                <a:solidFill>
                  <a:schemeClr val="tx2"/>
                </a:solidFill>
                <a:latin typeface="Montserrat" panose="02000505000000020004" pitchFamily="2" charset="0"/>
                <a:ea typeface="Arial Regular" charset="0"/>
                <a:cs typeface="Arial Regular" charset="0"/>
              </a:rPr>
              <a:t>.</a:t>
            </a:r>
            <a:r>
              <a:rPr dirty="0">
                <a:solidFill>
                  <a:schemeClr val="tx2"/>
                </a:solidFill>
                <a:latin typeface="Montserrat" panose="02000505000000020004" pitchFamily="2" charset="0"/>
                <a:ea typeface="Arial Regular" charset="0"/>
                <a:cs typeface="Arial Regular" charset="0"/>
              </a:rPr>
              <a:t> </a:t>
            </a:r>
          </a:p>
        </p:txBody>
      </p:sp>
      <p:sp>
        <p:nvSpPr>
          <p:cNvPr id="727" name="1"/>
          <p:cNvSpPr/>
          <p:nvPr/>
        </p:nvSpPr>
        <p:spPr>
          <a:xfrm>
            <a:off x="2124582" y="2978371"/>
            <a:ext cx="1435101" cy="1435101"/>
          </a:xfrm>
          <a:prstGeom prst="rect">
            <a:avLst/>
          </a:prstGeom>
          <a:ln w="12700">
            <a:miter lim="400000"/>
          </a:ln>
          <a:extLst>
            <a:ext uri="{C572A759-6A51-4108-AA02-DFA0A04FC94B}">
              <ma14:wrappingTextBoxFlag xmlns="" xmlns:ma14="http://schemas.microsoft.com/office/mac/drawingml/2011/main" val="1"/>
            </a:ext>
          </a:extLst>
        </p:spPr>
        <p:txBody>
          <a:bodyPr lIns="0" tIns="0" rIns="0" bIns="0" anchor="ctr"/>
          <a:lstStyle>
            <a:lvl1pPr defTabSz="1155700">
              <a:defRPr sz="9600" cap="all">
                <a:solidFill>
                  <a:srgbClr val="FFBF77"/>
                </a:solidFill>
                <a:latin typeface="Montserrat Bold"/>
                <a:ea typeface="Montserrat Bold"/>
                <a:cs typeface="Montserrat Bold"/>
                <a:sym typeface="Montserrat Bold"/>
              </a:defRPr>
            </a:lvl1pPr>
          </a:lstStyle>
          <a:p>
            <a:r>
              <a:rPr b="1" dirty="0">
                <a:solidFill>
                  <a:schemeClr val="accent4"/>
                </a:solidFill>
                <a:latin typeface="Montserrat" panose="02000505000000020004" pitchFamily="2" charset="0"/>
              </a:rPr>
              <a:t>1</a:t>
            </a:r>
          </a:p>
        </p:txBody>
      </p:sp>
      <p:sp>
        <p:nvSpPr>
          <p:cNvPr id="728" name="Circle"/>
          <p:cNvSpPr/>
          <p:nvPr/>
        </p:nvSpPr>
        <p:spPr>
          <a:xfrm>
            <a:off x="1721990" y="2636854"/>
            <a:ext cx="2209801" cy="2209801"/>
          </a:xfrm>
          <a:prstGeom prst="ellipse">
            <a:avLst/>
          </a:prstGeom>
          <a:ln w="76200">
            <a:solidFill>
              <a:schemeClr val="tx2"/>
            </a:solidFill>
            <a:miter lim="400000"/>
          </a:ln>
        </p:spPr>
        <p:txBody>
          <a:bodyPr lIns="50800" tIns="50800" rIns="50800" bIns="50800" anchor="ct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729" name="2"/>
          <p:cNvSpPr/>
          <p:nvPr/>
        </p:nvSpPr>
        <p:spPr>
          <a:xfrm>
            <a:off x="1813432" y="8869830"/>
            <a:ext cx="2057401" cy="1435101"/>
          </a:xfrm>
          <a:prstGeom prst="rect">
            <a:avLst/>
          </a:prstGeom>
          <a:ln w="12700">
            <a:miter lim="400000"/>
          </a:ln>
          <a:extLst>
            <a:ext uri="{C572A759-6A51-4108-AA02-DFA0A04FC94B}">
              <ma14:wrappingTextBoxFlag xmlns="" xmlns:ma14="http://schemas.microsoft.com/office/mac/drawingml/2011/main" val="1"/>
            </a:ext>
          </a:extLst>
        </p:spPr>
        <p:txBody>
          <a:bodyPr lIns="0" tIns="0" rIns="0" bIns="0" anchor="ctr"/>
          <a:lstStyle>
            <a:lvl1pPr defTabSz="1155700">
              <a:defRPr sz="9600" cap="all">
                <a:solidFill>
                  <a:srgbClr val="3497E0"/>
                </a:solidFill>
                <a:latin typeface="Montserrat Bold"/>
                <a:ea typeface="Montserrat Bold"/>
                <a:cs typeface="Montserrat Bold"/>
                <a:sym typeface="Montserrat Bold"/>
              </a:defRPr>
            </a:lvl1pPr>
          </a:lstStyle>
          <a:p>
            <a:r>
              <a:rPr b="1" dirty="0">
                <a:solidFill>
                  <a:schemeClr val="accent1"/>
                </a:solidFill>
                <a:latin typeface="Montserrat" panose="02000505000000020004" pitchFamily="2" charset="0"/>
              </a:rPr>
              <a:t>2</a:t>
            </a:r>
          </a:p>
        </p:txBody>
      </p:sp>
      <p:sp>
        <p:nvSpPr>
          <p:cNvPr id="730" name="Circle"/>
          <p:cNvSpPr/>
          <p:nvPr/>
        </p:nvSpPr>
        <p:spPr>
          <a:xfrm>
            <a:off x="1721990" y="8531228"/>
            <a:ext cx="2209801" cy="2209801"/>
          </a:xfrm>
          <a:prstGeom prst="ellipse">
            <a:avLst/>
          </a:prstGeom>
          <a:ln w="76200">
            <a:solidFill>
              <a:schemeClr val="tx2"/>
            </a:solidFill>
            <a:miter lim="400000"/>
          </a:ln>
        </p:spPr>
        <p:txBody>
          <a:bodyPr lIns="50800" tIns="50800" rIns="50800" bIns="50800" anchor="ct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731" name="3"/>
          <p:cNvSpPr/>
          <p:nvPr/>
        </p:nvSpPr>
        <p:spPr>
          <a:xfrm>
            <a:off x="13110377" y="2978371"/>
            <a:ext cx="1638301" cy="1435101"/>
          </a:xfrm>
          <a:prstGeom prst="rect">
            <a:avLst/>
          </a:prstGeom>
          <a:ln w="12700">
            <a:miter lim="400000"/>
          </a:ln>
          <a:extLst>
            <a:ext uri="{C572A759-6A51-4108-AA02-DFA0A04FC94B}">
              <ma14:wrappingTextBoxFlag xmlns="" xmlns:ma14="http://schemas.microsoft.com/office/mac/drawingml/2011/main" val="1"/>
            </a:ext>
          </a:extLst>
        </p:spPr>
        <p:txBody>
          <a:bodyPr lIns="0" tIns="0" rIns="0" bIns="0" anchor="ctr"/>
          <a:lstStyle>
            <a:lvl1pPr defTabSz="1155700">
              <a:defRPr sz="9600" cap="all">
                <a:solidFill>
                  <a:srgbClr val="74C5BF"/>
                </a:solidFill>
                <a:latin typeface="Montserrat Bold"/>
                <a:ea typeface="Montserrat Bold"/>
                <a:cs typeface="Montserrat Bold"/>
                <a:sym typeface="Montserrat Bold"/>
              </a:defRPr>
            </a:lvl1pPr>
          </a:lstStyle>
          <a:p>
            <a:r>
              <a:rPr b="1" dirty="0">
                <a:solidFill>
                  <a:schemeClr val="accent3"/>
                </a:solidFill>
                <a:latin typeface="Montserrat" panose="02000505000000020004" pitchFamily="2" charset="0"/>
              </a:rPr>
              <a:t>3</a:t>
            </a:r>
          </a:p>
        </p:txBody>
      </p:sp>
      <p:sp>
        <p:nvSpPr>
          <p:cNvPr id="732" name="Circle"/>
          <p:cNvSpPr/>
          <p:nvPr/>
        </p:nvSpPr>
        <p:spPr>
          <a:xfrm>
            <a:off x="12783691" y="2636854"/>
            <a:ext cx="2209801" cy="2209801"/>
          </a:xfrm>
          <a:prstGeom prst="ellipse">
            <a:avLst/>
          </a:prstGeom>
          <a:ln w="76200">
            <a:solidFill>
              <a:schemeClr val="tx2"/>
            </a:solidFill>
            <a:miter lim="400000"/>
          </a:ln>
        </p:spPr>
        <p:txBody>
          <a:bodyPr lIns="50800" tIns="50800" rIns="50800" bIns="50800" anchor="ct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733" name="4"/>
          <p:cNvSpPr/>
          <p:nvPr/>
        </p:nvSpPr>
        <p:spPr>
          <a:xfrm>
            <a:off x="12837032" y="8869830"/>
            <a:ext cx="2057401" cy="1435101"/>
          </a:xfrm>
          <a:prstGeom prst="rect">
            <a:avLst/>
          </a:prstGeom>
          <a:ln w="12700">
            <a:miter lim="400000"/>
          </a:ln>
          <a:extLst>
            <a:ext uri="{C572A759-6A51-4108-AA02-DFA0A04FC94B}">
              <ma14:wrappingTextBoxFlag xmlns="" xmlns:ma14="http://schemas.microsoft.com/office/mac/drawingml/2011/main" val="1"/>
            </a:ext>
          </a:extLst>
        </p:spPr>
        <p:txBody>
          <a:bodyPr lIns="0" tIns="0" rIns="0" bIns="0" anchor="ctr"/>
          <a:lstStyle>
            <a:lvl1pPr defTabSz="1155700">
              <a:defRPr sz="9600" cap="all">
                <a:solidFill>
                  <a:srgbClr val="F8655F"/>
                </a:solidFill>
                <a:latin typeface="Montserrat Bold"/>
                <a:ea typeface="Montserrat Bold"/>
                <a:cs typeface="Montserrat Bold"/>
                <a:sym typeface="Montserrat Bold"/>
              </a:defRPr>
            </a:lvl1pPr>
          </a:lstStyle>
          <a:p>
            <a:endParaRPr b="1" dirty="0">
              <a:solidFill>
                <a:schemeClr val="accent2"/>
              </a:solidFill>
              <a:latin typeface="Montserrat" panose="02000505000000020004" pitchFamily="2" charset="0"/>
            </a:endParaRPr>
          </a:p>
        </p:txBody>
      </p:sp>
      <p:sp>
        <p:nvSpPr>
          <p:cNvPr id="734" name="Circle"/>
          <p:cNvSpPr/>
          <p:nvPr/>
        </p:nvSpPr>
        <p:spPr>
          <a:xfrm>
            <a:off x="12783691" y="8531228"/>
            <a:ext cx="2209801" cy="2209801"/>
          </a:xfrm>
          <a:prstGeom prst="ellipse">
            <a:avLst/>
          </a:prstGeom>
          <a:ln w="76200">
            <a:solidFill>
              <a:schemeClr val="tx2"/>
            </a:solidFill>
            <a:miter lim="400000"/>
          </a:ln>
        </p:spPr>
        <p:txBody>
          <a:bodyPr lIns="50800" tIns="50800" rIns="50800" bIns="50800" anchor="ct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pic>
        <p:nvPicPr>
          <p:cNvPr id="3" name="Graphic 2" descr="Key">
            <a:extLst>
              <a:ext uri="{FF2B5EF4-FFF2-40B4-BE49-F238E27FC236}">
                <a16:creationId xmlns:a16="http://schemas.microsoft.com/office/drawing/2014/main" id="{D7EE0A6A-FCD7-46DF-A636-96F918FD869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065942" y="8764731"/>
            <a:ext cx="1645298" cy="1645298"/>
          </a:xfrm>
          <a:prstGeom prst="rect">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2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2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2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2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3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2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3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3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2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73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73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3" grpId="0" animBg="1"/>
      <p:bldP spid="724" grpId="0" animBg="1"/>
      <p:bldP spid="725" grpId="0"/>
      <p:bldP spid="726" grpId="0" animBg="1"/>
      <p:bldP spid="727" grpId="0" animBg="1"/>
      <p:bldP spid="728" grpId="0" animBg="1"/>
      <p:bldP spid="729" grpId="0" animBg="1"/>
      <p:bldP spid="730" grpId="0" animBg="1"/>
      <p:bldP spid="731" grpId="0" animBg="1"/>
      <p:bldP spid="732" grpId="0" animBg="1"/>
      <p:bldP spid="733" grpId="0" animBg="1"/>
      <p:bldP spid="73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quare">
            <a:extLst>
              <a:ext uri="{FF2B5EF4-FFF2-40B4-BE49-F238E27FC236}">
                <a16:creationId xmlns:a16="http://schemas.microsoft.com/office/drawing/2014/main" id="{5AD6DAAB-B514-4311-A5B3-4DC52DED0DEA}"/>
              </a:ext>
            </a:extLst>
          </p:cNvPr>
          <p:cNvSpPr/>
          <p:nvPr/>
        </p:nvSpPr>
        <p:spPr>
          <a:xfrm rot="2700000">
            <a:off x="3530599" y="4406899"/>
            <a:ext cx="6172201" cy="6172201"/>
          </a:xfrm>
          <a:prstGeom prst="rect">
            <a:avLst/>
          </a:prstGeom>
          <a:ln w="50800">
            <a:solidFill>
              <a:schemeClr val="accent3"/>
            </a:solidFill>
            <a:miter lim="400000"/>
          </a:ln>
        </p:spPr>
        <p:txBody>
          <a:bodyPr lIns="50800" tIns="50800" rIns="50800" bIns="50800" anchor="ctr"/>
          <a:lstStyle/>
          <a:p>
            <a:pPr defTabSz="584200">
              <a:defRPr sz="4000">
                <a:solidFill>
                  <a:srgbClr val="FFFFFF"/>
                </a:solidFill>
                <a:effectLst>
                  <a:outerShdw blurRad="38100" dist="12700" dir="5400000" rotWithShape="0">
                    <a:srgbClr val="000000">
                      <a:alpha val="50000"/>
                    </a:srgbClr>
                  </a:outerShdw>
                </a:effectLst>
              </a:defRPr>
            </a:pPr>
            <a:endParaRPr dirty="0">
              <a:latin typeface="Calibri Regular"/>
              <a:ea typeface="Arial Regular" charset="0"/>
              <a:cs typeface="Arial Regular" charset="0"/>
            </a:endParaRPr>
          </a:p>
        </p:txBody>
      </p:sp>
      <p:pic>
        <p:nvPicPr>
          <p:cNvPr id="4" name="Picture 3">
            <a:extLst>
              <a:ext uri="{FF2B5EF4-FFF2-40B4-BE49-F238E27FC236}">
                <a16:creationId xmlns:a16="http://schemas.microsoft.com/office/drawing/2014/main" id="{463212D0-38DE-45E0-8D5F-48D2C07DE193}"/>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3205691" y="4307764"/>
            <a:ext cx="6822015" cy="6370469"/>
          </a:xfrm>
          <a:prstGeom prst="rect">
            <a:avLst/>
          </a:prstGeom>
          <a:ln w="28575">
            <a:solidFill>
              <a:schemeClr val="accent2"/>
            </a:solidFill>
          </a:ln>
        </p:spPr>
      </p:pic>
      <p:sp>
        <p:nvSpPr>
          <p:cNvPr id="5" name="our roadmap">
            <a:extLst>
              <a:ext uri="{FF2B5EF4-FFF2-40B4-BE49-F238E27FC236}">
                <a16:creationId xmlns:a16="http://schemas.microsoft.com/office/drawing/2014/main" id="{6C62C9F7-5CA7-4FE3-9737-FE7892C53B19}"/>
              </a:ext>
            </a:extLst>
          </p:cNvPr>
          <p:cNvSpPr>
            <a:spLocks noGrp="1"/>
          </p:cNvSpPr>
          <p:nvPr>
            <p:ph type="title" idx="4294967295"/>
          </p:nvPr>
        </p:nvSpPr>
        <p:spPr>
          <a:xfrm>
            <a:off x="0" y="420985"/>
            <a:ext cx="24384000" cy="923330"/>
          </a:xfrm>
          <a:prstGeom prst="rect">
            <a:avLst/>
          </a:prstGeom>
          <a:noFill/>
          <a:ln w="12700">
            <a:noFill/>
            <a:prstDash/>
            <a:miter lim="400000"/>
          </a:ln>
          <a:effectLst/>
          <a:extLst>
            <a:ext uri="{C572A759-6A51-4108-AA02-DFA0A04FC94B}">
              <ma14:wrappingTextBoxFlag xmlns:ma14="http://schemas.microsoft.com/office/mac/drawingml/2011/main" xmlns="" val="1"/>
            </a:ext>
          </a:ex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lvl1pPr defTabSz="1155700">
              <a:lnSpc>
                <a:spcPct val="80000"/>
              </a:lnSpc>
              <a:defRPr sz="7200" cap="all">
                <a:solidFill>
                  <a:srgbClr val="FFFFFF"/>
                </a:solidFill>
                <a:latin typeface="Montserrat Bold"/>
                <a:ea typeface="Montserrat Bold"/>
                <a:cs typeface="Montserrat Bold"/>
                <a:sym typeface="Montserrat Bold"/>
              </a:defRPr>
            </a:lvl1pPr>
          </a:lstStyle>
          <a:p>
            <a:pPr marL="0" marR="0" lvl="0" indent="0" algn="ctr" defTabSz="1155700" rtl="0" eaLnBrk="1" fontAlgn="auto" latinLnBrk="0" hangingPunct="0">
              <a:lnSpc>
                <a:spcPct val="100000"/>
              </a:lnSpc>
              <a:spcBef>
                <a:spcPts val="0"/>
              </a:spcBef>
              <a:spcAft>
                <a:spcPts val="0"/>
              </a:spcAft>
              <a:buClrTx/>
              <a:buSzTx/>
              <a:buFontTx/>
              <a:buNone/>
              <a:tabLst/>
              <a:defRPr/>
            </a:pPr>
            <a:r>
              <a:rPr kumimoji="0" lang="en-US" sz="6000" b="0" i="0" u="none" strike="noStrike" kern="0" cap="all" spc="0" normalizeH="0" baseline="0" noProof="0" dirty="0">
                <a:ln>
                  <a:noFill/>
                </a:ln>
                <a:solidFill>
                  <a:schemeClr val="tx2"/>
                </a:solidFill>
                <a:effectLst/>
                <a:uLnTx/>
                <a:uFillTx/>
                <a:latin typeface="Montserrat" panose="02000505000000020004" pitchFamily="2" charset="0"/>
                <a:ea typeface="Montserrat Bold"/>
                <a:cs typeface="Montserrat Bold"/>
                <a:sym typeface="Montserrat Bold"/>
              </a:rPr>
              <a:t>Closing Thoughts</a:t>
            </a:r>
          </a:p>
        </p:txBody>
      </p:sp>
    </p:spTree>
    <p:custDataLst>
      <p:tags r:id="rId1"/>
    </p:custDataLst>
    <p:extLst>
      <p:ext uri="{BB962C8B-B14F-4D97-AF65-F5344CB8AC3E}">
        <p14:creationId xmlns:p14="http://schemas.microsoft.com/office/powerpoint/2010/main" val="325002753"/>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8" name="Contacts"/>
          <p:cNvSpPr>
            <a:spLocks noGrp="1"/>
          </p:cNvSpPr>
          <p:nvPr>
            <p:ph type="title" idx="4294967295"/>
          </p:nvPr>
        </p:nvSpPr>
        <p:spPr>
          <a:xfrm>
            <a:off x="5140689" y="720993"/>
            <a:ext cx="14102622" cy="1794915"/>
          </a:xfrm>
          <a:prstGeom prst="rect">
            <a:avLst/>
          </a:prstGeom>
          <a:noFill/>
          <a:ln w="12700">
            <a:noFill/>
            <a:prstDash/>
            <a:miter lim="400000"/>
          </a:ln>
          <a:effectLst/>
          <a:extLst>
            <a:ext uri="{C572A759-6A51-4108-AA02-DFA0A04FC94B}">
              <ma14:wrappingTextBoxFlag xmlns:ma14="http://schemas.microsoft.com/office/mac/drawingml/2011/main" xmlns="" val="1"/>
            </a:ext>
          </a:ex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lvl1pPr defTabSz="1155700">
              <a:lnSpc>
                <a:spcPct val="80000"/>
              </a:lnSpc>
              <a:defRPr sz="7200" cap="all">
                <a:solidFill>
                  <a:srgbClr val="FFFFFF"/>
                </a:solidFill>
                <a:latin typeface="Montserrat Bold"/>
                <a:ea typeface="Montserrat Bold"/>
                <a:cs typeface="Montserrat Bold"/>
                <a:sym typeface="Montserrat Bold"/>
              </a:defRPr>
            </a:lvl1pPr>
          </a:lstStyle>
          <a:p>
            <a:pPr marL="0" marR="0" lvl="0" indent="0" algn="ctr" defTabSz="1155700" rtl="0" eaLnBrk="1" fontAlgn="auto" latinLnBrk="0" hangingPunct="0">
              <a:lnSpc>
                <a:spcPct val="80000"/>
              </a:lnSpc>
              <a:spcBef>
                <a:spcPts val="0"/>
              </a:spcBef>
              <a:spcAft>
                <a:spcPts val="0"/>
              </a:spcAft>
              <a:buClrTx/>
              <a:buSzTx/>
              <a:buFontTx/>
              <a:buNone/>
              <a:tabLst/>
              <a:defRPr/>
            </a:pPr>
            <a:r>
              <a:rPr kumimoji="0" lang="en-US" sz="7200" b="1" i="0" u="none" strike="noStrike" kern="0" cap="all" spc="0" normalizeH="0" baseline="0" noProof="0" dirty="0">
                <a:ln>
                  <a:noFill/>
                </a:ln>
                <a:solidFill>
                  <a:schemeClr val="tx2"/>
                </a:solidFill>
                <a:effectLst/>
                <a:uLnTx/>
                <a:uFillTx/>
                <a:latin typeface="+mj-lt"/>
                <a:ea typeface="Montserrat Bold"/>
                <a:cs typeface="Montserrat Bold"/>
                <a:sym typeface="Montserrat Bold"/>
              </a:rPr>
              <a:t>You Have Reached the End Of This Presentation</a:t>
            </a:r>
          </a:p>
        </p:txBody>
      </p:sp>
      <p:sp>
        <p:nvSpPr>
          <p:cNvPr id="1409" name="Adress:"/>
          <p:cNvSpPr/>
          <p:nvPr/>
        </p:nvSpPr>
        <p:spPr>
          <a:xfrm>
            <a:off x="1530350" y="3167594"/>
            <a:ext cx="2705100" cy="586314"/>
          </a:xfrm>
          <a:prstGeom prst="rect">
            <a:avLst/>
          </a:prstGeom>
          <a:ln w="12700"/>
          <a:extLst>
            <a:ext uri="{C572A759-6A51-4108-AA02-DFA0A04FC94B}">
              <ma14:wrappingTextBoxFlag xmlns:ma14="http://schemas.microsoft.com/office/mac/drawingml/2011/main" xmlns="" val="1"/>
            </a:ext>
          </a:extLst>
        </p:spPr>
        <p:txBody>
          <a:bodyPr lIns="0" tIns="0" rIns="0" bIns="0" anchor="ctr">
            <a:spAutoFit/>
          </a:bodyPr>
          <a:lstStyle>
            <a:lvl1pPr algn="l" defTabSz="952500">
              <a:lnSpc>
                <a:spcPct val="140000"/>
              </a:lnSpc>
              <a:buClr>
                <a:srgbClr val="E9F6FA"/>
              </a:buClr>
              <a:buFont typeface="Helvetica Neue UltraLight"/>
              <a:defRPr sz="3000">
                <a:solidFill>
                  <a:srgbClr val="FFFFFF"/>
                </a:solidFill>
                <a:uFill>
                  <a:solidFill>
                    <a:srgbClr val="FFFFFF"/>
                  </a:solidFill>
                </a:uFill>
                <a:latin typeface="Montserrat Bold"/>
                <a:ea typeface="Montserrat Bold"/>
                <a:cs typeface="Montserrat Bold"/>
                <a:sym typeface="Montserrat Bold"/>
              </a:defRPr>
            </a:lvl1pPr>
          </a:lstStyle>
          <a:p>
            <a:r>
              <a:rPr lang="en-US" b="1" dirty="0">
                <a:solidFill>
                  <a:schemeClr val="tx2"/>
                </a:solidFill>
                <a:latin typeface="Calibri Bold"/>
              </a:rPr>
              <a:t>References:</a:t>
            </a:r>
            <a:endParaRPr b="1" dirty="0">
              <a:solidFill>
                <a:schemeClr val="tx2"/>
              </a:solidFill>
              <a:latin typeface="Calibri Bold"/>
            </a:endParaRPr>
          </a:p>
        </p:txBody>
      </p:sp>
      <p:sp>
        <p:nvSpPr>
          <p:cNvPr id="1410" name="35 W Wacker Dr,…"/>
          <p:cNvSpPr/>
          <p:nvPr/>
        </p:nvSpPr>
        <p:spPr>
          <a:xfrm>
            <a:off x="1530350" y="4377623"/>
            <a:ext cx="14811403" cy="4823528"/>
          </a:xfrm>
          <a:prstGeom prst="rect">
            <a:avLst/>
          </a:prstGeom>
          <a:ln w="12700"/>
          <a:extLst>
            <a:ext uri="{C572A759-6A51-4108-AA02-DFA0A04FC94B}">
              <ma14:wrappingTextBoxFlag xmlns:ma14="http://schemas.microsoft.com/office/mac/drawingml/2011/main" xmlns="" val="1"/>
            </a:ext>
          </a:extLst>
        </p:spPr>
        <p:txBody>
          <a:bodyPr lIns="0" tIns="0" rIns="0" bIns="0" anchor="ctr"/>
          <a:lstStyle/>
          <a:p>
            <a:pPr lvl="0" algn="l">
              <a:spcBef>
                <a:spcPts val="600"/>
              </a:spcBef>
              <a:spcAft>
                <a:spcPts val="600"/>
              </a:spcAft>
            </a:pPr>
            <a:r>
              <a:rPr lang="en-US" sz="2800" u="sng" dirty="0">
                <a:solidFill>
                  <a:schemeClr val="accent2"/>
                </a:solidFill>
              </a:rPr>
              <a:t>http://www.vmware.com</a:t>
            </a:r>
          </a:p>
          <a:p>
            <a:pPr lvl="0" algn="l">
              <a:spcBef>
                <a:spcPts val="600"/>
              </a:spcBef>
              <a:spcAft>
                <a:spcPts val="600"/>
              </a:spcAft>
            </a:pPr>
            <a:r>
              <a:rPr lang="en-US" sz="2800" u="sng" dirty="0">
                <a:solidFill>
                  <a:schemeClr val="accent2"/>
                </a:solidFill>
              </a:rPr>
              <a:t>https://www.kali.org/</a:t>
            </a:r>
          </a:p>
          <a:p>
            <a:pPr lvl="0" algn="l">
              <a:spcBef>
                <a:spcPts val="600"/>
              </a:spcBef>
              <a:spcAft>
                <a:spcPts val="600"/>
              </a:spcAft>
            </a:pPr>
            <a:r>
              <a:rPr lang="en-US" sz="2800" u="sng" dirty="0">
                <a:solidFill>
                  <a:schemeClr val="accent2"/>
                </a:solidFill>
              </a:rPr>
              <a:t>https://www.offensive-security.com/</a:t>
            </a:r>
          </a:p>
          <a:p>
            <a:pPr lvl="0" algn="l">
              <a:spcBef>
                <a:spcPts val="600"/>
              </a:spcBef>
              <a:spcAft>
                <a:spcPts val="600"/>
              </a:spcAft>
            </a:pPr>
            <a:r>
              <a:rPr lang="en-US" sz="2800" u="sng" dirty="0">
                <a:solidFill>
                  <a:schemeClr val="accent2"/>
                </a:solidFill>
              </a:rPr>
              <a:t>http://linuxcommand.org/</a:t>
            </a:r>
          </a:p>
          <a:p>
            <a:pPr lvl="0" algn="l">
              <a:spcBef>
                <a:spcPts val="600"/>
              </a:spcBef>
              <a:spcAft>
                <a:spcPts val="600"/>
              </a:spcAft>
            </a:pPr>
            <a:r>
              <a:rPr lang="en-US" sz="2800" u="sng" dirty="0">
                <a:solidFill>
                  <a:schemeClr val="accent2"/>
                </a:solidFill>
                <a:hlinkClick r:id="rId3">
                  <a:extLst>
                    <a:ext uri="{A12FA001-AC4F-418D-AE19-62706E023703}">
                      <ahyp:hlinkClr xmlns:ahyp="http://schemas.microsoft.com/office/drawing/2018/hyperlinkcolor" val="tx"/>
                    </a:ext>
                  </a:extLst>
                </a:hlinkClick>
              </a:rPr>
              <a:t>http://overthewire.org/wargames/bandit/</a:t>
            </a:r>
            <a:endParaRPr lang="en-US" sz="2800" u="sng" dirty="0">
              <a:solidFill>
                <a:schemeClr val="accent2"/>
              </a:solidFill>
            </a:endParaRPr>
          </a:p>
          <a:p>
            <a:pPr lvl="0" algn="l">
              <a:spcBef>
                <a:spcPts val="600"/>
              </a:spcBef>
              <a:spcAft>
                <a:spcPts val="600"/>
              </a:spcAft>
            </a:pPr>
            <a:r>
              <a:rPr lang="fr-FR" sz="2800" u="sng" dirty="0">
                <a:solidFill>
                  <a:schemeClr val="accent2"/>
                </a:solidFill>
              </a:rPr>
              <a:t>http://images.bit-tech.net/news_images/2012/06/torvalds-slams-nvidia/article_img.jpg</a:t>
            </a:r>
            <a:endParaRPr lang="en-US" sz="2800" u="sng" dirty="0">
              <a:solidFill>
                <a:schemeClr val="accent2"/>
              </a:solidFill>
            </a:endParaRPr>
          </a:p>
        </p:txBody>
      </p:sp>
      <p:sp>
        <p:nvSpPr>
          <p:cNvPr id="1415" name="Shape"/>
          <p:cNvSpPr/>
          <p:nvPr/>
        </p:nvSpPr>
        <p:spPr>
          <a:xfrm rot="6072682" flipH="1">
            <a:off x="11909453" y="-837696"/>
            <a:ext cx="21882101" cy="20916902"/>
          </a:xfrm>
          <a:custGeom>
            <a:avLst/>
            <a:gdLst/>
            <a:ahLst/>
            <a:cxnLst>
              <a:cxn ang="0">
                <a:pos x="wd2" y="hd2"/>
              </a:cxn>
              <a:cxn ang="5400000">
                <a:pos x="wd2" y="hd2"/>
              </a:cxn>
              <a:cxn ang="10800000">
                <a:pos x="wd2" y="hd2"/>
              </a:cxn>
              <a:cxn ang="16200000">
                <a:pos x="wd2" y="hd2"/>
              </a:cxn>
            </a:cxnLst>
            <a:rect l="0" t="0" r="r" b="b"/>
            <a:pathLst>
              <a:path w="21586" h="21586" extrusionOk="0">
                <a:moveTo>
                  <a:pt x="1886" y="18896"/>
                </a:moveTo>
                <a:lnTo>
                  <a:pt x="656" y="20405"/>
                </a:lnTo>
                <a:cubicBezTo>
                  <a:pt x="641" y="20396"/>
                  <a:pt x="622" y="20395"/>
                  <a:pt x="606" y="20405"/>
                </a:cubicBezTo>
                <a:cubicBezTo>
                  <a:pt x="583" y="20420"/>
                  <a:pt x="576" y="20451"/>
                  <a:pt x="590" y="20475"/>
                </a:cubicBezTo>
                <a:cubicBezTo>
                  <a:pt x="604" y="20499"/>
                  <a:pt x="634" y="20506"/>
                  <a:pt x="657" y="20492"/>
                </a:cubicBezTo>
                <a:cubicBezTo>
                  <a:pt x="675" y="20480"/>
                  <a:pt x="682" y="20459"/>
                  <a:pt x="678" y="20438"/>
                </a:cubicBezTo>
                <a:lnTo>
                  <a:pt x="873" y="20345"/>
                </a:lnTo>
                <a:lnTo>
                  <a:pt x="101" y="21444"/>
                </a:lnTo>
                <a:lnTo>
                  <a:pt x="980" y="19484"/>
                </a:lnTo>
                <a:cubicBezTo>
                  <a:pt x="980" y="19484"/>
                  <a:pt x="1886" y="18896"/>
                  <a:pt x="1886" y="18896"/>
                </a:cubicBezTo>
                <a:close/>
                <a:moveTo>
                  <a:pt x="193" y="19976"/>
                </a:moveTo>
                <a:cubicBezTo>
                  <a:pt x="192" y="19976"/>
                  <a:pt x="192" y="19975"/>
                  <a:pt x="191" y="19975"/>
                </a:cubicBezTo>
                <a:lnTo>
                  <a:pt x="1778" y="17581"/>
                </a:lnTo>
                <a:lnTo>
                  <a:pt x="1784" y="17640"/>
                </a:lnTo>
                <a:lnTo>
                  <a:pt x="959" y="19479"/>
                </a:lnTo>
                <a:cubicBezTo>
                  <a:pt x="959" y="19479"/>
                  <a:pt x="193" y="19976"/>
                  <a:pt x="193" y="19976"/>
                </a:cubicBezTo>
                <a:close/>
                <a:moveTo>
                  <a:pt x="1574" y="15515"/>
                </a:moveTo>
                <a:lnTo>
                  <a:pt x="1924" y="17270"/>
                </a:lnTo>
                <a:cubicBezTo>
                  <a:pt x="1921" y="17271"/>
                  <a:pt x="1918" y="17272"/>
                  <a:pt x="1915" y="17274"/>
                </a:cubicBezTo>
                <a:cubicBezTo>
                  <a:pt x="1893" y="17288"/>
                  <a:pt x="1885" y="17320"/>
                  <a:pt x="1899" y="17344"/>
                </a:cubicBezTo>
                <a:cubicBezTo>
                  <a:pt x="1901" y="17347"/>
                  <a:pt x="1904" y="17349"/>
                  <a:pt x="1906" y="17352"/>
                </a:cubicBezTo>
                <a:lnTo>
                  <a:pt x="1792" y="17525"/>
                </a:lnTo>
                <a:cubicBezTo>
                  <a:pt x="1792" y="17525"/>
                  <a:pt x="1574" y="15515"/>
                  <a:pt x="1574" y="15515"/>
                </a:cubicBezTo>
                <a:close/>
                <a:moveTo>
                  <a:pt x="2431" y="15477"/>
                </a:moveTo>
                <a:lnTo>
                  <a:pt x="2303" y="15947"/>
                </a:lnTo>
                <a:lnTo>
                  <a:pt x="1586" y="15351"/>
                </a:lnTo>
                <a:cubicBezTo>
                  <a:pt x="1587" y="15349"/>
                  <a:pt x="1588" y="15347"/>
                  <a:pt x="1589" y="15345"/>
                </a:cubicBezTo>
                <a:cubicBezTo>
                  <a:pt x="1589" y="15345"/>
                  <a:pt x="2431" y="15477"/>
                  <a:pt x="2431" y="15477"/>
                </a:cubicBezTo>
                <a:close/>
                <a:moveTo>
                  <a:pt x="2963" y="13609"/>
                </a:moveTo>
                <a:cubicBezTo>
                  <a:pt x="2964" y="13609"/>
                  <a:pt x="2964" y="13609"/>
                  <a:pt x="2965" y="13609"/>
                </a:cubicBezTo>
                <a:lnTo>
                  <a:pt x="3360" y="15600"/>
                </a:lnTo>
                <a:lnTo>
                  <a:pt x="2458" y="15459"/>
                </a:lnTo>
                <a:cubicBezTo>
                  <a:pt x="2458" y="15459"/>
                  <a:pt x="2963" y="13609"/>
                  <a:pt x="2963" y="13609"/>
                </a:cubicBezTo>
                <a:close/>
                <a:moveTo>
                  <a:pt x="8367" y="11278"/>
                </a:moveTo>
                <a:lnTo>
                  <a:pt x="8107" y="11579"/>
                </a:lnTo>
                <a:lnTo>
                  <a:pt x="7306" y="11495"/>
                </a:lnTo>
                <a:cubicBezTo>
                  <a:pt x="7305" y="11487"/>
                  <a:pt x="7304" y="11479"/>
                  <a:pt x="7299" y="11472"/>
                </a:cubicBezTo>
                <a:cubicBezTo>
                  <a:pt x="7285" y="11448"/>
                  <a:pt x="7255" y="11440"/>
                  <a:pt x="7232" y="11455"/>
                </a:cubicBezTo>
                <a:cubicBezTo>
                  <a:pt x="7210" y="11469"/>
                  <a:pt x="7203" y="11500"/>
                  <a:pt x="7216" y="11524"/>
                </a:cubicBezTo>
                <a:lnTo>
                  <a:pt x="5795" y="12775"/>
                </a:lnTo>
                <a:lnTo>
                  <a:pt x="6703" y="10661"/>
                </a:lnTo>
                <a:cubicBezTo>
                  <a:pt x="6715" y="10663"/>
                  <a:pt x="6728" y="10662"/>
                  <a:pt x="6740" y="10654"/>
                </a:cubicBezTo>
                <a:cubicBezTo>
                  <a:pt x="6746" y="10650"/>
                  <a:pt x="6751" y="10644"/>
                  <a:pt x="6755" y="10638"/>
                </a:cubicBezTo>
                <a:cubicBezTo>
                  <a:pt x="6755" y="10638"/>
                  <a:pt x="8367" y="11278"/>
                  <a:pt x="8367" y="11278"/>
                </a:cubicBezTo>
                <a:close/>
                <a:moveTo>
                  <a:pt x="8707" y="10916"/>
                </a:moveTo>
                <a:lnTo>
                  <a:pt x="8438" y="11285"/>
                </a:lnTo>
                <a:lnTo>
                  <a:pt x="8402" y="11271"/>
                </a:lnTo>
                <a:cubicBezTo>
                  <a:pt x="8402" y="11271"/>
                  <a:pt x="8707" y="10916"/>
                  <a:pt x="8707" y="10916"/>
                </a:cubicBezTo>
                <a:close/>
                <a:moveTo>
                  <a:pt x="9804" y="7216"/>
                </a:moveTo>
                <a:cubicBezTo>
                  <a:pt x="9810" y="7216"/>
                  <a:pt x="9815" y="7215"/>
                  <a:pt x="9821" y="7213"/>
                </a:cubicBezTo>
                <a:lnTo>
                  <a:pt x="10176" y="7855"/>
                </a:lnTo>
                <a:lnTo>
                  <a:pt x="9465" y="8752"/>
                </a:lnTo>
                <a:cubicBezTo>
                  <a:pt x="9451" y="8744"/>
                  <a:pt x="9433" y="8743"/>
                  <a:pt x="9418" y="8753"/>
                </a:cubicBezTo>
                <a:cubicBezTo>
                  <a:pt x="9395" y="8768"/>
                  <a:pt x="9388" y="8799"/>
                  <a:pt x="9402" y="8823"/>
                </a:cubicBezTo>
                <a:cubicBezTo>
                  <a:pt x="9410" y="8836"/>
                  <a:pt x="9423" y="8844"/>
                  <a:pt x="9437" y="8846"/>
                </a:cubicBezTo>
                <a:lnTo>
                  <a:pt x="9483" y="10051"/>
                </a:lnTo>
                <a:lnTo>
                  <a:pt x="8900" y="10661"/>
                </a:lnTo>
                <a:cubicBezTo>
                  <a:pt x="8899" y="10660"/>
                  <a:pt x="8898" y="10660"/>
                  <a:pt x="8897" y="10660"/>
                </a:cubicBezTo>
                <a:cubicBezTo>
                  <a:pt x="8897" y="10660"/>
                  <a:pt x="9804" y="7216"/>
                  <a:pt x="9804" y="7216"/>
                </a:cubicBezTo>
                <a:close/>
                <a:moveTo>
                  <a:pt x="11597" y="7798"/>
                </a:moveTo>
                <a:cubicBezTo>
                  <a:pt x="11589" y="7799"/>
                  <a:pt x="11581" y="7800"/>
                  <a:pt x="11574" y="7805"/>
                </a:cubicBezTo>
                <a:cubicBezTo>
                  <a:pt x="11567" y="7810"/>
                  <a:pt x="11561" y="7817"/>
                  <a:pt x="11558" y="7825"/>
                </a:cubicBezTo>
                <a:lnTo>
                  <a:pt x="10535" y="7435"/>
                </a:lnTo>
                <a:lnTo>
                  <a:pt x="11740" y="5914"/>
                </a:lnTo>
                <a:cubicBezTo>
                  <a:pt x="11743" y="5915"/>
                  <a:pt x="11747" y="5918"/>
                  <a:pt x="11751" y="5918"/>
                </a:cubicBezTo>
                <a:cubicBezTo>
                  <a:pt x="11751" y="5918"/>
                  <a:pt x="11597" y="7798"/>
                  <a:pt x="11597" y="7798"/>
                </a:cubicBezTo>
                <a:close/>
                <a:moveTo>
                  <a:pt x="15883" y="4756"/>
                </a:moveTo>
                <a:cubicBezTo>
                  <a:pt x="15884" y="4756"/>
                  <a:pt x="15886" y="4756"/>
                  <a:pt x="15888" y="4756"/>
                </a:cubicBezTo>
                <a:lnTo>
                  <a:pt x="16354" y="6312"/>
                </a:lnTo>
                <a:lnTo>
                  <a:pt x="15378" y="7604"/>
                </a:lnTo>
                <a:cubicBezTo>
                  <a:pt x="15377" y="7603"/>
                  <a:pt x="15376" y="7603"/>
                  <a:pt x="15375" y="7602"/>
                </a:cubicBezTo>
                <a:cubicBezTo>
                  <a:pt x="15375" y="7602"/>
                  <a:pt x="15883" y="4756"/>
                  <a:pt x="15883" y="4756"/>
                </a:cubicBezTo>
                <a:close/>
                <a:moveTo>
                  <a:pt x="16983" y="5480"/>
                </a:moveTo>
                <a:lnTo>
                  <a:pt x="15967" y="4756"/>
                </a:lnTo>
                <a:lnTo>
                  <a:pt x="17132" y="5283"/>
                </a:lnTo>
                <a:cubicBezTo>
                  <a:pt x="17132" y="5283"/>
                  <a:pt x="16983" y="5480"/>
                  <a:pt x="16983" y="5480"/>
                </a:cubicBezTo>
                <a:close/>
                <a:moveTo>
                  <a:pt x="17572" y="4736"/>
                </a:moveTo>
                <a:lnTo>
                  <a:pt x="17408" y="5382"/>
                </a:lnTo>
                <a:lnTo>
                  <a:pt x="17166" y="5273"/>
                </a:lnTo>
                <a:cubicBezTo>
                  <a:pt x="17166" y="5273"/>
                  <a:pt x="17572" y="4736"/>
                  <a:pt x="17572" y="4736"/>
                </a:cubicBezTo>
                <a:close/>
                <a:moveTo>
                  <a:pt x="17998" y="5034"/>
                </a:moveTo>
                <a:lnTo>
                  <a:pt x="17634" y="4716"/>
                </a:lnTo>
                <a:cubicBezTo>
                  <a:pt x="17638" y="4709"/>
                  <a:pt x="17640" y="4701"/>
                  <a:pt x="17640" y="4693"/>
                </a:cubicBezTo>
                <a:lnTo>
                  <a:pt x="18127" y="4610"/>
                </a:lnTo>
                <a:cubicBezTo>
                  <a:pt x="18127" y="4610"/>
                  <a:pt x="17998" y="5034"/>
                  <a:pt x="17998" y="5034"/>
                </a:cubicBezTo>
                <a:close/>
                <a:moveTo>
                  <a:pt x="18591" y="3151"/>
                </a:moveTo>
                <a:cubicBezTo>
                  <a:pt x="18595" y="3151"/>
                  <a:pt x="18598" y="3152"/>
                  <a:pt x="18601" y="3151"/>
                </a:cubicBezTo>
                <a:lnTo>
                  <a:pt x="18949" y="4451"/>
                </a:lnTo>
                <a:lnTo>
                  <a:pt x="18154" y="4585"/>
                </a:lnTo>
                <a:cubicBezTo>
                  <a:pt x="18154" y="4585"/>
                  <a:pt x="18591" y="3151"/>
                  <a:pt x="18591" y="3151"/>
                </a:cubicBezTo>
                <a:close/>
                <a:moveTo>
                  <a:pt x="20784" y="4111"/>
                </a:moveTo>
                <a:lnTo>
                  <a:pt x="18644" y="3114"/>
                </a:lnTo>
                <a:cubicBezTo>
                  <a:pt x="18647" y="3103"/>
                  <a:pt x="18645" y="3090"/>
                  <a:pt x="18640" y="3079"/>
                </a:cubicBezTo>
                <a:lnTo>
                  <a:pt x="19256" y="2616"/>
                </a:lnTo>
                <a:cubicBezTo>
                  <a:pt x="19256" y="2616"/>
                  <a:pt x="20784" y="4111"/>
                  <a:pt x="20784" y="4111"/>
                </a:cubicBezTo>
                <a:close/>
                <a:moveTo>
                  <a:pt x="18168" y="1522"/>
                </a:moveTo>
                <a:cubicBezTo>
                  <a:pt x="18171" y="1517"/>
                  <a:pt x="18173" y="1512"/>
                  <a:pt x="18174" y="1507"/>
                </a:cubicBezTo>
                <a:lnTo>
                  <a:pt x="20558" y="1596"/>
                </a:lnTo>
                <a:cubicBezTo>
                  <a:pt x="20559" y="1601"/>
                  <a:pt x="20561" y="1606"/>
                  <a:pt x="20563" y="1611"/>
                </a:cubicBezTo>
                <a:lnTo>
                  <a:pt x="19261" y="2591"/>
                </a:lnTo>
                <a:cubicBezTo>
                  <a:pt x="19261" y="2591"/>
                  <a:pt x="18168" y="1522"/>
                  <a:pt x="18168" y="1522"/>
                </a:cubicBezTo>
                <a:close/>
                <a:moveTo>
                  <a:pt x="17869" y="6044"/>
                </a:moveTo>
                <a:lnTo>
                  <a:pt x="19412" y="6320"/>
                </a:lnTo>
                <a:cubicBezTo>
                  <a:pt x="19411" y="6325"/>
                  <a:pt x="19412" y="6330"/>
                  <a:pt x="19414" y="6336"/>
                </a:cubicBezTo>
                <a:lnTo>
                  <a:pt x="18074" y="7079"/>
                </a:lnTo>
                <a:cubicBezTo>
                  <a:pt x="18074" y="7079"/>
                  <a:pt x="17869" y="6044"/>
                  <a:pt x="17869" y="6044"/>
                </a:cubicBezTo>
                <a:close/>
                <a:moveTo>
                  <a:pt x="18147" y="7543"/>
                </a:moveTo>
                <a:lnTo>
                  <a:pt x="18030" y="7125"/>
                </a:lnTo>
                <a:lnTo>
                  <a:pt x="18061" y="7108"/>
                </a:lnTo>
                <a:cubicBezTo>
                  <a:pt x="18061" y="7108"/>
                  <a:pt x="18147" y="7543"/>
                  <a:pt x="18147" y="7543"/>
                </a:cubicBezTo>
                <a:close/>
                <a:moveTo>
                  <a:pt x="13313" y="14767"/>
                </a:moveTo>
                <a:lnTo>
                  <a:pt x="13146" y="13045"/>
                </a:lnTo>
                <a:lnTo>
                  <a:pt x="13654" y="12694"/>
                </a:lnTo>
                <a:cubicBezTo>
                  <a:pt x="13659" y="12699"/>
                  <a:pt x="13664" y="12703"/>
                  <a:pt x="13671" y="12705"/>
                </a:cubicBezTo>
                <a:cubicBezTo>
                  <a:pt x="13671" y="12705"/>
                  <a:pt x="13313" y="14767"/>
                  <a:pt x="13313" y="14767"/>
                </a:cubicBezTo>
                <a:close/>
                <a:moveTo>
                  <a:pt x="12462" y="13517"/>
                </a:moveTo>
                <a:lnTo>
                  <a:pt x="13276" y="14796"/>
                </a:lnTo>
                <a:cubicBezTo>
                  <a:pt x="13274" y="14798"/>
                  <a:pt x="13272" y="14799"/>
                  <a:pt x="13270" y="14802"/>
                </a:cubicBezTo>
                <a:lnTo>
                  <a:pt x="11699" y="14044"/>
                </a:lnTo>
                <a:cubicBezTo>
                  <a:pt x="11699" y="14044"/>
                  <a:pt x="12462" y="13517"/>
                  <a:pt x="12462" y="13517"/>
                </a:cubicBezTo>
                <a:close/>
                <a:moveTo>
                  <a:pt x="10519" y="14831"/>
                </a:moveTo>
                <a:cubicBezTo>
                  <a:pt x="10519" y="14831"/>
                  <a:pt x="10519" y="14831"/>
                  <a:pt x="10519" y="14831"/>
                </a:cubicBezTo>
                <a:lnTo>
                  <a:pt x="11154" y="13804"/>
                </a:lnTo>
                <a:lnTo>
                  <a:pt x="11656" y="14046"/>
                </a:lnTo>
                <a:cubicBezTo>
                  <a:pt x="11656" y="14046"/>
                  <a:pt x="10519" y="14831"/>
                  <a:pt x="10519" y="14831"/>
                </a:cubicBezTo>
                <a:close/>
                <a:moveTo>
                  <a:pt x="9452" y="14456"/>
                </a:moveTo>
                <a:lnTo>
                  <a:pt x="10073" y="13510"/>
                </a:lnTo>
                <a:lnTo>
                  <a:pt x="10463" y="14823"/>
                </a:lnTo>
                <a:cubicBezTo>
                  <a:pt x="10463" y="14824"/>
                  <a:pt x="10462" y="14824"/>
                  <a:pt x="10461" y="14824"/>
                </a:cubicBezTo>
                <a:cubicBezTo>
                  <a:pt x="10455" y="14828"/>
                  <a:pt x="10450" y="14834"/>
                  <a:pt x="10446" y="14840"/>
                </a:cubicBezTo>
                <a:cubicBezTo>
                  <a:pt x="10446" y="14840"/>
                  <a:pt x="9452" y="14456"/>
                  <a:pt x="9452" y="14456"/>
                </a:cubicBezTo>
                <a:close/>
                <a:moveTo>
                  <a:pt x="8349" y="16103"/>
                </a:moveTo>
                <a:cubicBezTo>
                  <a:pt x="8335" y="16097"/>
                  <a:pt x="8319" y="16097"/>
                  <a:pt x="8305" y="16106"/>
                </a:cubicBezTo>
                <a:cubicBezTo>
                  <a:pt x="8303" y="16107"/>
                  <a:pt x="8302" y="16108"/>
                  <a:pt x="8301" y="16109"/>
                </a:cubicBezTo>
                <a:lnTo>
                  <a:pt x="7388" y="15331"/>
                </a:lnTo>
                <a:lnTo>
                  <a:pt x="7429" y="15322"/>
                </a:lnTo>
                <a:cubicBezTo>
                  <a:pt x="7430" y="15324"/>
                  <a:pt x="7430" y="15327"/>
                  <a:pt x="7432" y="15329"/>
                </a:cubicBezTo>
                <a:cubicBezTo>
                  <a:pt x="7446" y="15353"/>
                  <a:pt x="7475" y="15361"/>
                  <a:pt x="7498" y="15346"/>
                </a:cubicBezTo>
                <a:cubicBezTo>
                  <a:pt x="7519" y="15333"/>
                  <a:pt x="7526" y="15306"/>
                  <a:pt x="7517" y="15283"/>
                </a:cubicBezTo>
                <a:lnTo>
                  <a:pt x="8905" y="14270"/>
                </a:lnTo>
                <a:lnTo>
                  <a:pt x="9420" y="14469"/>
                </a:lnTo>
                <a:cubicBezTo>
                  <a:pt x="9420" y="14469"/>
                  <a:pt x="8349" y="16103"/>
                  <a:pt x="8349" y="16103"/>
                </a:cubicBezTo>
                <a:close/>
                <a:moveTo>
                  <a:pt x="6229" y="15962"/>
                </a:moveTo>
                <a:lnTo>
                  <a:pt x="6327" y="15579"/>
                </a:lnTo>
                <a:lnTo>
                  <a:pt x="7361" y="15338"/>
                </a:lnTo>
                <a:lnTo>
                  <a:pt x="8287" y="16127"/>
                </a:lnTo>
                <a:cubicBezTo>
                  <a:pt x="8286" y="16129"/>
                  <a:pt x="8285" y="16132"/>
                  <a:pt x="8284" y="16135"/>
                </a:cubicBezTo>
                <a:cubicBezTo>
                  <a:pt x="8284" y="16135"/>
                  <a:pt x="6229" y="15962"/>
                  <a:pt x="6229" y="15962"/>
                </a:cubicBezTo>
                <a:close/>
                <a:moveTo>
                  <a:pt x="6058" y="16555"/>
                </a:moveTo>
                <a:lnTo>
                  <a:pt x="6100" y="15972"/>
                </a:lnTo>
                <a:lnTo>
                  <a:pt x="6205" y="15980"/>
                </a:lnTo>
                <a:cubicBezTo>
                  <a:pt x="6205" y="15980"/>
                  <a:pt x="6058" y="16555"/>
                  <a:pt x="6058" y="16555"/>
                </a:cubicBezTo>
                <a:close/>
                <a:moveTo>
                  <a:pt x="5066" y="15908"/>
                </a:moveTo>
                <a:cubicBezTo>
                  <a:pt x="5066" y="15907"/>
                  <a:pt x="5067" y="15906"/>
                  <a:pt x="5068" y="15906"/>
                </a:cubicBezTo>
                <a:lnTo>
                  <a:pt x="6001" y="16631"/>
                </a:lnTo>
                <a:cubicBezTo>
                  <a:pt x="5996" y="16639"/>
                  <a:pt x="5994" y="16647"/>
                  <a:pt x="5994" y="16656"/>
                </a:cubicBezTo>
                <a:lnTo>
                  <a:pt x="5555" y="16737"/>
                </a:lnTo>
                <a:cubicBezTo>
                  <a:pt x="5555" y="16737"/>
                  <a:pt x="5066" y="15908"/>
                  <a:pt x="5066" y="15908"/>
                </a:cubicBezTo>
                <a:close/>
                <a:moveTo>
                  <a:pt x="6134" y="17758"/>
                </a:moveTo>
                <a:cubicBezTo>
                  <a:pt x="6130" y="17762"/>
                  <a:pt x="6127" y="17766"/>
                  <a:pt x="6124" y="17771"/>
                </a:cubicBezTo>
                <a:lnTo>
                  <a:pt x="4668" y="17362"/>
                </a:lnTo>
                <a:lnTo>
                  <a:pt x="4785" y="16895"/>
                </a:lnTo>
                <a:lnTo>
                  <a:pt x="5543" y="16756"/>
                </a:lnTo>
                <a:cubicBezTo>
                  <a:pt x="5543" y="16756"/>
                  <a:pt x="6134" y="17758"/>
                  <a:pt x="6134" y="17758"/>
                </a:cubicBezTo>
                <a:close/>
                <a:moveTo>
                  <a:pt x="4335" y="18621"/>
                </a:moveTo>
                <a:cubicBezTo>
                  <a:pt x="4330" y="18621"/>
                  <a:pt x="4324" y="18621"/>
                  <a:pt x="4318" y="18623"/>
                </a:cubicBezTo>
                <a:lnTo>
                  <a:pt x="3691" y="17135"/>
                </a:lnTo>
                <a:cubicBezTo>
                  <a:pt x="3691" y="17135"/>
                  <a:pt x="3691" y="17135"/>
                  <a:pt x="3691" y="17135"/>
                </a:cubicBezTo>
                <a:cubicBezTo>
                  <a:pt x="3699" y="17130"/>
                  <a:pt x="3704" y="17122"/>
                  <a:pt x="3708" y="17114"/>
                </a:cubicBezTo>
                <a:lnTo>
                  <a:pt x="4647" y="17378"/>
                </a:lnTo>
                <a:cubicBezTo>
                  <a:pt x="4647" y="17378"/>
                  <a:pt x="4335" y="18621"/>
                  <a:pt x="4335" y="18621"/>
                </a:cubicBezTo>
                <a:close/>
                <a:moveTo>
                  <a:pt x="3850" y="18717"/>
                </a:moveTo>
                <a:lnTo>
                  <a:pt x="4280" y="18683"/>
                </a:lnTo>
                <a:lnTo>
                  <a:pt x="3868" y="18881"/>
                </a:lnTo>
                <a:cubicBezTo>
                  <a:pt x="3868" y="18881"/>
                  <a:pt x="3850" y="18717"/>
                  <a:pt x="3850" y="18717"/>
                </a:cubicBezTo>
                <a:close/>
                <a:moveTo>
                  <a:pt x="3927" y="19646"/>
                </a:moveTo>
                <a:cubicBezTo>
                  <a:pt x="3924" y="19647"/>
                  <a:pt x="3921" y="19648"/>
                  <a:pt x="3918" y="19650"/>
                </a:cubicBezTo>
                <a:cubicBezTo>
                  <a:pt x="3911" y="19654"/>
                  <a:pt x="3906" y="19660"/>
                  <a:pt x="3903" y="19666"/>
                </a:cubicBezTo>
                <a:lnTo>
                  <a:pt x="3033" y="19307"/>
                </a:lnTo>
                <a:lnTo>
                  <a:pt x="3849" y="18915"/>
                </a:lnTo>
                <a:cubicBezTo>
                  <a:pt x="3849" y="18915"/>
                  <a:pt x="3927" y="19646"/>
                  <a:pt x="3927" y="19646"/>
                </a:cubicBezTo>
                <a:close/>
                <a:moveTo>
                  <a:pt x="1911" y="18813"/>
                </a:moveTo>
                <a:cubicBezTo>
                  <a:pt x="1907" y="18814"/>
                  <a:pt x="1904" y="18815"/>
                  <a:pt x="1900" y="18817"/>
                </a:cubicBezTo>
                <a:cubicBezTo>
                  <a:pt x="1880" y="18830"/>
                  <a:pt x="1873" y="18857"/>
                  <a:pt x="1882" y="18879"/>
                </a:cubicBezTo>
                <a:lnTo>
                  <a:pt x="993" y="19457"/>
                </a:lnTo>
                <a:lnTo>
                  <a:pt x="1789" y="17683"/>
                </a:lnTo>
                <a:cubicBezTo>
                  <a:pt x="1789" y="17683"/>
                  <a:pt x="1911" y="18813"/>
                  <a:pt x="1911" y="18813"/>
                </a:cubicBezTo>
                <a:close/>
                <a:moveTo>
                  <a:pt x="1800" y="17604"/>
                </a:moveTo>
                <a:lnTo>
                  <a:pt x="1795" y="17555"/>
                </a:lnTo>
                <a:lnTo>
                  <a:pt x="1879" y="17427"/>
                </a:lnTo>
                <a:cubicBezTo>
                  <a:pt x="1879" y="17427"/>
                  <a:pt x="1800" y="17604"/>
                  <a:pt x="1800" y="17604"/>
                </a:cubicBezTo>
                <a:close/>
                <a:moveTo>
                  <a:pt x="1931" y="17366"/>
                </a:moveTo>
                <a:cubicBezTo>
                  <a:pt x="1932" y="17367"/>
                  <a:pt x="1933" y="17366"/>
                  <a:pt x="1934" y="17367"/>
                </a:cubicBezTo>
                <a:lnTo>
                  <a:pt x="1921" y="18725"/>
                </a:lnTo>
                <a:lnTo>
                  <a:pt x="1805" y="17647"/>
                </a:lnTo>
                <a:cubicBezTo>
                  <a:pt x="1805" y="17647"/>
                  <a:pt x="1931" y="17366"/>
                  <a:pt x="1931" y="17366"/>
                </a:cubicBezTo>
                <a:close/>
                <a:moveTo>
                  <a:pt x="3201" y="16717"/>
                </a:moveTo>
                <a:lnTo>
                  <a:pt x="1980" y="17287"/>
                </a:lnTo>
                <a:cubicBezTo>
                  <a:pt x="1975" y="17281"/>
                  <a:pt x="1970" y="17277"/>
                  <a:pt x="1964" y="17273"/>
                </a:cubicBezTo>
                <a:lnTo>
                  <a:pt x="2316" y="15981"/>
                </a:lnTo>
                <a:cubicBezTo>
                  <a:pt x="2316" y="15981"/>
                  <a:pt x="3201" y="16717"/>
                  <a:pt x="3201" y="16717"/>
                </a:cubicBezTo>
                <a:close/>
                <a:moveTo>
                  <a:pt x="3549" y="16554"/>
                </a:moveTo>
                <a:lnTo>
                  <a:pt x="3218" y="16708"/>
                </a:lnTo>
                <a:lnTo>
                  <a:pt x="2321" y="15962"/>
                </a:lnTo>
                <a:lnTo>
                  <a:pt x="2453" y="15480"/>
                </a:lnTo>
                <a:lnTo>
                  <a:pt x="3364" y="15622"/>
                </a:lnTo>
                <a:cubicBezTo>
                  <a:pt x="3364" y="15622"/>
                  <a:pt x="3549" y="16554"/>
                  <a:pt x="3549" y="16554"/>
                </a:cubicBezTo>
                <a:close/>
                <a:moveTo>
                  <a:pt x="4322" y="15772"/>
                </a:moveTo>
                <a:lnTo>
                  <a:pt x="4043" y="16323"/>
                </a:lnTo>
                <a:lnTo>
                  <a:pt x="3568" y="16545"/>
                </a:lnTo>
                <a:lnTo>
                  <a:pt x="3385" y="15626"/>
                </a:lnTo>
                <a:cubicBezTo>
                  <a:pt x="3385" y="15626"/>
                  <a:pt x="4322" y="15772"/>
                  <a:pt x="4322" y="15772"/>
                </a:cubicBezTo>
                <a:close/>
                <a:moveTo>
                  <a:pt x="2991" y="13602"/>
                </a:moveTo>
                <a:cubicBezTo>
                  <a:pt x="2991" y="13602"/>
                  <a:pt x="2991" y="13602"/>
                  <a:pt x="2991" y="13602"/>
                </a:cubicBezTo>
                <a:lnTo>
                  <a:pt x="4542" y="15337"/>
                </a:lnTo>
                <a:lnTo>
                  <a:pt x="4332" y="15751"/>
                </a:lnTo>
                <a:lnTo>
                  <a:pt x="3381" y="15603"/>
                </a:lnTo>
                <a:lnTo>
                  <a:pt x="2985" y="13604"/>
                </a:lnTo>
                <a:cubicBezTo>
                  <a:pt x="2987" y="13603"/>
                  <a:pt x="2989" y="13603"/>
                  <a:pt x="2991" y="13602"/>
                </a:cubicBezTo>
                <a:close/>
                <a:moveTo>
                  <a:pt x="5271" y="13237"/>
                </a:moveTo>
                <a:cubicBezTo>
                  <a:pt x="5278" y="13248"/>
                  <a:pt x="5288" y="13256"/>
                  <a:pt x="5299" y="13259"/>
                </a:cubicBezTo>
                <a:lnTo>
                  <a:pt x="5275" y="13493"/>
                </a:lnTo>
                <a:lnTo>
                  <a:pt x="3124" y="13543"/>
                </a:lnTo>
                <a:lnTo>
                  <a:pt x="5267" y="13226"/>
                </a:lnTo>
                <a:cubicBezTo>
                  <a:pt x="5268" y="13229"/>
                  <a:pt x="5269" y="13233"/>
                  <a:pt x="5271" y="13237"/>
                </a:cubicBezTo>
                <a:close/>
                <a:moveTo>
                  <a:pt x="5343" y="13172"/>
                </a:moveTo>
                <a:cubicBezTo>
                  <a:pt x="5343" y="13172"/>
                  <a:pt x="5343" y="13172"/>
                  <a:pt x="5343" y="13172"/>
                </a:cubicBezTo>
                <a:lnTo>
                  <a:pt x="6622" y="10800"/>
                </a:lnTo>
                <a:lnTo>
                  <a:pt x="5761" y="12804"/>
                </a:lnTo>
                <a:cubicBezTo>
                  <a:pt x="5761" y="12804"/>
                  <a:pt x="5343" y="13172"/>
                  <a:pt x="5343" y="13172"/>
                </a:cubicBezTo>
                <a:close/>
                <a:moveTo>
                  <a:pt x="5571" y="13247"/>
                </a:moveTo>
                <a:lnTo>
                  <a:pt x="5360" y="13212"/>
                </a:lnTo>
                <a:cubicBezTo>
                  <a:pt x="5360" y="13203"/>
                  <a:pt x="5359" y="13193"/>
                  <a:pt x="5354" y="13185"/>
                </a:cubicBezTo>
                <a:lnTo>
                  <a:pt x="5746" y="12840"/>
                </a:lnTo>
                <a:cubicBezTo>
                  <a:pt x="5746" y="12840"/>
                  <a:pt x="5571" y="13247"/>
                  <a:pt x="5571" y="13247"/>
                </a:cubicBezTo>
                <a:close/>
                <a:moveTo>
                  <a:pt x="5723" y="13272"/>
                </a:moveTo>
                <a:lnTo>
                  <a:pt x="5590" y="13250"/>
                </a:lnTo>
                <a:lnTo>
                  <a:pt x="5779" y="12811"/>
                </a:lnTo>
                <a:lnTo>
                  <a:pt x="7171" y="11586"/>
                </a:lnTo>
                <a:cubicBezTo>
                  <a:pt x="7171" y="11586"/>
                  <a:pt x="5723" y="13272"/>
                  <a:pt x="5723" y="13272"/>
                </a:cubicBezTo>
                <a:close/>
                <a:moveTo>
                  <a:pt x="7863" y="11864"/>
                </a:moveTo>
                <a:lnTo>
                  <a:pt x="7303" y="11514"/>
                </a:lnTo>
                <a:cubicBezTo>
                  <a:pt x="7304" y="11513"/>
                  <a:pt x="7304" y="11512"/>
                  <a:pt x="7305" y="11511"/>
                </a:cubicBezTo>
                <a:lnTo>
                  <a:pt x="8095" y="11594"/>
                </a:lnTo>
                <a:cubicBezTo>
                  <a:pt x="8095" y="11594"/>
                  <a:pt x="7863" y="11864"/>
                  <a:pt x="7863" y="11864"/>
                </a:cubicBezTo>
                <a:close/>
                <a:moveTo>
                  <a:pt x="8204" y="11606"/>
                </a:moveTo>
                <a:lnTo>
                  <a:pt x="7967" y="11929"/>
                </a:lnTo>
                <a:lnTo>
                  <a:pt x="7882" y="11876"/>
                </a:lnTo>
                <a:lnTo>
                  <a:pt x="8122" y="11597"/>
                </a:lnTo>
                <a:cubicBezTo>
                  <a:pt x="8122" y="11597"/>
                  <a:pt x="8204" y="11606"/>
                  <a:pt x="8204" y="11606"/>
                </a:cubicBezTo>
                <a:close/>
                <a:moveTo>
                  <a:pt x="8214" y="11591"/>
                </a:moveTo>
                <a:lnTo>
                  <a:pt x="8135" y="11582"/>
                </a:lnTo>
                <a:lnTo>
                  <a:pt x="8389" y="11287"/>
                </a:lnTo>
                <a:lnTo>
                  <a:pt x="8426" y="11301"/>
                </a:lnTo>
                <a:cubicBezTo>
                  <a:pt x="8426" y="11301"/>
                  <a:pt x="8214" y="11591"/>
                  <a:pt x="8214" y="11591"/>
                </a:cubicBezTo>
                <a:close/>
                <a:moveTo>
                  <a:pt x="9346" y="11666"/>
                </a:moveTo>
                <a:lnTo>
                  <a:pt x="9368" y="11712"/>
                </a:lnTo>
                <a:lnTo>
                  <a:pt x="8238" y="11593"/>
                </a:lnTo>
                <a:lnTo>
                  <a:pt x="8445" y="11309"/>
                </a:lnTo>
                <a:cubicBezTo>
                  <a:pt x="8445" y="11309"/>
                  <a:pt x="9346" y="11666"/>
                  <a:pt x="9346" y="11666"/>
                </a:cubicBezTo>
                <a:close/>
                <a:moveTo>
                  <a:pt x="8889" y="10751"/>
                </a:moveTo>
                <a:lnTo>
                  <a:pt x="9333" y="11641"/>
                </a:lnTo>
                <a:lnTo>
                  <a:pt x="8457" y="11293"/>
                </a:lnTo>
                <a:lnTo>
                  <a:pt x="8854" y="10749"/>
                </a:lnTo>
                <a:cubicBezTo>
                  <a:pt x="8865" y="10754"/>
                  <a:pt x="8877" y="10755"/>
                  <a:pt x="8889" y="10751"/>
                </a:cubicBezTo>
                <a:close/>
                <a:moveTo>
                  <a:pt x="9503" y="10573"/>
                </a:moveTo>
                <a:lnTo>
                  <a:pt x="8919" y="10686"/>
                </a:lnTo>
                <a:cubicBezTo>
                  <a:pt x="8918" y="10683"/>
                  <a:pt x="8918" y="10680"/>
                  <a:pt x="8916" y="10677"/>
                </a:cubicBezTo>
                <a:cubicBezTo>
                  <a:pt x="8916" y="10677"/>
                  <a:pt x="8916" y="10677"/>
                  <a:pt x="8916" y="10677"/>
                </a:cubicBezTo>
                <a:lnTo>
                  <a:pt x="9484" y="10082"/>
                </a:lnTo>
                <a:cubicBezTo>
                  <a:pt x="9484" y="10082"/>
                  <a:pt x="9503" y="10573"/>
                  <a:pt x="9503" y="10573"/>
                </a:cubicBezTo>
                <a:close/>
                <a:moveTo>
                  <a:pt x="10203" y="9328"/>
                </a:moveTo>
                <a:lnTo>
                  <a:pt x="11438" y="10176"/>
                </a:lnTo>
                <a:cubicBezTo>
                  <a:pt x="11435" y="10183"/>
                  <a:pt x="11434" y="10190"/>
                  <a:pt x="11434" y="10197"/>
                </a:cubicBezTo>
                <a:lnTo>
                  <a:pt x="9520" y="10569"/>
                </a:lnTo>
                <a:lnTo>
                  <a:pt x="9501" y="10064"/>
                </a:lnTo>
                <a:cubicBezTo>
                  <a:pt x="9501" y="10064"/>
                  <a:pt x="10203" y="9328"/>
                  <a:pt x="10203" y="9328"/>
                </a:cubicBezTo>
                <a:close/>
                <a:moveTo>
                  <a:pt x="9469" y="8840"/>
                </a:moveTo>
                <a:cubicBezTo>
                  <a:pt x="9473" y="8837"/>
                  <a:pt x="9476" y="8834"/>
                  <a:pt x="9479" y="8830"/>
                </a:cubicBezTo>
                <a:lnTo>
                  <a:pt x="10184" y="9315"/>
                </a:lnTo>
                <a:lnTo>
                  <a:pt x="9499" y="10033"/>
                </a:lnTo>
                <a:lnTo>
                  <a:pt x="9454" y="8845"/>
                </a:lnTo>
                <a:cubicBezTo>
                  <a:pt x="9459" y="8844"/>
                  <a:pt x="9464" y="8843"/>
                  <a:pt x="9469" y="8840"/>
                </a:cubicBezTo>
                <a:close/>
                <a:moveTo>
                  <a:pt x="10447" y="8346"/>
                </a:moveTo>
                <a:lnTo>
                  <a:pt x="9485" y="8770"/>
                </a:lnTo>
                <a:cubicBezTo>
                  <a:pt x="9484" y="8768"/>
                  <a:pt x="9482" y="8767"/>
                  <a:pt x="9481" y="8766"/>
                </a:cubicBezTo>
                <a:lnTo>
                  <a:pt x="10187" y="7875"/>
                </a:lnTo>
                <a:cubicBezTo>
                  <a:pt x="10187" y="7875"/>
                  <a:pt x="10447" y="8346"/>
                  <a:pt x="10447" y="8346"/>
                </a:cubicBezTo>
                <a:close/>
                <a:moveTo>
                  <a:pt x="12205" y="6957"/>
                </a:moveTo>
                <a:cubicBezTo>
                  <a:pt x="12208" y="6961"/>
                  <a:pt x="12211" y="6964"/>
                  <a:pt x="12214" y="6967"/>
                </a:cubicBezTo>
                <a:lnTo>
                  <a:pt x="11791" y="7568"/>
                </a:lnTo>
                <a:lnTo>
                  <a:pt x="12199" y="6932"/>
                </a:lnTo>
                <a:cubicBezTo>
                  <a:pt x="12199" y="6941"/>
                  <a:pt x="12200" y="6949"/>
                  <a:pt x="12205" y="6957"/>
                </a:cubicBezTo>
                <a:close/>
                <a:moveTo>
                  <a:pt x="16511" y="6834"/>
                </a:moveTo>
                <a:lnTo>
                  <a:pt x="15404" y="7606"/>
                </a:lnTo>
                <a:lnTo>
                  <a:pt x="16362" y="6337"/>
                </a:lnTo>
                <a:cubicBezTo>
                  <a:pt x="16362" y="6337"/>
                  <a:pt x="16511" y="6834"/>
                  <a:pt x="16511" y="6834"/>
                </a:cubicBezTo>
                <a:close/>
                <a:moveTo>
                  <a:pt x="16736" y="5842"/>
                </a:moveTo>
                <a:lnTo>
                  <a:pt x="17151" y="6387"/>
                </a:lnTo>
                <a:lnTo>
                  <a:pt x="16527" y="6822"/>
                </a:lnTo>
                <a:lnTo>
                  <a:pt x="16376" y="6319"/>
                </a:lnTo>
                <a:cubicBezTo>
                  <a:pt x="16376" y="6319"/>
                  <a:pt x="16736" y="5842"/>
                  <a:pt x="16736" y="5842"/>
                </a:cubicBezTo>
                <a:close/>
                <a:moveTo>
                  <a:pt x="16722" y="5825"/>
                </a:moveTo>
                <a:lnTo>
                  <a:pt x="16368" y="6293"/>
                </a:lnTo>
                <a:lnTo>
                  <a:pt x="15907" y="4756"/>
                </a:lnTo>
                <a:cubicBezTo>
                  <a:pt x="15907" y="4756"/>
                  <a:pt x="16722" y="5825"/>
                  <a:pt x="16722" y="5825"/>
                </a:cubicBezTo>
                <a:close/>
                <a:moveTo>
                  <a:pt x="16736" y="5807"/>
                </a:moveTo>
                <a:lnTo>
                  <a:pt x="15928" y="4748"/>
                </a:lnTo>
                <a:lnTo>
                  <a:pt x="16973" y="5493"/>
                </a:lnTo>
                <a:cubicBezTo>
                  <a:pt x="16973" y="5493"/>
                  <a:pt x="16736" y="5807"/>
                  <a:pt x="16736" y="5807"/>
                </a:cubicBezTo>
                <a:close/>
                <a:moveTo>
                  <a:pt x="17318" y="5738"/>
                </a:moveTo>
                <a:lnTo>
                  <a:pt x="17160" y="6362"/>
                </a:lnTo>
                <a:lnTo>
                  <a:pt x="16750" y="5824"/>
                </a:lnTo>
                <a:lnTo>
                  <a:pt x="16991" y="5505"/>
                </a:lnTo>
                <a:cubicBezTo>
                  <a:pt x="16991" y="5505"/>
                  <a:pt x="17318" y="5738"/>
                  <a:pt x="17318" y="5738"/>
                </a:cubicBezTo>
                <a:close/>
                <a:moveTo>
                  <a:pt x="17322" y="5722"/>
                </a:moveTo>
                <a:lnTo>
                  <a:pt x="17000" y="5493"/>
                </a:lnTo>
                <a:lnTo>
                  <a:pt x="17152" y="5292"/>
                </a:lnTo>
                <a:lnTo>
                  <a:pt x="17402" y="5405"/>
                </a:lnTo>
                <a:cubicBezTo>
                  <a:pt x="17402" y="5405"/>
                  <a:pt x="17322" y="5722"/>
                  <a:pt x="17322" y="5722"/>
                </a:cubicBezTo>
                <a:close/>
                <a:moveTo>
                  <a:pt x="17661" y="5522"/>
                </a:moveTo>
                <a:lnTo>
                  <a:pt x="17700" y="5959"/>
                </a:lnTo>
                <a:cubicBezTo>
                  <a:pt x="17695" y="5960"/>
                  <a:pt x="17689" y="5962"/>
                  <a:pt x="17684" y="5965"/>
                </a:cubicBezTo>
                <a:cubicBezTo>
                  <a:pt x="17681" y="5968"/>
                  <a:pt x="17678" y="5971"/>
                  <a:pt x="17675" y="5974"/>
                </a:cubicBezTo>
                <a:lnTo>
                  <a:pt x="17338" y="5734"/>
                </a:lnTo>
                <a:lnTo>
                  <a:pt x="17420" y="5413"/>
                </a:lnTo>
                <a:cubicBezTo>
                  <a:pt x="17420" y="5413"/>
                  <a:pt x="17661" y="5522"/>
                  <a:pt x="17661" y="5522"/>
                </a:cubicBezTo>
                <a:close/>
                <a:moveTo>
                  <a:pt x="17591" y="4740"/>
                </a:moveTo>
                <a:lnTo>
                  <a:pt x="17659" y="5495"/>
                </a:lnTo>
                <a:lnTo>
                  <a:pt x="17425" y="5390"/>
                </a:lnTo>
                <a:lnTo>
                  <a:pt x="17589" y="4740"/>
                </a:lnTo>
                <a:cubicBezTo>
                  <a:pt x="17590" y="4740"/>
                  <a:pt x="17591" y="4740"/>
                  <a:pt x="17591" y="4740"/>
                </a:cubicBezTo>
                <a:close/>
                <a:moveTo>
                  <a:pt x="17833" y="5574"/>
                </a:moveTo>
                <a:lnTo>
                  <a:pt x="17771" y="5546"/>
                </a:lnTo>
                <a:lnTo>
                  <a:pt x="17611" y="4737"/>
                </a:lnTo>
                <a:cubicBezTo>
                  <a:pt x="17613" y="4736"/>
                  <a:pt x="17616" y="4735"/>
                  <a:pt x="17618" y="4734"/>
                </a:cubicBezTo>
                <a:cubicBezTo>
                  <a:pt x="17620" y="4732"/>
                  <a:pt x="17622" y="4730"/>
                  <a:pt x="17624" y="4728"/>
                </a:cubicBezTo>
                <a:lnTo>
                  <a:pt x="17993" y="5051"/>
                </a:lnTo>
                <a:cubicBezTo>
                  <a:pt x="17993" y="5051"/>
                  <a:pt x="17833" y="5574"/>
                  <a:pt x="17833" y="5574"/>
                </a:cubicBezTo>
                <a:close/>
                <a:moveTo>
                  <a:pt x="18520" y="5512"/>
                </a:moveTo>
                <a:lnTo>
                  <a:pt x="18165" y="5724"/>
                </a:lnTo>
                <a:lnTo>
                  <a:pt x="17850" y="5582"/>
                </a:lnTo>
                <a:lnTo>
                  <a:pt x="18008" y="5064"/>
                </a:lnTo>
                <a:cubicBezTo>
                  <a:pt x="18008" y="5064"/>
                  <a:pt x="18520" y="5512"/>
                  <a:pt x="18520" y="5512"/>
                </a:cubicBezTo>
                <a:close/>
                <a:moveTo>
                  <a:pt x="19134" y="5144"/>
                </a:moveTo>
                <a:lnTo>
                  <a:pt x="18535" y="5503"/>
                </a:lnTo>
                <a:lnTo>
                  <a:pt x="18013" y="5047"/>
                </a:lnTo>
                <a:lnTo>
                  <a:pt x="18147" y="4607"/>
                </a:lnTo>
                <a:lnTo>
                  <a:pt x="18954" y="4470"/>
                </a:lnTo>
                <a:cubicBezTo>
                  <a:pt x="18954" y="4470"/>
                  <a:pt x="19134" y="5144"/>
                  <a:pt x="19134" y="5144"/>
                </a:cubicBezTo>
                <a:close/>
                <a:moveTo>
                  <a:pt x="20778" y="4162"/>
                </a:moveTo>
                <a:lnTo>
                  <a:pt x="19151" y="5134"/>
                </a:lnTo>
                <a:lnTo>
                  <a:pt x="18973" y="4467"/>
                </a:lnTo>
                <a:cubicBezTo>
                  <a:pt x="18973" y="4467"/>
                  <a:pt x="20778" y="4162"/>
                  <a:pt x="20778" y="4162"/>
                </a:cubicBezTo>
                <a:close/>
                <a:moveTo>
                  <a:pt x="19456" y="6271"/>
                </a:moveTo>
                <a:lnTo>
                  <a:pt x="19157" y="5156"/>
                </a:lnTo>
                <a:lnTo>
                  <a:pt x="20796" y="4176"/>
                </a:lnTo>
                <a:cubicBezTo>
                  <a:pt x="20797" y="4177"/>
                  <a:pt x="20798" y="4178"/>
                  <a:pt x="20799" y="4179"/>
                </a:cubicBezTo>
                <a:lnTo>
                  <a:pt x="19478" y="6276"/>
                </a:lnTo>
                <a:cubicBezTo>
                  <a:pt x="19471" y="6272"/>
                  <a:pt x="19464" y="6271"/>
                  <a:pt x="19456" y="6271"/>
                </a:cubicBezTo>
                <a:close/>
                <a:moveTo>
                  <a:pt x="19404" y="6284"/>
                </a:moveTo>
                <a:lnTo>
                  <a:pt x="18189" y="5735"/>
                </a:lnTo>
                <a:lnTo>
                  <a:pt x="18537" y="5527"/>
                </a:lnTo>
                <a:cubicBezTo>
                  <a:pt x="18537" y="5527"/>
                  <a:pt x="19404" y="6284"/>
                  <a:pt x="19404" y="6284"/>
                </a:cubicBezTo>
                <a:close/>
                <a:moveTo>
                  <a:pt x="19434" y="6278"/>
                </a:moveTo>
                <a:cubicBezTo>
                  <a:pt x="19432" y="6280"/>
                  <a:pt x="19430" y="6282"/>
                  <a:pt x="19428" y="6284"/>
                </a:cubicBezTo>
                <a:lnTo>
                  <a:pt x="18552" y="5518"/>
                </a:lnTo>
                <a:lnTo>
                  <a:pt x="19140" y="5166"/>
                </a:lnTo>
                <a:lnTo>
                  <a:pt x="19437" y="6277"/>
                </a:lnTo>
                <a:cubicBezTo>
                  <a:pt x="19436" y="6277"/>
                  <a:pt x="19435" y="6277"/>
                  <a:pt x="19434" y="6278"/>
                </a:cubicBezTo>
                <a:close/>
                <a:moveTo>
                  <a:pt x="17849" y="5938"/>
                </a:moveTo>
                <a:lnTo>
                  <a:pt x="18165" y="5749"/>
                </a:lnTo>
                <a:lnTo>
                  <a:pt x="19387" y="6302"/>
                </a:lnTo>
                <a:lnTo>
                  <a:pt x="17867" y="6029"/>
                </a:lnTo>
                <a:cubicBezTo>
                  <a:pt x="17867" y="6029"/>
                  <a:pt x="17849" y="5938"/>
                  <a:pt x="17849" y="5938"/>
                </a:cubicBezTo>
                <a:close/>
                <a:moveTo>
                  <a:pt x="17758" y="6010"/>
                </a:moveTo>
                <a:cubicBezTo>
                  <a:pt x="17758" y="6004"/>
                  <a:pt x="17757" y="5999"/>
                  <a:pt x="17756" y="5994"/>
                </a:cubicBezTo>
                <a:lnTo>
                  <a:pt x="17832" y="5948"/>
                </a:lnTo>
                <a:lnTo>
                  <a:pt x="17847" y="6026"/>
                </a:lnTo>
                <a:cubicBezTo>
                  <a:pt x="17847" y="6026"/>
                  <a:pt x="17758" y="6010"/>
                  <a:pt x="17758" y="6010"/>
                </a:cubicBezTo>
                <a:close/>
                <a:moveTo>
                  <a:pt x="17729" y="6054"/>
                </a:moveTo>
                <a:cubicBezTo>
                  <a:pt x="17731" y="6053"/>
                  <a:pt x="17734" y="6053"/>
                  <a:pt x="17735" y="6052"/>
                </a:cubicBezTo>
                <a:cubicBezTo>
                  <a:pt x="17746" y="6045"/>
                  <a:pt x="17752" y="6035"/>
                  <a:pt x="17756" y="6023"/>
                </a:cubicBezTo>
                <a:lnTo>
                  <a:pt x="17850" y="6040"/>
                </a:lnTo>
                <a:lnTo>
                  <a:pt x="18057" y="7088"/>
                </a:lnTo>
                <a:lnTo>
                  <a:pt x="18025" y="7107"/>
                </a:lnTo>
                <a:cubicBezTo>
                  <a:pt x="18025" y="7107"/>
                  <a:pt x="17729" y="6054"/>
                  <a:pt x="17729" y="6054"/>
                </a:cubicBezTo>
                <a:close/>
                <a:moveTo>
                  <a:pt x="17816" y="7222"/>
                </a:moveTo>
                <a:lnTo>
                  <a:pt x="17388" y="6661"/>
                </a:lnTo>
                <a:lnTo>
                  <a:pt x="17694" y="6055"/>
                </a:lnTo>
                <a:cubicBezTo>
                  <a:pt x="17701" y="6058"/>
                  <a:pt x="17709" y="6060"/>
                  <a:pt x="17717" y="6059"/>
                </a:cubicBezTo>
                <a:lnTo>
                  <a:pt x="18013" y="7113"/>
                </a:lnTo>
                <a:cubicBezTo>
                  <a:pt x="18013" y="7113"/>
                  <a:pt x="17816" y="7222"/>
                  <a:pt x="17816" y="7222"/>
                </a:cubicBezTo>
                <a:close/>
                <a:moveTo>
                  <a:pt x="18174" y="7691"/>
                </a:moveTo>
                <a:lnTo>
                  <a:pt x="17828" y="7237"/>
                </a:lnTo>
                <a:lnTo>
                  <a:pt x="18018" y="7132"/>
                </a:lnTo>
                <a:lnTo>
                  <a:pt x="18175" y="7691"/>
                </a:lnTo>
                <a:cubicBezTo>
                  <a:pt x="18175" y="7691"/>
                  <a:pt x="18174" y="7691"/>
                  <a:pt x="18174" y="7691"/>
                </a:cubicBezTo>
                <a:close/>
                <a:moveTo>
                  <a:pt x="16854" y="7778"/>
                </a:moveTo>
                <a:lnTo>
                  <a:pt x="16980" y="7708"/>
                </a:lnTo>
                <a:lnTo>
                  <a:pt x="17981" y="7739"/>
                </a:lnTo>
                <a:lnTo>
                  <a:pt x="16856" y="7785"/>
                </a:lnTo>
                <a:cubicBezTo>
                  <a:pt x="16856" y="7782"/>
                  <a:pt x="16854" y="7780"/>
                  <a:pt x="16854" y="7778"/>
                </a:cubicBezTo>
                <a:close/>
                <a:moveTo>
                  <a:pt x="13120" y="12777"/>
                </a:moveTo>
                <a:lnTo>
                  <a:pt x="13637" y="12678"/>
                </a:lnTo>
                <a:lnTo>
                  <a:pt x="13143" y="13019"/>
                </a:lnTo>
                <a:cubicBezTo>
                  <a:pt x="13143" y="13019"/>
                  <a:pt x="13120" y="12777"/>
                  <a:pt x="13120" y="12777"/>
                </a:cubicBezTo>
                <a:close/>
                <a:moveTo>
                  <a:pt x="11612" y="13063"/>
                </a:moveTo>
                <a:lnTo>
                  <a:pt x="12112" y="12968"/>
                </a:lnTo>
                <a:lnTo>
                  <a:pt x="12450" y="13498"/>
                </a:lnTo>
                <a:lnTo>
                  <a:pt x="11676" y="14033"/>
                </a:lnTo>
                <a:lnTo>
                  <a:pt x="11165" y="13786"/>
                </a:lnTo>
                <a:cubicBezTo>
                  <a:pt x="11165" y="13786"/>
                  <a:pt x="11612" y="13063"/>
                  <a:pt x="11612" y="13063"/>
                </a:cubicBezTo>
                <a:close/>
                <a:moveTo>
                  <a:pt x="10230" y="13335"/>
                </a:moveTo>
                <a:cubicBezTo>
                  <a:pt x="10231" y="13332"/>
                  <a:pt x="10230" y="13329"/>
                  <a:pt x="10230" y="13326"/>
                </a:cubicBezTo>
                <a:lnTo>
                  <a:pt x="11590" y="13067"/>
                </a:lnTo>
                <a:lnTo>
                  <a:pt x="11150" y="13779"/>
                </a:lnTo>
                <a:cubicBezTo>
                  <a:pt x="11150" y="13779"/>
                  <a:pt x="10230" y="13335"/>
                  <a:pt x="10230" y="13335"/>
                </a:cubicBezTo>
                <a:close/>
                <a:moveTo>
                  <a:pt x="10505" y="14821"/>
                </a:moveTo>
                <a:cubicBezTo>
                  <a:pt x="10498" y="14818"/>
                  <a:pt x="10490" y="14817"/>
                  <a:pt x="10483" y="14817"/>
                </a:cubicBezTo>
                <a:lnTo>
                  <a:pt x="10198" y="13371"/>
                </a:lnTo>
                <a:cubicBezTo>
                  <a:pt x="10202" y="13370"/>
                  <a:pt x="10205" y="13369"/>
                  <a:pt x="10208" y="13367"/>
                </a:cubicBezTo>
                <a:cubicBezTo>
                  <a:pt x="10214" y="13364"/>
                  <a:pt x="10218" y="13359"/>
                  <a:pt x="10222" y="13354"/>
                </a:cubicBezTo>
                <a:lnTo>
                  <a:pt x="11139" y="13797"/>
                </a:lnTo>
                <a:cubicBezTo>
                  <a:pt x="11139" y="13797"/>
                  <a:pt x="10505" y="14821"/>
                  <a:pt x="10505" y="14821"/>
                </a:cubicBezTo>
                <a:close/>
                <a:moveTo>
                  <a:pt x="10164" y="13370"/>
                </a:moveTo>
                <a:cubicBezTo>
                  <a:pt x="10171" y="13373"/>
                  <a:pt x="10179" y="13375"/>
                  <a:pt x="10187" y="13374"/>
                </a:cubicBezTo>
                <a:lnTo>
                  <a:pt x="10449" y="14709"/>
                </a:lnTo>
                <a:lnTo>
                  <a:pt x="10086" y="13489"/>
                </a:lnTo>
                <a:cubicBezTo>
                  <a:pt x="10086" y="13489"/>
                  <a:pt x="10164" y="13370"/>
                  <a:pt x="10164" y="13370"/>
                </a:cubicBezTo>
                <a:close/>
                <a:moveTo>
                  <a:pt x="10066" y="13422"/>
                </a:moveTo>
                <a:lnTo>
                  <a:pt x="10144" y="13365"/>
                </a:lnTo>
                <a:lnTo>
                  <a:pt x="10079" y="13464"/>
                </a:lnTo>
                <a:cubicBezTo>
                  <a:pt x="10079" y="13464"/>
                  <a:pt x="10066" y="13422"/>
                  <a:pt x="10066" y="13422"/>
                </a:cubicBezTo>
                <a:close/>
                <a:moveTo>
                  <a:pt x="10050" y="13433"/>
                </a:moveTo>
                <a:lnTo>
                  <a:pt x="10065" y="13485"/>
                </a:lnTo>
                <a:lnTo>
                  <a:pt x="9433" y="14449"/>
                </a:lnTo>
                <a:lnTo>
                  <a:pt x="8927" y="14254"/>
                </a:lnTo>
                <a:cubicBezTo>
                  <a:pt x="8927" y="14254"/>
                  <a:pt x="10050" y="13433"/>
                  <a:pt x="10050" y="13433"/>
                </a:cubicBezTo>
                <a:close/>
                <a:moveTo>
                  <a:pt x="7391" y="13661"/>
                </a:moveTo>
                <a:lnTo>
                  <a:pt x="7379" y="13455"/>
                </a:lnTo>
                <a:lnTo>
                  <a:pt x="10023" y="13341"/>
                </a:lnTo>
                <a:lnTo>
                  <a:pt x="10044" y="13413"/>
                </a:lnTo>
                <a:lnTo>
                  <a:pt x="8904" y="14245"/>
                </a:lnTo>
                <a:cubicBezTo>
                  <a:pt x="8904" y="14245"/>
                  <a:pt x="7391" y="13661"/>
                  <a:pt x="7391" y="13661"/>
                </a:cubicBezTo>
                <a:close/>
                <a:moveTo>
                  <a:pt x="7506" y="15266"/>
                </a:moveTo>
                <a:cubicBezTo>
                  <a:pt x="7498" y="15259"/>
                  <a:pt x="7490" y="15255"/>
                  <a:pt x="7481" y="15253"/>
                </a:cubicBezTo>
                <a:lnTo>
                  <a:pt x="7392" y="13686"/>
                </a:lnTo>
                <a:lnTo>
                  <a:pt x="8882" y="14261"/>
                </a:lnTo>
                <a:cubicBezTo>
                  <a:pt x="8882" y="14261"/>
                  <a:pt x="7506" y="15266"/>
                  <a:pt x="7506" y="15266"/>
                </a:cubicBezTo>
                <a:close/>
                <a:moveTo>
                  <a:pt x="6562" y="14657"/>
                </a:moveTo>
                <a:lnTo>
                  <a:pt x="7345" y="15324"/>
                </a:lnTo>
                <a:lnTo>
                  <a:pt x="6332" y="15560"/>
                </a:lnTo>
                <a:cubicBezTo>
                  <a:pt x="6332" y="15560"/>
                  <a:pt x="6562" y="14657"/>
                  <a:pt x="6562" y="14657"/>
                </a:cubicBezTo>
                <a:close/>
                <a:moveTo>
                  <a:pt x="6127" y="15608"/>
                </a:moveTo>
                <a:lnTo>
                  <a:pt x="6217" y="14363"/>
                </a:lnTo>
                <a:lnTo>
                  <a:pt x="6546" y="14643"/>
                </a:lnTo>
                <a:lnTo>
                  <a:pt x="6311" y="15565"/>
                </a:lnTo>
                <a:cubicBezTo>
                  <a:pt x="6311" y="15565"/>
                  <a:pt x="6127" y="15608"/>
                  <a:pt x="6127" y="15608"/>
                </a:cubicBezTo>
                <a:close/>
                <a:moveTo>
                  <a:pt x="6126" y="15625"/>
                </a:moveTo>
                <a:lnTo>
                  <a:pt x="6306" y="15583"/>
                </a:lnTo>
                <a:lnTo>
                  <a:pt x="6210" y="15960"/>
                </a:lnTo>
                <a:lnTo>
                  <a:pt x="6102" y="15951"/>
                </a:lnTo>
                <a:cubicBezTo>
                  <a:pt x="6102" y="15951"/>
                  <a:pt x="6126" y="15625"/>
                  <a:pt x="6126" y="15625"/>
                </a:cubicBezTo>
                <a:close/>
                <a:moveTo>
                  <a:pt x="5898" y="15934"/>
                </a:moveTo>
                <a:lnTo>
                  <a:pt x="5846" y="15691"/>
                </a:lnTo>
                <a:lnTo>
                  <a:pt x="6108" y="15630"/>
                </a:lnTo>
                <a:lnTo>
                  <a:pt x="6085" y="15950"/>
                </a:lnTo>
                <a:cubicBezTo>
                  <a:pt x="6085" y="15950"/>
                  <a:pt x="5898" y="15934"/>
                  <a:pt x="5898" y="15934"/>
                </a:cubicBezTo>
                <a:close/>
                <a:moveTo>
                  <a:pt x="5902" y="15955"/>
                </a:moveTo>
                <a:lnTo>
                  <a:pt x="6083" y="15970"/>
                </a:lnTo>
                <a:lnTo>
                  <a:pt x="6038" y="16593"/>
                </a:lnTo>
                <a:cubicBezTo>
                  <a:pt x="6038" y="16593"/>
                  <a:pt x="5902" y="15955"/>
                  <a:pt x="5902" y="15955"/>
                </a:cubicBezTo>
                <a:close/>
                <a:moveTo>
                  <a:pt x="5079" y="15886"/>
                </a:moveTo>
                <a:lnTo>
                  <a:pt x="5477" y="15919"/>
                </a:lnTo>
                <a:lnTo>
                  <a:pt x="6008" y="16621"/>
                </a:lnTo>
                <a:cubicBezTo>
                  <a:pt x="6008" y="16621"/>
                  <a:pt x="6008" y="16622"/>
                  <a:pt x="6007" y="16622"/>
                </a:cubicBezTo>
                <a:lnTo>
                  <a:pt x="5074" y="15897"/>
                </a:lnTo>
                <a:cubicBezTo>
                  <a:pt x="5076" y="15893"/>
                  <a:pt x="5078" y="15890"/>
                  <a:pt x="5079" y="15886"/>
                </a:cubicBezTo>
                <a:close/>
                <a:moveTo>
                  <a:pt x="5029" y="15921"/>
                </a:moveTo>
                <a:cubicBezTo>
                  <a:pt x="5036" y="15922"/>
                  <a:pt x="5042" y="15921"/>
                  <a:pt x="5049" y="15919"/>
                </a:cubicBezTo>
                <a:lnTo>
                  <a:pt x="5534" y="16741"/>
                </a:lnTo>
                <a:lnTo>
                  <a:pt x="4790" y="16877"/>
                </a:lnTo>
                <a:cubicBezTo>
                  <a:pt x="4790" y="16877"/>
                  <a:pt x="5029" y="15921"/>
                  <a:pt x="5029" y="15921"/>
                </a:cubicBezTo>
                <a:close/>
                <a:moveTo>
                  <a:pt x="3710" y="17075"/>
                </a:moveTo>
                <a:cubicBezTo>
                  <a:pt x="3709" y="17072"/>
                  <a:pt x="3709" y="17068"/>
                  <a:pt x="3707" y="17065"/>
                </a:cubicBezTo>
                <a:cubicBezTo>
                  <a:pt x="3707" y="17065"/>
                  <a:pt x="3706" y="17065"/>
                  <a:pt x="3706" y="17064"/>
                </a:cubicBezTo>
                <a:lnTo>
                  <a:pt x="5001" y="15909"/>
                </a:lnTo>
                <a:cubicBezTo>
                  <a:pt x="5005" y="15912"/>
                  <a:pt x="5008" y="15915"/>
                  <a:pt x="5012" y="15917"/>
                </a:cubicBezTo>
                <a:lnTo>
                  <a:pt x="4771" y="16881"/>
                </a:lnTo>
                <a:cubicBezTo>
                  <a:pt x="4771" y="16881"/>
                  <a:pt x="3710" y="17075"/>
                  <a:pt x="3710" y="17075"/>
                </a:cubicBezTo>
                <a:close/>
                <a:moveTo>
                  <a:pt x="3713" y="17091"/>
                </a:moveTo>
                <a:lnTo>
                  <a:pt x="4767" y="16898"/>
                </a:lnTo>
                <a:lnTo>
                  <a:pt x="4652" y="17358"/>
                </a:lnTo>
                <a:lnTo>
                  <a:pt x="3713" y="17094"/>
                </a:lnTo>
                <a:cubicBezTo>
                  <a:pt x="3713" y="17093"/>
                  <a:pt x="3713" y="17092"/>
                  <a:pt x="3713" y="17091"/>
                </a:cubicBezTo>
                <a:close/>
                <a:moveTo>
                  <a:pt x="4306" y="18628"/>
                </a:moveTo>
                <a:cubicBezTo>
                  <a:pt x="4301" y="18631"/>
                  <a:pt x="4297" y="18635"/>
                  <a:pt x="4294" y="18640"/>
                </a:cubicBezTo>
                <a:lnTo>
                  <a:pt x="3813" y="18367"/>
                </a:lnTo>
                <a:lnTo>
                  <a:pt x="3683" y="17148"/>
                </a:lnTo>
                <a:lnTo>
                  <a:pt x="4307" y="18628"/>
                </a:lnTo>
                <a:cubicBezTo>
                  <a:pt x="4306" y="18628"/>
                  <a:pt x="4306" y="18628"/>
                  <a:pt x="4306" y="18628"/>
                </a:cubicBezTo>
                <a:close/>
                <a:moveTo>
                  <a:pt x="3815" y="18389"/>
                </a:moveTo>
                <a:lnTo>
                  <a:pt x="4286" y="18655"/>
                </a:lnTo>
                <a:cubicBezTo>
                  <a:pt x="4285" y="18659"/>
                  <a:pt x="4284" y="18663"/>
                  <a:pt x="4284" y="18667"/>
                </a:cubicBezTo>
                <a:lnTo>
                  <a:pt x="3848" y="18701"/>
                </a:lnTo>
                <a:cubicBezTo>
                  <a:pt x="3848" y="18701"/>
                  <a:pt x="3815" y="18389"/>
                  <a:pt x="3815" y="18389"/>
                </a:cubicBezTo>
                <a:close/>
                <a:moveTo>
                  <a:pt x="1972" y="18848"/>
                </a:moveTo>
                <a:cubicBezTo>
                  <a:pt x="1971" y="18843"/>
                  <a:pt x="1970" y="18838"/>
                  <a:pt x="1967" y="18834"/>
                </a:cubicBezTo>
                <a:cubicBezTo>
                  <a:pt x="1967" y="18833"/>
                  <a:pt x="1966" y="18832"/>
                  <a:pt x="1965" y="18832"/>
                </a:cubicBezTo>
                <a:lnTo>
                  <a:pt x="2907" y="17874"/>
                </a:lnTo>
                <a:lnTo>
                  <a:pt x="3792" y="18375"/>
                </a:lnTo>
                <a:lnTo>
                  <a:pt x="3827" y="18702"/>
                </a:lnTo>
                <a:cubicBezTo>
                  <a:pt x="3827" y="18702"/>
                  <a:pt x="1972" y="18848"/>
                  <a:pt x="1972" y="18848"/>
                </a:cubicBezTo>
                <a:close/>
                <a:moveTo>
                  <a:pt x="1973" y="18865"/>
                </a:moveTo>
                <a:lnTo>
                  <a:pt x="3828" y="18719"/>
                </a:lnTo>
                <a:lnTo>
                  <a:pt x="3847" y="18891"/>
                </a:lnTo>
                <a:lnTo>
                  <a:pt x="3005" y="19296"/>
                </a:lnTo>
                <a:lnTo>
                  <a:pt x="1973" y="18870"/>
                </a:lnTo>
                <a:cubicBezTo>
                  <a:pt x="1973" y="18868"/>
                  <a:pt x="1973" y="18867"/>
                  <a:pt x="1973" y="18865"/>
                </a:cubicBezTo>
                <a:close/>
                <a:moveTo>
                  <a:pt x="1966" y="17360"/>
                </a:moveTo>
                <a:cubicBezTo>
                  <a:pt x="1971" y="17357"/>
                  <a:pt x="1975" y="17353"/>
                  <a:pt x="1978" y="17348"/>
                </a:cubicBezTo>
                <a:lnTo>
                  <a:pt x="2892" y="17866"/>
                </a:lnTo>
                <a:lnTo>
                  <a:pt x="1955" y="18819"/>
                </a:lnTo>
                <a:cubicBezTo>
                  <a:pt x="1948" y="18814"/>
                  <a:pt x="1940" y="18812"/>
                  <a:pt x="1932" y="18811"/>
                </a:cubicBezTo>
                <a:lnTo>
                  <a:pt x="1946" y="17367"/>
                </a:lnTo>
                <a:cubicBezTo>
                  <a:pt x="1953" y="17366"/>
                  <a:pt x="1960" y="17364"/>
                  <a:pt x="1966" y="17360"/>
                </a:cubicBezTo>
                <a:close/>
                <a:moveTo>
                  <a:pt x="3623" y="17068"/>
                </a:moveTo>
                <a:cubicBezTo>
                  <a:pt x="3620" y="17075"/>
                  <a:pt x="3618" y="17083"/>
                  <a:pt x="3618" y="17091"/>
                </a:cubicBezTo>
                <a:lnTo>
                  <a:pt x="1995" y="17303"/>
                </a:lnTo>
                <a:lnTo>
                  <a:pt x="3218" y="16731"/>
                </a:lnTo>
                <a:cubicBezTo>
                  <a:pt x="3218" y="16731"/>
                  <a:pt x="3623" y="17068"/>
                  <a:pt x="3623" y="17068"/>
                </a:cubicBezTo>
                <a:close/>
                <a:moveTo>
                  <a:pt x="3646" y="17046"/>
                </a:moveTo>
                <a:cubicBezTo>
                  <a:pt x="3644" y="17047"/>
                  <a:pt x="3642" y="17047"/>
                  <a:pt x="3640" y="17048"/>
                </a:cubicBezTo>
                <a:cubicBezTo>
                  <a:pt x="3638" y="17050"/>
                  <a:pt x="3636" y="17052"/>
                  <a:pt x="3634" y="17054"/>
                </a:cubicBezTo>
                <a:lnTo>
                  <a:pt x="3236" y="16723"/>
                </a:lnTo>
                <a:lnTo>
                  <a:pt x="3553" y="16575"/>
                </a:lnTo>
                <a:cubicBezTo>
                  <a:pt x="3553" y="16575"/>
                  <a:pt x="3646" y="17046"/>
                  <a:pt x="3646" y="17046"/>
                </a:cubicBezTo>
                <a:close/>
                <a:moveTo>
                  <a:pt x="3678" y="17043"/>
                </a:moveTo>
                <a:cubicBezTo>
                  <a:pt x="3674" y="17042"/>
                  <a:pt x="3670" y="17042"/>
                  <a:pt x="3666" y="17042"/>
                </a:cubicBezTo>
                <a:lnTo>
                  <a:pt x="3572" y="16566"/>
                </a:lnTo>
                <a:lnTo>
                  <a:pt x="4028" y="16353"/>
                </a:lnTo>
                <a:cubicBezTo>
                  <a:pt x="4028" y="16353"/>
                  <a:pt x="3678" y="17043"/>
                  <a:pt x="3678" y="17043"/>
                </a:cubicBezTo>
                <a:close/>
                <a:moveTo>
                  <a:pt x="4820" y="15982"/>
                </a:moveTo>
                <a:lnTo>
                  <a:pt x="3699" y="17049"/>
                </a:lnTo>
                <a:lnTo>
                  <a:pt x="4059" y="16338"/>
                </a:lnTo>
                <a:cubicBezTo>
                  <a:pt x="4059" y="16338"/>
                  <a:pt x="4820" y="15982"/>
                  <a:pt x="4820" y="15982"/>
                </a:cubicBezTo>
                <a:close/>
                <a:moveTo>
                  <a:pt x="4940" y="15868"/>
                </a:moveTo>
                <a:lnTo>
                  <a:pt x="4868" y="15937"/>
                </a:lnTo>
                <a:lnTo>
                  <a:pt x="4074" y="16308"/>
                </a:lnTo>
                <a:lnTo>
                  <a:pt x="4344" y="15775"/>
                </a:lnTo>
                <a:cubicBezTo>
                  <a:pt x="4344" y="15775"/>
                  <a:pt x="4940" y="15868"/>
                  <a:pt x="4940" y="15868"/>
                </a:cubicBezTo>
                <a:close/>
                <a:moveTo>
                  <a:pt x="4982" y="15829"/>
                </a:moveTo>
                <a:lnTo>
                  <a:pt x="4960" y="15849"/>
                </a:lnTo>
                <a:lnTo>
                  <a:pt x="4355" y="15755"/>
                </a:lnTo>
                <a:lnTo>
                  <a:pt x="4558" y="15354"/>
                </a:lnTo>
                <a:cubicBezTo>
                  <a:pt x="4558" y="15354"/>
                  <a:pt x="4982" y="15829"/>
                  <a:pt x="4982" y="15829"/>
                </a:cubicBezTo>
                <a:close/>
                <a:moveTo>
                  <a:pt x="5215" y="14056"/>
                </a:moveTo>
                <a:lnTo>
                  <a:pt x="5034" y="15779"/>
                </a:lnTo>
                <a:lnTo>
                  <a:pt x="4996" y="15816"/>
                </a:lnTo>
                <a:lnTo>
                  <a:pt x="4567" y="15336"/>
                </a:lnTo>
                <a:cubicBezTo>
                  <a:pt x="4567" y="15336"/>
                  <a:pt x="5215" y="14056"/>
                  <a:pt x="5215" y="14056"/>
                </a:cubicBezTo>
                <a:close/>
                <a:moveTo>
                  <a:pt x="3012" y="13572"/>
                </a:moveTo>
                <a:lnTo>
                  <a:pt x="5252" y="13705"/>
                </a:lnTo>
                <a:lnTo>
                  <a:pt x="5222" y="13996"/>
                </a:lnTo>
                <a:lnTo>
                  <a:pt x="4551" y="15319"/>
                </a:lnTo>
                <a:lnTo>
                  <a:pt x="3005" y="13589"/>
                </a:lnTo>
                <a:cubicBezTo>
                  <a:pt x="3008" y="13584"/>
                  <a:pt x="3010" y="13578"/>
                  <a:pt x="3012" y="13572"/>
                </a:cubicBezTo>
                <a:close/>
                <a:moveTo>
                  <a:pt x="5254" y="13684"/>
                </a:moveTo>
                <a:lnTo>
                  <a:pt x="3228" y="13564"/>
                </a:lnTo>
                <a:lnTo>
                  <a:pt x="5272" y="13516"/>
                </a:lnTo>
                <a:cubicBezTo>
                  <a:pt x="5272" y="13516"/>
                  <a:pt x="5254" y="13684"/>
                  <a:pt x="5254" y="13684"/>
                </a:cubicBezTo>
                <a:close/>
                <a:moveTo>
                  <a:pt x="5457" y="13512"/>
                </a:moveTo>
                <a:lnTo>
                  <a:pt x="5416" y="13607"/>
                </a:lnTo>
                <a:cubicBezTo>
                  <a:pt x="5404" y="13604"/>
                  <a:pt x="5391" y="13606"/>
                  <a:pt x="5380" y="13613"/>
                </a:cubicBezTo>
                <a:cubicBezTo>
                  <a:pt x="5357" y="13628"/>
                  <a:pt x="5350" y="13659"/>
                  <a:pt x="5364" y="13683"/>
                </a:cubicBezTo>
                <a:cubicBezTo>
                  <a:pt x="5366" y="13687"/>
                  <a:pt x="5369" y="13689"/>
                  <a:pt x="5371" y="13691"/>
                </a:cubicBezTo>
                <a:lnTo>
                  <a:pt x="5271" y="13685"/>
                </a:lnTo>
                <a:lnTo>
                  <a:pt x="5289" y="13516"/>
                </a:lnTo>
                <a:cubicBezTo>
                  <a:pt x="5289" y="13516"/>
                  <a:pt x="5457" y="13512"/>
                  <a:pt x="5457" y="13512"/>
                </a:cubicBezTo>
                <a:close/>
                <a:moveTo>
                  <a:pt x="5338" y="13254"/>
                </a:moveTo>
                <a:cubicBezTo>
                  <a:pt x="5339" y="13253"/>
                  <a:pt x="5340" y="13252"/>
                  <a:pt x="5341" y="13251"/>
                </a:cubicBezTo>
                <a:lnTo>
                  <a:pt x="5502" y="13407"/>
                </a:lnTo>
                <a:lnTo>
                  <a:pt x="5467" y="13488"/>
                </a:lnTo>
                <a:lnTo>
                  <a:pt x="5291" y="13492"/>
                </a:lnTo>
                <a:lnTo>
                  <a:pt x="5315" y="13261"/>
                </a:lnTo>
                <a:cubicBezTo>
                  <a:pt x="5323" y="13260"/>
                  <a:pt x="5331" y="13258"/>
                  <a:pt x="5338" y="13254"/>
                </a:cubicBezTo>
                <a:close/>
                <a:moveTo>
                  <a:pt x="5510" y="13389"/>
                </a:moveTo>
                <a:lnTo>
                  <a:pt x="5353" y="13237"/>
                </a:lnTo>
                <a:cubicBezTo>
                  <a:pt x="5356" y="13233"/>
                  <a:pt x="5357" y="13229"/>
                  <a:pt x="5359" y="13225"/>
                </a:cubicBezTo>
                <a:lnTo>
                  <a:pt x="5566" y="13259"/>
                </a:lnTo>
                <a:cubicBezTo>
                  <a:pt x="5566" y="13259"/>
                  <a:pt x="5510" y="13389"/>
                  <a:pt x="5510" y="13389"/>
                </a:cubicBezTo>
                <a:close/>
                <a:moveTo>
                  <a:pt x="5572" y="13449"/>
                </a:moveTo>
                <a:lnTo>
                  <a:pt x="5525" y="13403"/>
                </a:lnTo>
                <a:lnTo>
                  <a:pt x="5585" y="13262"/>
                </a:lnTo>
                <a:lnTo>
                  <a:pt x="5714" y="13284"/>
                </a:lnTo>
                <a:cubicBezTo>
                  <a:pt x="5714" y="13284"/>
                  <a:pt x="5572" y="13449"/>
                  <a:pt x="5572" y="13449"/>
                </a:cubicBezTo>
                <a:close/>
                <a:moveTo>
                  <a:pt x="6526" y="13419"/>
                </a:moveTo>
                <a:lnTo>
                  <a:pt x="6487" y="13464"/>
                </a:lnTo>
                <a:lnTo>
                  <a:pt x="5609" y="13485"/>
                </a:lnTo>
                <a:lnTo>
                  <a:pt x="5585" y="13461"/>
                </a:lnTo>
                <a:lnTo>
                  <a:pt x="5734" y="13287"/>
                </a:lnTo>
                <a:cubicBezTo>
                  <a:pt x="5734" y="13287"/>
                  <a:pt x="6526" y="13419"/>
                  <a:pt x="6526" y="13419"/>
                </a:cubicBezTo>
                <a:close/>
                <a:moveTo>
                  <a:pt x="7233" y="11541"/>
                </a:moveTo>
                <a:cubicBezTo>
                  <a:pt x="7238" y="11545"/>
                  <a:pt x="7244" y="11547"/>
                  <a:pt x="7250" y="11548"/>
                </a:cubicBezTo>
                <a:lnTo>
                  <a:pt x="7305" y="12513"/>
                </a:lnTo>
                <a:lnTo>
                  <a:pt x="6536" y="13407"/>
                </a:lnTo>
                <a:lnTo>
                  <a:pt x="5744" y="13276"/>
                </a:lnTo>
                <a:cubicBezTo>
                  <a:pt x="5744" y="13276"/>
                  <a:pt x="7233" y="11541"/>
                  <a:pt x="7233" y="11541"/>
                </a:cubicBezTo>
                <a:close/>
                <a:moveTo>
                  <a:pt x="7341" y="12786"/>
                </a:moveTo>
                <a:lnTo>
                  <a:pt x="7326" y="12523"/>
                </a:lnTo>
                <a:lnTo>
                  <a:pt x="7869" y="11892"/>
                </a:lnTo>
                <a:lnTo>
                  <a:pt x="7955" y="11946"/>
                </a:lnTo>
                <a:cubicBezTo>
                  <a:pt x="7955" y="11946"/>
                  <a:pt x="7341" y="12786"/>
                  <a:pt x="7341" y="12786"/>
                </a:cubicBezTo>
                <a:close/>
                <a:moveTo>
                  <a:pt x="8569" y="12329"/>
                </a:moveTo>
                <a:lnTo>
                  <a:pt x="7357" y="13068"/>
                </a:lnTo>
                <a:lnTo>
                  <a:pt x="7343" y="12817"/>
                </a:lnTo>
                <a:lnTo>
                  <a:pt x="7972" y="11956"/>
                </a:lnTo>
                <a:cubicBezTo>
                  <a:pt x="7972" y="11956"/>
                  <a:pt x="8569" y="12329"/>
                  <a:pt x="8569" y="12329"/>
                </a:cubicBezTo>
                <a:close/>
                <a:moveTo>
                  <a:pt x="9418" y="11811"/>
                </a:moveTo>
                <a:lnTo>
                  <a:pt x="8588" y="12317"/>
                </a:lnTo>
                <a:lnTo>
                  <a:pt x="7984" y="11940"/>
                </a:lnTo>
                <a:lnTo>
                  <a:pt x="8226" y="11608"/>
                </a:lnTo>
                <a:lnTo>
                  <a:pt x="9377" y="11729"/>
                </a:lnTo>
                <a:cubicBezTo>
                  <a:pt x="9377" y="11729"/>
                  <a:pt x="9418" y="11811"/>
                  <a:pt x="9418" y="11811"/>
                </a:cubicBezTo>
                <a:close/>
                <a:moveTo>
                  <a:pt x="9508" y="11743"/>
                </a:moveTo>
                <a:cubicBezTo>
                  <a:pt x="9508" y="11747"/>
                  <a:pt x="9509" y="11750"/>
                  <a:pt x="9510" y="11754"/>
                </a:cubicBezTo>
                <a:lnTo>
                  <a:pt x="9433" y="11801"/>
                </a:lnTo>
                <a:lnTo>
                  <a:pt x="9398" y="11731"/>
                </a:lnTo>
                <a:cubicBezTo>
                  <a:pt x="9398" y="11731"/>
                  <a:pt x="9508" y="11743"/>
                  <a:pt x="9508" y="11743"/>
                </a:cubicBezTo>
                <a:close/>
                <a:moveTo>
                  <a:pt x="9493" y="11725"/>
                </a:moveTo>
                <a:lnTo>
                  <a:pt x="9389" y="11714"/>
                </a:lnTo>
                <a:lnTo>
                  <a:pt x="9370" y="11676"/>
                </a:lnTo>
                <a:cubicBezTo>
                  <a:pt x="9370" y="11676"/>
                  <a:pt x="9493" y="11725"/>
                  <a:pt x="9493" y="11725"/>
                </a:cubicBezTo>
                <a:close/>
                <a:moveTo>
                  <a:pt x="9525" y="11702"/>
                </a:moveTo>
                <a:cubicBezTo>
                  <a:pt x="9521" y="11705"/>
                  <a:pt x="9518" y="11709"/>
                  <a:pt x="9515" y="11713"/>
                </a:cubicBezTo>
                <a:lnTo>
                  <a:pt x="9357" y="11650"/>
                </a:lnTo>
                <a:lnTo>
                  <a:pt x="8936" y="10807"/>
                </a:lnTo>
                <a:cubicBezTo>
                  <a:pt x="8936" y="10807"/>
                  <a:pt x="9525" y="11702"/>
                  <a:pt x="9525" y="11702"/>
                </a:cubicBezTo>
                <a:close/>
                <a:moveTo>
                  <a:pt x="10701" y="8806"/>
                </a:moveTo>
                <a:lnTo>
                  <a:pt x="11450" y="10159"/>
                </a:lnTo>
                <a:cubicBezTo>
                  <a:pt x="11449" y="10160"/>
                  <a:pt x="11448" y="10161"/>
                  <a:pt x="11447" y="10163"/>
                </a:cubicBezTo>
                <a:lnTo>
                  <a:pt x="10215" y="9316"/>
                </a:lnTo>
                <a:cubicBezTo>
                  <a:pt x="10215" y="9316"/>
                  <a:pt x="10701" y="8806"/>
                  <a:pt x="10701" y="8806"/>
                </a:cubicBezTo>
                <a:close/>
                <a:moveTo>
                  <a:pt x="12222" y="6974"/>
                </a:moveTo>
                <a:cubicBezTo>
                  <a:pt x="12224" y="6974"/>
                  <a:pt x="12225" y="6975"/>
                  <a:pt x="12226" y="6976"/>
                </a:cubicBezTo>
                <a:lnTo>
                  <a:pt x="12033" y="7801"/>
                </a:lnTo>
                <a:lnTo>
                  <a:pt x="11697" y="7832"/>
                </a:lnTo>
                <a:lnTo>
                  <a:pt x="11645" y="7834"/>
                </a:lnTo>
                <a:cubicBezTo>
                  <a:pt x="11644" y="7830"/>
                  <a:pt x="11643" y="7826"/>
                  <a:pt x="11641" y="7822"/>
                </a:cubicBezTo>
                <a:cubicBezTo>
                  <a:pt x="11639" y="7818"/>
                  <a:pt x="11636" y="7816"/>
                  <a:pt x="11634" y="7813"/>
                </a:cubicBezTo>
                <a:lnTo>
                  <a:pt x="11663" y="7768"/>
                </a:lnTo>
                <a:cubicBezTo>
                  <a:pt x="11663" y="7768"/>
                  <a:pt x="12222" y="6974"/>
                  <a:pt x="12222" y="6974"/>
                </a:cubicBezTo>
                <a:close/>
                <a:moveTo>
                  <a:pt x="15260" y="7643"/>
                </a:moveTo>
                <a:lnTo>
                  <a:pt x="13735" y="7652"/>
                </a:lnTo>
                <a:cubicBezTo>
                  <a:pt x="13734" y="7645"/>
                  <a:pt x="13732" y="7638"/>
                  <a:pt x="13728" y="7632"/>
                </a:cubicBezTo>
                <a:cubicBezTo>
                  <a:pt x="13714" y="7608"/>
                  <a:pt x="13684" y="7601"/>
                  <a:pt x="13662" y="7615"/>
                </a:cubicBezTo>
                <a:cubicBezTo>
                  <a:pt x="13648" y="7624"/>
                  <a:pt x="13640" y="7640"/>
                  <a:pt x="13639" y="7656"/>
                </a:cubicBezTo>
                <a:lnTo>
                  <a:pt x="12488" y="7760"/>
                </a:lnTo>
                <a:lnTo>
                  <a:pt x="12269" y="6975"/>
                </a:lnTo>
                <a:cubicBezTo>
                  <a:pt x="12270" y="6974"/>
                  <a:pt x="12271" y="6974"/>
                  <a:pt x="12272" y="6974"/>
                </a:cubicBezTo>
                <a:cubicBezTo>
                  <a:pt x="12281" y="6968"/>
                  <a:pt x="12286" y="6960"/>
                  <a:pt x="12290" y="6951"/>
                </a:cubicBezTo>
                <a:lnTo>
                  <a:pt x="15282" y="7642"/>
                </a:lnTo>
                <a:cubicBezTo>
                  <a:pt x="15282" y="7642"/>
                  <a:pt x="15260" y="7643"/>
                  <a:pt x="15260" y="7643"/>
                </a:cubicBezTo>
                <a:close/>
                <a:moveTo>
                  <a:pt x="16727" y="7556"/>
                </a:moveTo>
                <a:lnTo>
                  <a:pt x="16650" y="7679"/>
                </a:lnTo>
                <a:lnTo>
                  <a:pt x="15406" y="7641"/>
                </a:lnTo>
                <a:cubicBezTo>
                  <a:pt x="15405" y="7637"/>
                  <a:pt x="15403" y="7633"/>
                  <a:pt x="15402" y="7629"/>
                </a:cubicBezTo>
                <a:lnTo>
                  <a:pt x="16516" y="6852"/>
                </a:lnTo>
                <a:cubicBezTo>
                  <a:pt x="16516" y="6852"/>
                  <a:pt x="16727" y="7556"/>
                  <a:pt x="16727" y="7556"/>
                </a:cubicBezTo>
                <a:close/>
                <a:moveTo>
                  <a:pt x="16947" y="7206"/>
                </a:moveTo>
                <a:lnTo>
                  <a:pt x="16741" y="7535"/>
                </a:lnTo>
                <a:lnTo>
                  <a:pt x="16532" y="6840"/>
                </a:lnTo>
                <a:lnTo>
                  <a:pt x="17148" y="6411"/>
                </a:lnTo>
                <a:cubicBezTo>
                  <a:pt x="17148" y="6411"/>
                  <a:pt x="16947" y="7206"/>
                  <a:pt x="16947" y="7206"/>
                </a:cubicBezTo>
                <a:close/>
                <a:moveTo>
                  <a:pt x="17666" y="6028"/>
                </a:moveTo>
                <a:lnTo>
                  <a:pt x="17178" y="6368"/>
                </a:lnTo>
                <a:lnTo>
                  <a:pt x="17334" y="5750"/>
                </a:lnTo>
                <a:lnTo>
                  <a:pt x="17667" y="5987"/>
                </a:lnTo>
                <a:cubicBezTo>
                  <a:pt x="17661" y="6000"/>
                  <a:pt x="17661" y="6014"/>
                  <a:pt x="17666" y="6028"/>
                </a:cubicBezTo>
                <a:close/>
                <a:moveTo>
                  <a:pt x="17799" y="5687"/>
                </a:moveTo>
                <a:lnTo>
                  <a:pt x="17777" y="5574"/>
                </a:lnTo>
                <a:lnTo>
                  <a:pt x="17826" y="5596"/>
                </a:lnTo>
                <a:cubicBezTo>
                  <a:pt x="17826" y="5596"/>
                  <a:pt x="17799" y="5687"/>
                  <a:pt x="17799" y="5687"/>
                </a:cubicBezTo>
                <a:close/>
                <a:moveTo>
                  <a:pt x="17806" y="5724"/>
                </a:moveTo>
                <a:lnTo>
                  <a:pt x="17843" y="5604"/>
                </a:lnTo>
                <a:lnTo>
                  <a:pt x="18141" y="5738"/>
                </a:lnTo>
                <a:lnTo>
                  <a:pt x="17844" y="5916"/>
                </a:lnTo>
                <a:cubicBezTo>
                  <a:pt x="17844" y="5916"/>
                  <a:pt x="17806" y="5724"/>
                  <a:pt x="17806" y="5724"/>
                </a:cubicBezTo>
                <a:close/>
                <a:moveTo>
                  <a:pt x="17745" y="5975"/>
                </a:moveTo>
                <a:cubicBezTo>
                  <a:pt x="17741" y="5971"/>
                  <a:pt x="17737" y="5967"/>
                  <a:pt x="17733" y="5964"/>
                </a:cubicBezTo>
                <a:lnTo>
                  <a:pt x="17795" y="5761"/>
                </a:lnTo>
                <a:lnTo>
                  <a:pt x="17827" y="5926"/>
                </a:lnTo>
                <a:cubicBezTo>
                  <a:pt x="17827" y="5926"/>
                  <a:pt x="17745" y="5975"/>
                  <a:pt x="17745" y="5975"/>
                </a:cubicBezTo>
                <a:close/>
                <a:moveTo>
                  <a:pt x="17347" y="6607"/>
                </a:moveTo>
                <a:lnTo>
                  <a:pt x="17620" y="6172"/>
                </a:lnTo>
                <a:lnTo>
                  <a:pt x="17379" y="6649"/>
                </a:lnTo>
                <a:cubicBezTo>
                  <a:pt x="17379" y="6649"/>
                  <a:pt x="17347" y="6607"/>
                  <a:pt x="17347" y="6607"/>
                </a:cubicBezTo>
                <a:close/>
                <a:moveTo>
                  <a:pt x="17321" y="6609"/>
                </a:moveTo>
                <a:lnTo>
                  <a:pt x="16979" y="7155"/>
                </a:lnTo>
                <a:lnTo>
                  <a:pt x="17168" y="6408"/>
                </a:lnTo>
                <a:cubicBezTo>
                  <a:pt x="17168" y="6408"/>
                  <a:pt x="17321" y="6609"/>
                  <a:pt x="17321" y="6609"/>
                </a:cubicBezTo>
                <a:close/>
                <a:moveTo>
                  <a:pt x="17676" y="6043"/>
                </a:moveTo>
                <a:cubicBezTo>
                  <a:pt x="17676" y="6043"/>
                  <a:pt x="17676" y="6043"/>
                  <a:pt x="17676" y="6043"/>
                </a:cubicBezTo>
                <a:lnTo>
                  <a:pt x="17333" y="6589"/>
                </a:lnTo>
                <a:lnTo>
                  <a:pt x="17180" y="6389"/>
                </a:lnTo>
                <a:cubicBezTo>
                  <a:pt x="17180" y="6389"/>
                  <a:pt x="17676" y="6043"/>
                  <a:pt x="17676" y="6043"/>
                </a:cubicBezTo>
                <a:close/>
                <a:moveTo>
                  <a:pt x="16854" y="7686"/>
                </a:moveTo>
                <a:lnTo>
                  <a:pt x="16845" y="7685"/>
                </a:lnTo>
                <a:lnTo>
                  <a:pt x="16963" y="7219"/>
                </a:lnTo>
                <a:lnTo>
                  <a:pt x="17334" y="6627"/>
                </a:lnTo>
                <a:lnTo>
                  <a:pt x="17368" y="6670"/>
                </a:lnTo>
                <a:cubicBezTo>
                  <a:pt x="17368" y="6670"/>
                  <a:pt x="16854" y="7686"/>
                  <a:pt x="16854" y="7686"/>
                </a:cubicBezTo>
                <a:close/>
                <a:moveTo>
                  <a:pt x="15419" y="9366"/>
                </a:moveTo>
                <a:lnTo>
                  <a:pt x="15772" y="9087"/>
                </a:lnTo>
                <a:cubicBezTo>
                  <a:pt x="15788" y="9101"/>
                  <a:pt x="15811" y="9104"/>
                  <a:pt x="15829" y="9092"/>
                </a:cubicBezTo>
                <a:cubicBezTo>
                  <a:pt x="15852" y="9077"/>
                  <a:pt x="15859" y="9046"/>
                  <a:pt x="15845" y="9022"/>
                </a:cubicBezTo>
                <a:cubicBezTo>
                  <a:pt x="15843" y="9019"/>
                  <a:pt x="15841" y="9017"/>
                  <a:pt x="15838" y="9015"/>
                </a:cubicBezTo>
                <a:lnTo>
                  <a:pt x="16781" y="7836"/>
                </a:lnTo>
                <a:lnTo>
                  <a:pt x="15484" y="11573"/>
                </a:lnTo>
                <a:cubicBezTo>
                  <a:pt x="15484" y="11573"/>
                  <a:pt x="15419" y="9366"/>
                  <a:pt x="15419" y="9366"/>
                </a:cubicBezTo>
                <a:close/>
                <a:moveTo>
                  <a:pt x="13724" y="12628"/>
                </a:moveTo>
                <a:cubicBezTo>
                  <a:pt x="13714" y="12614"/>
                  <a:pt x="13699" y="12607"/>
                  <a:pt x="13683" y="12608"/>
                </a:cubicBezTo>
                <a:lnTo>
                  <a:pt x="13589" y="12154"/>
                </a:lnTo>
                <a:lnTo>
                  <a:pt x="15409" y="11662"/>
                </a:lnTo>
                <a:cubicBezTo>
                  <a:pt x="15409" y="11662"/>
                  <a:pt x="13724" y="12628"/>
                  <a:pt x="13724" y="12628"/>
                </a:cubicBezTo>
                <a:close/>
                <a:moveTo>
                  <a:pt x="13107" y="12647"/>
                </a:moveTo>
                <a:lnTo>
                  <a:pt x="13605" y="12662"/>
                </a:lnTo>
                <a:lnTo>
                  <a:pt x="13118" y="12755"/>
                </a:lnTo>
                <a:cubicBezTo>
                  <a:pt x="13118" y="12755"/>
                  <a:pt x="13107" y="12647"/>
                  <a:pt x="13107" y="12647"/>
                </a:cubicBezTo>
                <a:close/>
                <a:moveTo>
                  <a:pt x="11921" y="12637"/>
                </a:moveTo>
                <a:cubicBezTo>
                  <a:pt x="11929" y="12630"/>
                  <a:pt x="11934" y="12620"/>
                  <a:pt x="11935" y="12610"/>
                </a:cubicBezTo>
                <a:lnTo>
                  <a:pt x="13087" y="12646"/>
                </a:lnTo>
                <a:lnTo>
                  <a:pt x="13098" y="12759"/>
                </a:lnTo>
                <a:lnTo>
                  <a:pt x="12117" y="12945"/>
                </a:lnTo>
                <a:cubicBezTo>
                  <a:pt x="12117" y="12945"/>
                  <a:pt x="11921" y="12637"/>
                  <a:pt x="11921" y="12637"/>
                </a:cubicBezTo>
                <a:close/>
                <a:moveTo>
                  <a:pt x="11869" y="12647"/>
                </a:moveTo>
                <a:cubicBezTo>
                  <a:pt x="11881" y="12653"/>
                  <a:pt x="11895" y="12653"/>
                  <a:pt x="11907" y="12647"/>
                </a:cubicBezTo>
                <a:lnTo>
                  <a:pt x="12099" y="12949"/>
                </a:lnTo>
                <a:lnTo>
                  <a:pt x="11627" y="13038"/>
                </a:lnTo>
                <a:cubicBezTo>
                  <a:pt x="11627" y="13038"/>
                  <a:pt x="11869" y="12647"/>
                  <a:pt x="11869" y="12647"/>
                </a:cubicBezTo>
                <a:close/>
                <a:moveTo>
                  <a:pt x="11846" y="12627"/>
                </a:moveTo>
                <a:cubicBezTo>
                  <a:pt x="11846" y="12627"/>
                  <a:pt x="11846" y="12627"/>
                  <a:pt x="11847" y="12628"/>
                </a:cubicBezTo>
                <a:cubicBezTo>
                  <a:pt x="11849" y="12632"/>
                  <a:pt x="11852" y="12635"/>
                  <a:pt x="11856" y="12638"/>
                </a:cubicBezTo>
                <a:lnTo>
                  <a:pt x="11605" y="13043"/>
                </a:lnTo>
                <a:lnTo>
                  <a:pt x="10262" y="13298"/>
                </a:lnTo>
                <a:cubicBezTo>
                  <a:pt x="10262" y="13298"/>
                  <a:pt x="11846" y="12627"/>
                  <a:pt x="11846" y="12627"/>
                </a:cubicBezTo>
                <a:close/>
                <a:moveTo>
                  <a:pt x="10136" y="13336"/>
                </a:moveTo>
                <a:cubicBezTo>
                  <a:pt x="10137" y="13339"/>
                  <a:pt x="10138" y="13341"/>
                  <a:pt x="10139" y="13344"/>
                </a:cubicBezTo>
                <a:lnTo>
                  <a:pt x="10060" y="13401"/>
                </a:lnTo>
                <a:lnTo>
                  <a:pt x="10042" y="13340"/>
                </a:lnTo>
                <a:cubicBezTo>
                  <a:pt x="10042" y="13340"/>
                  <a:pt x="10136" y="13336"/>
                  <a:pt x="10136" y="13336"/>
                </a:cubicBezTo>
                <a:close/>
                <a:moveTo>
                  <a:pt x="10008" y="13227"/>
                </a:moveTo>
                <a:lnTo>
                  <a:pt x="10137" y="13308"/>
                </a:lnTo>
                <a:cubicBezTo>
                  <a:pt x="10137" y="13311"/>
                  <a:pt x="10136" y="13313"/>
                  <a:pt x="10135" y="13316"/>
                </a:cubicBezTo>
                <a:lnTo>
                  <a:pt x="10036" y="13320"/>
                </a:lnTo>
                <a:cubicBezTo>
                  <a:pt x="10036" y="13320"/>
                  <a:pt x="10008" y="13227"/>
                  <a:pt x="10008" y="13227"/>
                </a:cubicBezTo>
                <a:close/>
                <a:moveTo>
                  <a:pt x="7362" y="13155"/>
                </a:moveTo>
                <a:lnTo>
                  <a:pt x="8612" y="12355"/>
                </a:lnTo>
                <a:lnTo>
                  <a:pt x="9984" y="13212"/>
                </a:lnTo>
                <a:lnTo>
                  <a:pt x="10016" y="13321"/>
                </a:lnTo>
                <a:lnTo>
                  <a:pt x="7378" y="13434"/>
                </a:lnTo>
                <a:cubicBezTo>
                  <a:pt x="7378" y="13434"/>
                  <a:pt x="7362" y="13155"/>
                  <a:pt x="7362" y="13155"/>
                </a:cubicBezTo>
                <a:close/>
                <a:moveTo>
                  <a:pt x="6902" y="13455"/>
                </a:moveTo>
                <a:cubicBezTo>
                  <a:pt x="6902" y="13453"/>
                  <a:pt x="6901" y="13452"/>
                  <a:pt x="6901" y="13450"/>
                </a:cubicBezTo>
                <a:lnTo>
                  <a:pt x="7342" y="13168"/>
                </a:lnTo>
                <a:lnTo>
                  <a:pt x="7357" y="13435"/>
                </a:lnTo>
                <a:cubicBezTo>
                  <a:pt x="7357" y="13435"/>
                  <a:pt x="6902" y="13455"/>
                  <a:pt x="6902" y="13455"/>
                </a:cubicBezTo>
                <a:close/>
                <a:moveTo>
                  <a:pt x="6908" y="13475"/>
                </a:moveTo>
                <a:lnTo>
                  <a:pt x="7358" y="13456"/>
                </a:lnTo>
                <a:lnTo>
                  <a:pt x="7369" y="13653"/>
                </a:lnTo>
                <a:cubicBezTo>
                  <a:pt x="7369" y="13653"/>
                  <a:pt x="6908" y="13475"/>
                  <a:pt x="6908" y="13475"/>
                </a:cubicBezTo>
                <a:close/>
                <a:moveTo>
                  <a:pt x="6878" y="13512"/>
                </a:moveTo>
                <a:cubicBezTo>
                  <a:pt x="6879" y="13511"/>
                  <a:pt x="6880" y="13511"/>
                  <a:pt x="6881" y="13510"/>
                </a:cubicBezTo>
                <a:cubicBezTo>
                  <a:pt x="6887" y="13506"/>
                  <a:pt x="6892" y="13501"/>
                  <a:pt x="6896" y="13495"/>
                </a:cubicBezTo>
                <a:lnTo>
                  <a:pt x="7371" y="13678"/>
                </a:lnTo>
                <a:lnTo>
                  <a:pt x="7459" y="15240"/>
                </a:lnTo>
                <a:cubicBezTo>
                  <a:pt x="7459" y="15240"/>
                  <a:pt x="6878" y="13512"/>
                  <a:pt x="6878" y="13512"/>
                </a:cubicBezTo>
                <a:close/>
                <a:moveTo>
                  <a:pt x="6658" y="14280"/>
                </a:moveTo>
                <a:lnTo>
                  <a:pt x="7393" y="15212"/>
                </a:lnTo>
                <a:lnTo>
                  <a:pt x="6613" y="14457"/>
                </a:lnTo>
                <a:cubicBezTo>
                  <a:pt x="6613" y="14457"/>
                  <a:pt x="6658" y="14280"/>
                  <a:pt x="6658" y="14280"/>
                </a:cubicBezTo>
                <a:close/>
                <a:moveTo>
                  <a:pt x="6327" y="14180"/>
                </a:moveTo>
                <a:lnTo>
                  <a:pt x="6451" y="14016"/>
                </a:lnTo>
                <a:lnTo>
                  <a:pt x="6643" y="14261"/>
                </a:lnTo>
                <a:lnTo>
                  <a:pt x="6597" y="14442"/>
                </a:lnTo>
                <a:cubicBezTo>
                  <a:pt x="6597" y="14442"/>
                  <a:pt x="6327" y="14180"/>
                  <a:pt x="6327" y="14180"/>
                </a:cubicBezTo>
                <a:close/>
                <a:moveTo>
                  <a:pt x="6221" y="14320"/>
                </a:moveTo>
                <a:lnTo>
                  <a:pt x="6316" y="14195"/>
                </a:lnTo>
                <a:lnTo>
                  <a:pt x="6592" y="14463"/>
                </a:lnTo>
                <a:lnTo>
                  <a:pt x="6552" y="14619"/>
                </a:lnTo>
                <a:lnTo>
                  <a:pt x="6219" y="14336"/>
                </a:lnTo>
                <a:cubicBezTo>
                  <a:pt x="6219" y="14336"/>
                  <a:pt x="6221" y="14320"/>
                  <a:pt x="6221" y="14320"/>
                </a:cubicBezTo>
                <a:close/>
                <a:moveTo>
                  <a:pt x="5701" y="15005"/>
                </a:moveTo>
                <a:lnTo>
                  <a:pt x="6199" y="14348"/>
                </a:lnTo>
                <a:lnTo>
                  <a:pt x="6201" y="14349"/>
                </a:lnTo>
                <a:lnTo>
                  <a:pt x="6109" y="15612"/>
                </a:lnTo>
                <a:lnTo>
                  <a:pt x="5843" y="15674"/>
                </a:lnTo>
                <a:cubicBezTo>
                  <a:pt x="5843" y="15674"/>
                  <a:pt x="5701" y="15005"/>
                  <a:pt x="5701" y="15005"/>
                </a:cubicBezTo>
                <a:close/>
                <a:moveTo>
                  <a:pt x="5386" y="15780"/>
                </a:moveTo>
                <a:lnTo>
                  <a:pt x="5272" y="15630"/>
                </a:lnTo>
                <a:cubicBezTo>
                  <a:pt x="5288" y="15614"/>
                  <a:pt x="5292" y="15588"/>
                  <a:pt x="5280" y="15568"/>
                </a:cubicBezTo>
                <a:cubicBezTo>
                  <a:pt x="5279" y="15567"/>
                  <a:pt x="5278" y="15566"/>
                  <a:pt x="5277" y="15565"/>
                </a:cubicBezTo>
                <a:lnTo>
                  <a:pt x="5686" y="15024"/>
                </a:lnTo>
                <a:lnTo>
                  <a:pt x="5825" y="15678"/>
                </a:lnTo>
                <a:cubicBezTo>
                  <a:pt x="5825" y="15678"/>
                  <a:pt x="5386" y="15780"/>
                  <a:pt x="5386" y="15780"/>
                </a:cubicBezTo>
                <a:close/>
                <a:moveTo>
                  <a:pt x="5385" y="15798"/>
                </a:moveTo>
                <a:lnTo>
                  <a:pt x="5460" y="15897"/>
                </a:lnTo>
                <a:lnTo>
                  <a:pt x="5093" y="15866"/>
                </a:lnTo>
                <a:cubicBezTo>
                  <a:pt x="5093" y="15866"/>
                  <a:pt x="5385" y="15798"/>
                  <a:pt x="5385" y="15798"/>
                </a:cubicBezTo>
                <a:close/>
                <a:moveTo>
                  <a:pt x="4984" y="15906"/>
                </a:moveTo>
                <a:lnTo>
                  <a:pt x="3994" y="16790"/>
                </a:lnTo>
                <a:lnTo>
                  <a:pt x="4863" y="15962"/>
                </a:lnTo>
                <a:cubicBezTo>
                  <a:pt x="4863" y="15962"/>
                  <a:pt x="4984" y="15906"/>
                  <a:pt x="4984" y="15906"/>
                </a:cubicBezTo>
                <a:close/>
                <a:moveTo>
                  <a:pt x="4985" y="15875"/>
                </a:moveTo>
                <a:cubicBezTo>
                  <a:pt x="4985" y="15877"/>
                  <a:pt x="4985" y="15880"/>
                  <a:pt x="4986" y="15882"/>
                </a:cubicBezTo>
                <a:lnTo>
                  <a:pt x="4910" y="15917"/>
                </a:lnTo>
                <a:lnTo>
                  <a:pt x="4959" y="15871"/>
                </a:lnTo>
                <a:cubicBezTo>
                  <a:pt x="4959" y="15871"/>
                  <a:pt x="4985" y="15875"/>
                  <a:pt x="4985" y="15875"/>
                </a:cubicBezTo>
                <a:close/>
                <a:moveTo>
                  <a:pt x="4994" y="15842"/>
                </a:moveTo>
                <a:cubicBezTo>
                  <a:pt x="4991" y="15845"/>
                  <a:pt x="4990" y="15850"/>
                  <a:pt x="4988" y="15854"/>
                </a:cubicBezTo>
                <a:lnTo>
                  <a:pt x="4979" y="15852"/>
                </a:lnTo>
                <a:lnTo>
                  <a:pt x="4992" y="15840"/>
                </a:lnTo>
                <a:cubicBezTo>
                  <a:pt x="4992" y="15840"/>
                  <a:pt x="4994" y="15842"/>
                  <a:pt x="4994" y="15842"/>
                </a:cubicBezTo>
                <a:close/>
                <a:moveTo>
                  <a:pt x="5030" y="15821"/>
                </a:moveTo>
                <a:cubicBezTo>
                  <a:pt x="5022" y="15822"/>
                  <a:pt x="5014" y="15824"/>
                  <a:pt x="5007" y="15828"/>
                </a:cubicBezTo>
                <a:cubicBezTo>
                  <a:pt x="5007" y="15828"/>
                  <a:pt x="5007" y="15829"/>
                  <a:pt x="5007" y="15829"/>
                </a:cubicBezTo>
                <a:lnTo>
                  <a:pt x="5005" y="15827"/>
                </a:lnTo>
                <a:lnTo>
                  <a:pt x="5032" y="15802"/>
                </a:lnTo>
                <a:cubicBezTo>
                  <a:pt x="5032" y="15802"/>
                  <a:pt x="5030" y="15821"/>
                  <a:pt x="5030" y="15821"/>
                </a:cubicBezTo>
                <a:close/>
                <a:moveTo>
                  <a:pt x="5242" y="13954"/>
                </a:moveTo>
                <a:lnTo>
                  <a:pt x="5269" y="13706"/>
                </a:lnTo>
                <a:lnTo>
                  <a:pt x="5365" y="13712"/>
                </a:lnTo>
                <a:cubicBezTo>
                  <a:pt x="5365" y="13712"/>
                  <a:pt x="5242" y="13954"/>
                  <a:pt x="5242" y="13954"/>
                </a:cubicBezTo>
                <a:close/>
                <a:moveTo>
                  <a:pt x="5388" y="13714"/>
                </a:moveTo>
                <a:lnTo>
                  <a:pt x="5067" y="15623"/>
                </a:lnTo>
                <a:lnTo>
                  <a:pt x="5236" y="14015"/>
                </a:lnTo>
                <a:cubicBezTo>
                  <a:pt x="5236" y="14015"/>
                  <a:pt x="5388" y="13714"/>
                  <a:pt x="5388" y="13714"/>
                </a:cubicBezTo>
                <a:close/>
                <a:moveTo>
                  <a:pt x="5519" y="13510"/>
                </a:moveTo>
                <a:lnTo>
                  <a:pt x="5438" y="13605"/>
                </a:lnTo>
                <a:lnTo>
                  <a:pt x="5478" y="13511"/>
                </a:lnTo>
                <a:cubicBezTo>
                  <a:pt x="5478" y="13511"/>
                  <a:pt x="5519" y="13510"/>
                  <a:pt x="5519" y="13510"/>
                </a:cubicBezTo>
                <a:close/>
                <a:moveTo>
                  <a:pt x="5540" y="13487"/>
                </a:moveTo>
                <a:lnTo>
                  <a:pt x="5488" y="13488"/>
                </a:lnTo>
                <a:lnTo>
                  <a:pt x="5517" y="13421"/>
                </a:lnTo>
                <a:lnTo>
                  <a:pt x="5560" y="13463"/>
                </a:lnTo>
                <a:cubicBezTo>
                  <a:pt x="5560" y="13463"/>
                  <a:pt x="5540" y="13487"/>
                  <a:pt x="5540" y="13487"/>
                </a:cubicBezTo>
                <a:close/>
                <a:moveTo>
                  <a:pt x="5563" y="13486"/>
                </a:moveTo>
                <a:lnTo>
                  <a:pt x="5573" y="13475"/>
                </a:lnTo>
                <a:lnTo>
                  <a:pt x="5583" y="13486"/>
                </a:lnTo>
                <a:cubicBezTo>
                  <a:pt x="5583" y="13486"/>
                  <a:pt x="5563" y="13486"/>
                  <a:pt x="5563" y="13486"/>
                </a:cubicBezTo>
                <a:close/>
                <a:moveTo>
                  <a:pt x="5823" y="13718"/>
                </a:moveTo>
                <a:lnTo>
                  <a:pt x="5470" y="13697"/>
                </a:lnTo>
                <a:lnTo>
                  <a:pt x="5448" y="13679"/>
                </a:lnTo>
                <a:cubicBezTo>
                  <a:pt x="5455" y="13663"/>
                  <a:pt x="5456" y="13645"/>
                  <a:pt x="5447" y="13630"/>
                </a:cubicBezTo>
                <a:cubicBezTo>
                  <a:pt x="5446" y="13628"/>
                  <a:pt x="5444" y="13627"/>
                  <a:pt x="5443" y="13626"/>
                </a:cubicBezTo>
                <a:lnTo>
                  <a:pt x="5543" y="13510"/>
                </a:lnTo>
                <a:lnTo>
                  <a:pt x="5606" y="13508"/>
                </a:lnTo>
                <a:cubicBezTo>
                  <a:pt x="5606" y="13508"/>
                  <a:pt x="5823" y="13718"/>
                  <a:pt x="5823" y="13718"/>
                </a:cubicBezTo>
                <a:close/>
                <a:moveTo>
                  <a:pt x="6276" y="13710"/>
                </a:moveTo>
                <a:cubicBezTo>
                  <a:pt x="6261" y="13702"/>
                  <a:pt x="6243" y="13701"/>
                  <a:pt x="6228" y="13711"/>
                </a:cubicBezTo>
                <a:cubicBezTo>
                  <a:pt x="6217" y="13718"/>
                  <a:pt x="6210" y="13729"/>
                  <a:pt x="6206" y="13741"/>
                </a:cubicBezTo>
                <a:lnTo>
                  <a:pt x="5852" y="13720"/>
                </a:lnTo>
                <a:lnTo>
                  <a:pt x="5632" y="13507"/>
                </a:lnTo>
                <a:lnTo>
                  <a:pt x="6467" y="13488"/>
                </a:lnTo>
                <a:cubicBezTo>
                  <a:pt x="6467" y="13488"/>
                  <a:pt x="6276" y="13710"/>
                  <a:pt x="6276" y="13710"/>
                </a:cubicBezTo>
                <a:close/>
                <a:moveTo>
                  <a:pt x="6676" y="13483"/>
                </a:moveTo>
                <a:lnTo>
                  <a:pt x="6308" y="13707"/>
                </a:lnTo>
                <a:lnTo>
                  <a:pt x="6497" y="13487"/>
                </a:lnTo>
                <a:cubicBezTo>
                  <a:pt x="6497" y="13487"/>
                  <a:pt x="6676" y="13483"/>
                  <a:pt x="6676" y="13483"/>
                </a:cubicBezTo>
                <a:close/>
                <a:moveTo>
                  <a:pt x="6727" y="13452"/>
                </a:moveTo>
                <a:lnTo>
                  <a:pt x="6716" y="13459"/>
                </a:lnTo>
                <a:lnTo>
                  <a:pt x="6518" y="13463"/>
                </a:lnTo>
                <a:lnTo>
                  <a:pt x="6552" y="13423"/>
                </a:lnTo>
                <a:cubicBezTo>
                  <a:pt x="6552" y="13423"/>
                  <a:pt x="6727" y="13452"/>
                  <a:pt x="6727" y="13452"/>
                </a:cubicBezTo>
                <a:close/>
                <a:moveTo>
                  <a:pt x="6957" y="13311"/>
                </a:moveTo>
                <a:lnTo>
                  <a:pt x="6743" y="13442"/>
                </a:lnTo>
                <a:lnTo>
                  <a:pt x="6562" y="13412"/>
                </a:lnTo>
                <a:lnTo>
                  <a:pt x="7307" y="12546"/>
                </a:lnTo>
                <a:lnTo>
                  <a:pt x="7322" y="12813"/>
                </a:lnTo>
                <a:cubicBezTo>
                  <a:pt x="7322" y="12813"/>
                  <a:pt x="6957" y="13311"/>
                  <a:pt x="6957" y="13311"/>
                </a:cubicBezTo>
                <a:close/>
                <a:moveTo>
                  <a:pt x="7002" y="13284"/>
                </a:moveTo>
                <a:lnTo>
                  <a:pt x="7323" y="12844"/>
                </a:lnTo>
                <a:lnTo>
                  <a:pt x="7337" y="13080"/>
                </a:lnTo>
                <a:cubicBezTo>
                  <a:pt x="7337" y="13080"/>
                  <a:pt x="7002" y="13284"/>
                  <a:pt x="7002" y="13284"/>
                </a:cubicBezTo>
                <a:close/>
                <a:moveTo>
                  <a:pt x="6834" y="13511"/>
                </a:moveTo>
                <a:cubicBezTo>
                  <a:pt x="6834" y="13511"/>
                  <a:pt x="6834" y="13512"/>
                  <a:pt x="6835" y="13512"/>
                </a:cubicBezTo>
                <a:lnTo>
                  <a:pt x="6648" y="14244"/>
                </a:lnTo>
                <a:lnTo>
                  <a:pt x="6459" y="14005"/>
                </a:lnTo>
                <a:cubicBezTo>
                  <a:pt x="6459" y="14005"/>
                  <a:pt x="6834" y="13511"/>
                  <a:pt x="6834" y="13511"/>
                </a:cubicBezTo>
                <a:close/>
                <a:moveTo>
                  <a:pt x="6761" y="13458"/>
                </a:moveTo>
                <a:lnTo>
                  <a:pt x="6760" y="13458"/>
                </a:lnTo>
                <a:lnTo>
                  <a:pt x="6761" y="13458"/>
                </a:lnTo>
                <a:cubicBezTo>
                  <a:pt x="6761" y="13458"/>
                  <a:pt x="6761" y="13458"/>
                  <a:pt x="6761" y="13458"/>
                </a:cubicBezTo>
                <a:close/>
                <a:moveTo>
                  <a:pt x="6876" y="13422"/>
                </a:moveTo>
                <a:cubicBezTo>
                  <a:pt x="6862" y="13415"/>
                  <a:pt x="6845" y="13414"/>
                  <a:pt x="6830" y="13424"/>
                </a:cubicBezTo>
                <a:cubicBezTo>
                  <a:pt x="6820" y="13431"/>
                  <a:pt x="6813" y="13441"/>
                  <a:pt x="6810" y="13453"/>
                </a:cubicBezTo>
                <a:lnTo>
                  <a:pt x="6777" y="13448"/>
                </a:lnTo>
                <a:lnTo>
                  <a:pt x="6922" y="13359"/>
                </a:lnTo>
                <a:cubicBezTo>
                  <a:pt x="6922" y="13359"/>
                  <a:pt x="6876" y="13422"/>
                  <a:pt x="6876" y="13422"/>
                </a:cubicBezTo>
                <a:close/>
                <a:moveTo>
                  <a:pt x="6288" y="13788"/>
                </a:moveTo>
                <a:cubicBezTo>
                  <a:pt x="6300" y="13774"/>
                  <a:pt x="6304" y="13757"/>
                  <a:pt x="6299" y="13739"/>
                </a:cubicBezTo>
                <a:lnTo>
                  <a:pt x="6721" y="13482"/>
                </a:lnTo>
                <a:lnTo>
                  <a:pt x="6810" y="13480"/>
                </a:lnTo>
                <a:cubicBezTo>
                  <a:pt x="6811" y="13484"/>
                  <a:pt x="6812" y="13489"/>
                  <a:pt x="6814" y="13494"/>
                </a:cubicBezTo>
                <a:cubicBezTo>
                  <a:pt x="6816" y="13496"/>
                  <a:pt x="6818" y="13497"/>
                  <a:pt x="6820" y="13500"/>
                </a:cubicBezTo>
                <a:lnTo>
                  <a:pt x="6448" y="13990"/>
                </a:lnTo>
                <a:cubicBezTo>
                  <a:pt x="6448" y="13990"/>
                  <a:pt x="6288" y="13788"/>
                  <a:pt x="6288" y="13788"/>
                </a:cubicBezTo>
                <a:close/>
                <a:moveTo>
                  <a:pt x="6237" y="14093"/>
                </a:moveTo>
                <a:lnTo>
                  <a:pt x="6258" y="13804"/>
                </a:lnTo>
                <a:cubicBezTo>
                  <a:pt x="6265" y="13803"/>
                  <a:pt x="6272" y="13801"/>
                  <a:pt x="6278" y="13797"/>
                </a:cubicBezTo>
                <a:lnTo>
                  <a:pt x="6439" y="14001"/>
                </a:lnTo>
                <a:lnTo>
                  <a:pt x="6313" y="14167"/>
                </a:lnTo>
                <a:cubicBezTo>
                  <a:pt x="6313" y="14167"/>
                  <a:pt x="6237" y="14093"/>
                  <a:pt x="6237" y="14093"/>
                </a:cubicBezTo>
                <a:close/>
                <a:moveTo>
                  <a:pt x="6235" y="14117"/>
                </a:moveTo>
                <a:lnTo>
                  <a:pt x="6302" y="14182"/>
                </a:lnTo>
                <a:lnTo>
                  <a:pt x="6223" y="14286"/>
                </a:lnTo>
                <a:cubicBezTo>
                  <a:pt x="6223" y="14286"/>
                  <a:pt x="6235" y="14117"/>
                  <a:pt x="6235" y="14117"/>
                </a:cubicBezTo>
                <a:close/>
                <a:moveTo>
                  <a:pt x="5658" y="14803"/>
                </a:moveTo>
                <a:lnTo>
                  <a:pt x="6012" y="14188"/>
                </a:lnTo>
                <a:lnTo>
                  <a:pt x="6185" y="14336"/>
                </a:lnTo>
                <a:lnTo>
                  <a:pt x="5696" y="14982"/>
                </a:lnTo>
                <a:cubicBezTo>
                  <a:pt x="5696" y="14982"/>
                  <a:pt x="5658" y="14803"/>
                  <a:pt x="5658" y="14803"/>
                </a:cubicBezTo>
                <a:close/>
                <a:moveTo>
                  <a:pt x="5264" y="15552"/>
                </a:moveTo>
                <a:cubicBezTo>
                  <a:pt x="5254" y="15545"/>
                  <a:pt x="5242" y="15543"/>
                  <a:pt x="5230" y="15545"/>
                </a:cubicBezTo>
                <a:lnTo>
                  <a:pt x="5644" y="14826"/>
                </a:lnTo>
                <a:lnTo>
                  <a:pt x="5681" y="15001"/>
                </a:lnTo>
                <a:cubicBezTo>
                  <a:pt x="5681" y="15001"/>
                  <a:pt x="5264" y="15552"/>
                  <a:pt x="5264" y="15552"/>
                </a:cubicBezTo>
                <a:close/>
                <a:moveTo>
                  <a:pt x="5077" y="15853"/>
                </a:moveTo>
                <a:cubicBezTo>
                  <a:pt x="5076" y="15850"/>
                  <a:pt x="5076" y="15847"/>
                  <a:pt x="5074" y="15845"/>
                </a:cubicBezTo>
                <a:cubicBezTo>
                  <a:pt x="5073" y="15843"/>
                  <a:pt x="5071" y="15841"/>
                  <a:pt x="5069" y="15839"/>
                </a:cubicBezTo>
                <a:lnTo>
                  <a:pt x="5219" y="15640"/>
                </a:lnTo>
                <a:cubicBezTo>
                  <a:pt x="5234" y="15647"/>
                  <a:pt x="5250" y="15647"/>
                  <a:pt x="5264" y="15638"/>
                </a:cubicBezTo>
                <a:cubicBezTo>
                  <a:pt x="5264" y="15638"/>
                  <a:pt x="5264" y="15638"/>
                  <a:pt x="5264" y="15638"/>
                </a:cubicBezTo>
                <a:lnTo>
                  <a:pt x="5374" y="15783"/>
                </a:lnTo>
                <a:cubicBezTo>
                  <a:pt x="5374" y="15783"/>
                  <a:pt x="5077" y="15853"/>
                  <a:pt x="5077" y="15853"/>
                </a:cubicBezTo>
                <a:close/>
                <a:moveTo>
                  <a:pt x="5143" y="15696"/>
                </a:moveTo>
                <a:lnTo>
                  <a:pt x="5184" y="15657"/>
                </a:lnTo>
                <a:lnTo>
                  <a:pt x="5107" y="15758"/>
                </a:lnTo>
                <a:cubicBezTo>
                  <a:pt x="5107" y="15758"/>
                  <a:pt x="5143" y="15696"/>
                  <a:pt x="5143" y="15696"/>
                </a:cubicBezTo>
                <a:close/>
                <a:moveTo>
                  <a:pt x="5048" y="15824"/>
                </a:moveTo>
                <a:lnTo>
                  <a:pt x="5056" y="15779"/>
                </a:lnTo>
                <a:lnTo>
                  <a:pt x="5103" y="15734"/>
                </a:lnTo>
                <a:lnTo>
                  <a:pt x="5050" y="15825"/>
                </a:lnTo>
                <a:cubicBezTo>
                  <a:pt x="5050" y="15825"/>
                  <a:pt x="5049" y="15824"/>
                  <a:pt x="5048" y="15824"/>
                </a:cubicBezTo>
                <a:close/>
                <a:moveTo>
                  <a:pt x="5197" y="15621"/>
                </a:moveTo>
                <a:cubicBezTo>
                  <a:pt x="5197" y="15622"/>
                  <a:pt x="5198" y="15622"/>
                  <a:pt x="5198" y="15623"/>
                </a:cubicBezTo>
                <a:lnTo>
                  <a:pt x="5169" y="15650"/>
                </a:lnTo>
                <a:lnTo>
                  <a:pt x="5193" y="15609"/>
                </a:lnTo>
                <a:cubicBezTo>
                  <a:pt x="5194" y="15613"/>
                  <a:pt x="5195" y="15618"/>
                  <a:pt x="5197" y="15621"/>
                </a:cubicBezTo>
                <a:close/>
                <a:moveTo>
                  <a:pt x="5408" y="13714"/>
                </a:moveTo>
                <a:lnTo>
                  <a:pt x="5639" y="14803"/>
                </a:lnTo>
                <a:lnTo>
                  <a:pt x="5202" y="15562"/>
                </a:lnTo>
                <a:cubicBezTo>
                  <a:pt x="5199" y="15566"/>
                  <a:pt x="5197" y="15570"/>
                  <a:pt x="5195" y="15574"/>
                </a:cubicBezTo>
                <a:lnTo>
                  <a:pt x="5129" y="15688"/>
                </a:lnTo>
                <a:lnTo>
                  <a:pt x="5060" y="15754"/>
                </a:lnTo>
                <a:lnTo>
                  <a:pt x="5403" y="13714"/>
                </a:lnTo>
                <a:cubicBezTo>
                  <a:pt x="5403" y="13714"/>
                  <a:pt x="5408" y="13714"/>
                  <a:pt x="5408" y="13714"/>
                </a:cubicBezTo>
                <a:close/>
                <a:moveTo>
                  <a:pt x="6000" y="14178"/>
                </a:moveTo>
                <a:lnTo>
                  <a:pt x="5653" y="14780"/>
                </a:lnTo>
                <a:lnTo>
                  <a:pt x="5427" y="13715"/>
                </a:lnTo>
                <a:lnTo>
                  <a:pt x="5459" y="13717"/>
                </a:lnTo>
                <a:cubicBezTo>
                  <a:pt x="5459" y="13717"/>
                  <a:pt x="6000" y="14178"/>
                  <a:pt x="6000" y="14178"/>
                </a:cubicBezTo>
                <a:close/>
                <a:moveTo>
                  <a:pt x="6107" y="13993"/>
                </a:moveTo>
                <a:lnTo>
                  <a:pt x="6011" y="14158"/>
                </a:lnTo>
                <a:lnTo>
                  <a:pt x="5496" y="13719"/>
                </a:lnTo>
                <a:lnTo>
                  <a:pt x="5846" y="13740"/>
                </a:lnTo>
                <a:cubicBezTo>
                  <a:pt x="5846" y="13740"/>
                  <a:pt x="6107" y="13993"/>
                  <a:pt x="6107" y="13993"/>
                </a:cubicBezTo>
                <a:close/>
                <a:moveTo>
                  <a:pt x="6212" y="13781"/>
                </a:moveTo>
                <a:cubicBezTo>
                  <a:pt x="6214" y="13785"/>
                  <a:pt x="6218" y="13789"/>
                  <a:pt x="6222" y="13792"/>
                </a:cubicBezTo>
                <a:lnTo>
                  <a:pt x="6116" y="13976"/>
                </a:lnTo>
                <a:lnTo>
                  <a:pt x="5874" y="13742"/>
                </a:lnTo>
                <a:lnTo>
                  <a:pt x="6205" y="13761"/>
                </a:lnTo>
                <a:cubicBezTo>
                  <a:pt x="6206" y="13768"/>
                  <a:pt x="6208" y="13775"/>
                  <a:pt x="6212" y="13781"/>
                </a:cubicBezTo>
                <a:close/>
                <a:moveTo>
                  <a:pt x="6235" y="13800"/>
                </a:moveTo>
                <a:cubicBezTo>
                  <a:pt x="6237" y="13801"/>
                  <a:pt x="6239" y="13803"/>
                  <a:pt x="6241" y="13803"/>
                </a:cubicBezTo>
                <a:lnTo>
                  <a:pt x="6221" y="14077"/>
                </a:lnTo>
                <a:lnTo>
                  <a:pt x="6128" y="13987"/>
                </a:lnTo>
                <a:cubicBezTo>
                  <a:pt x="6128" y="13987"/>
                  <a:pt x="6235" y="13800"/>
                  <a:pt x="6235" y="13800"/>
                </a:cubicBezTo>
                <a:close/>
                <a:moveTo>
                  <a:pt x="6199" y="14318"/>
                </a:moveTo>
                <a:lnTo>
                  <a:pt x="6023" y="14169"/>
                </a:lnTo>
                <a:lnTo>
                  <a:pt x="6118" y="14004"/>
                </a:lnTo>
                <a:lnTo>
                  <a:pt x="6219" y="14101"/>
                </a:lnTo>
                <a:lnTo>
                  <a:pt x="6204" y="14312"/>
                </a:lnTo>
                <a:cubicBezTo>
                  <a:pt x="6204" y="14312"/>
                  <a:pt x="6199" y="14318"/>
                  <a:pt x="6199" y="14318"/>
                </a:cubicBezTo>
                <a:close/>
                <a:moveTo>
                  <a:pt x="7448" y="15259"/>
                </a:moveTo>
                <a:lnTo>
                  <a:pt x="6663" y="14263"/>
                </a:lnTo>
                <a:lnTo>
                  <a:pt x="6853" y="13517"/>
                </a:lnTo>
                <a:cubicBezTo>
                  <a:pt x="6857" y="13517"/>
                  <a:pt x="6861" y="13517"/>
                  <a:pt x="6865" y="13516"/>
                </a:cubicBezTo>
                <a:lnTo>
                  <a:pt x="7451" y="15258"/>
                </a:lnTo>
                <a:cubicBezTo>
                  <a:pt x="7450" y="15259"/>
                  <a:pt x="7449" y="15259"/>
                  <a:pt x="7448" y="15259"/>
                </a:cubicBezTo>
                <a:close/>
                <a:moveTo>
                  <a:pt x="7340" y="13145"/>
                </a:moveTo>
                <a:lnTo>
                  <a:pt x="6895" y="13430"/>
                </a:lnTo>
                <a:lnTo>
                  <a:pt x="6967" y="13332"/>
                </a:lnTo>
                <a:lnTo>
                  <a:pt x="7338" y="13105"/>
                </a:lnTo>
                <a:cubicBezTo>
                  <a:pt x="7338" y="13105"/>
                  <a:pt x="7340" y="13145"/>
                  <a:pt x="7340" y="13145"/>
                </a:cubicBezTo>
                <a:close/>
                <a:moveTo>
                  <a:pt x="8593" y="12344"/>
                </a:moveTo>
                <a:lnTo>
                  <a:pt x="7361" y="13132"/>
                </a:lnTo>
                <a:lnTo>
                  <a:pt x="7359" y="13093"/>
                </a:lnTo>
                <a:lnTo>
                  <a:pt x="8590" y="12342"/>
                </a:lnTo>
                <a:cubicBezTo>
                  <a:pt x="8590" y="12342"/>
                  <a:pt x="8593" y="12344"/>
                  <a:pt x="8593" y="12344"/>
                </a:cubicBezTo>
                <a:close/>
                <a:moveTo>
                  <a:pt x="8612" y="12332"/>
                </a:moveTo>
                <a:lnTo>
                  <a:pt x="8610" y="12330"/>
                </a:lnTo>
                <a:lnTo>
                  <a:pt x="8723" y="12261"/>
                </a:lnTo>
                <a:cubicBezTo>
                  <a:pt x="8723" y="12261"/>
                  <a:pt x="8612" y="12332"/>
                  <a:pt x="8612" y="12332"/>
                </a:cubicBezTo>
                <a:close/>
                <a:moveTo>
                  <a:pt x="9588" y="11703"/>
                </a:moveTo>
                <a:cubicBezTo>
                  <a:pt x="9581" y="11696"/>
                  <a:pt x="9572" y="11691"/>
                  <a:pt x="9563" y="11690"/>
                </a:cubicBezTo>
                <a:lnTo>
                  <a:pt x="9542" y="11136"/>
                </a:lnTo>
                <a:lnTo>
                  <a:pt x="9964" y="11402"/>
                </a:lnTo>
                <a:cubicBezTo>
                  <a:pt x="9964" y="11402"/>
                  <a:pt x="9588" y="11703"/>
                  <a:pt x="9588" y="11703"/>
                </a:cubicBezTo>
                <a:close/>
                <a:moveTo>
                  <a:pt x="10145" y="11516"/>
                </a:moveTo>
                <a:lnTo>
                  <a:pt x="9607" y="11709"/>
                </a:lnTo>
                <a:lnTo>
                  <a:pt x="9979" y="11411"/>
                </a:lnTo>
                <a:cubicBezTo>
                  <a:pt x="9979" y="11411"/>
                  <a:pt x="10145" y="11516"/>
                  <a:pt x="10145" y="11516"/>
                </a:cubicBezTo>
                <a:close/>
                <a:moveTo>
                  <a:pt x="11574" y="7891"/>
                </a:moveTo>
                <a:cubicBezTo>
                  <a:pt x="11579" y="7894"/>
                  <a:pt x="11584" y="7896"/>
                  <a:pt x="11590" y="7898"/>
                </a:cubicBezTo>
                <a:lnTo>
                  <a:pt x="11477" y="10146"/>
                </a:lnTo>
                <a:cubicBezTo>
                  <a:pt x="11473" y="10147"/>
                  <a:pt x="11470" y="10148"/>
                  <a:pt x="11467" y="10149"/>
                </a:cubicBezTo>
                <a:lnTo>
                  <a:pt x="10716" y="8791"/>
                </a:lnTo>
                <a:cubicBezTo>
                  <a:pt x="10716" y="8791"/>
                  <a:pt x="11574" y="7891"/>
                  <a:pt x="11574" y="7891"/>
                </a:cubicBezTo>
                <a:close/>
                <a:moveTo>
                  <a:pt x="12476" y="7790"/>
                </a:moveTo>
                <a:lnTo>
                  <a:pt x="12101" y="7810"/>
                </a:lnTo>
                <a:lnTo>
                  <a:pt x="12472" y="7777"/>
                </a:lnTo>
                <a:cubicBezTo>
                  <a:pt x="12472" y="7777"/>
                  <a:pt x="12476" y="7790"/>
                  <a:pt x="12476" y="7790"/>
                </a:cubicBezTo>
                <a:close/>
                <a:moveTo>
                  <a:pt x="13796" y="7720"/>
                </a:moveTo>
                <a:lnTo>
                  <a:pt x="13731" y="7678"/>
                </a:lnTo>
                <a:cubicBezTo>
                  <a:pt x="13733" y="7674"/>
                  <a:pt x="13734" y="7670"/>
                  <a:pt x="13734" y="7665"/>
                </a:cubicBezTo>
                <a:lnTo>
                  <a:pt x="14978" y="7658"/>
                </a:lnTo>
                <a:cubicBezTo>
                  <a:pt x="14978" y="7658"/>
                  <a:pt x="13796" y="7720"/>
                  <a:pt x="13796" y="7720"/>
                </a:cubicBezTo>
                <a:close/>
                <a:moveTo>
                  <a:pt x="16596" y="7765"/>
                </a:moveTo>
                <a:lnTo>
                  <a:pt x="15583" y="7665"/>
                </a:lnTo>
                <a:lnTo>
                  <a:pt x="16639" y="7698"/>
                </a:lnTo>
                <a:cubicBezTo>
                  <a:pt x="16639" y="7698"/>
                  <a:pt x="16596" y="7765"/>
                  <a:pt x="16596" y="7765"/>
                </a:cubicBezTo>
                <a:close/>
                <a:moveTo>
                  <a:pt x="16771" y="7702"/>
                </a:moveTo>
                <a:lnTo>
                  <a:pt x="16785" y="7748"/>
                </a:lnTo>
                <a:cubicBezTo>
                  <a:pt x="16784" y="7749"/>
                  <a:pt x="16783" y="7749"/>
                  <a:pt x="16783" y="7749"/>
                </a:cubicBezTo>
                <a:cubicBezTo>
                  <a:pt x="16771" y="7757"/>
                  <a:pt x="16764" y="7769"/>
                  <a:pt x="16761" y="7782"/>
                </a:cubicBezTo>
                <a:lnTo>
                  <a:pt x="16619" y="7768"/>
                </a:lnTo>
                <a:lnTo>
                  <a:pt x="16662" y="7698"/>
                </a:lnTo>
                <a:cubicBezTo>
                  <a:pt x="16662" y="7698"/>
                  <a:pt x="16771" y="7702"/>
                  <a:pt x="16771" y="7702"/>
                </a:cubicBezTo>
                <a:close/>
                <a:moveTo>
                  <a:pt x="16766" y="7683"/>
                </a:moveTo>
                <a:lnTo>
                  <a:pt x="16674" y="7680"/>
                </a:lnTo>
                <a:lnTo>
                  <a:pt x="16735" y="7582"/>
                </a:lnTo>
                <a:cubicBezTo>
                  <a:pt x="16735" y="7582"/>
                  <a:pt x="16766" y="7683"/>
                  <a:pt x="16766" y="7683"/>
                </a:cubicBezTo>
                <a:close/>
                <a:moveTo>
                  <a:pt x="16785" y="7684"/>
                </a:moveTo>
                <a:lnTo>
                  <a:pt x="16749" y="7561"/>
                </a:lnTo>
                <a:lnTo>
                  <a:pt x="16931" y="7271"/>
                </a:lnTo>
                <a:lnTo>
                  <a:pt x="16826" y="7685"/>
                </a:lnTo>
                <a:cubicBezTo>
                  <a:pt x="16826" y="7685"/>
                  <a:pt x="16785" y="7684"/>
                  <a:pt x="16785" y="7684"/>
                </a:cubicBezTo>
                <a:close/>
                <a:moveTo>
                  <a:pt x="16811" y="7743"/>
                </a:moveTo>
                <a:cubicBezTo>
                  <a:pt x="16808" y="7743"/>
                  <a:pt x="16806" y="7742"/>
                  <a:pt x="16803" y="7742"/>
                </a:cubicBezTo>
                <a:lnTo>
                  <a:pt x="16791" y="7702"/>
                </a:lnTo>
                <a:lnTo>
                  <a:pt x="16821" y="7703"/>
                </a:lnTo>
                <a:cubicBezTo>
                  <a:pt x="16821" y="7703"/>
                  <a:pt x="16811" y="7743"/>
                  <a:pt x="16811" y="7743"/>
                </a:cubicBezTo>
                <a:close/>
                <a:moveTo>
                  <a:pt x="16835" y="7724"/>
                </a:moveTo>
                <a:lnTo>
                  <a:pt x="16840" y="7704"/>
                </a:lnTo>
                <a:lnTo>
                  <a:pt x="16845" y="7704"/>
                </a:lnTo>
                <a:cubicBezTo>
                  <a:pt x="16845" y="7704"/>
                  <a:pt x="16835" y="7724"/>
                  <a:pt x="16835" y="7724"/>
                </a:cubicBezTo>
                <a:close/>
                <a:moveTo>
                  <a:pt x="16612" y="7779"/>
                </a:moveTo>
                <a:lnTo>
                  <a:pt x="16760" y="7794"/>
                </a:lnTo>
                <a:cubicBezTo>
                  <a:pt x="16761" y="7803"/>
                  <a:pt x="16762" y="7811"/>
                  <a:pt x="16767" y="7819"/>
                </a:cubicBezTo>
                <a:cubicBezTo>
                  <a:pt x="16769" y="7822"/>
                  <a:pt x="16771" y="7824"/>
                  <a:pt x="16773" y="7826"/>
                </a:cubicBezTo>
                <a:lnTo>
                  <a:pt x="15888" y="8932"/>
                </a:lnTo>
                <a:cubicBezTo>
                  <a:pt x="15888" y="8932"/>
                  <a:pt x="16612" y="7779"/>
                  <a:pt x="16612" y="7779"/>
                </a:cubicBezTo>
                <a:close/>
                <a:moveTo>
                  <a:pt x="15416" y="9266"/>
                </a:moveTo>
                <a:lnTo>
                  <a:pt x="15710" y="9109"/>
                </a:lnTo>
                <a:lnTo>
                  <a:pt x="15418" y="9340"/>
                </a:lnTo>
                <a:cubicBezTo>
                  <a:pt x="15418" y="9340"/>
                  <a:pt x="15416" y="9266"/>
                  <a:pt x="15416" y="9266"/>
                </a:cubicBezTo>
                <a:close/>
                <a:moveTo>
                  <a:pt x="13719" y="10684"/>
                </a:moveTo>
                <a:lnTo>
                  <a:pt x="13267" y="10442"/>
                </a:lnTo>
                <a:cubicBezTo>
                  <a:pt x="13270" y="10433"/>
                  <a:pt x="13270" y="10423"/>
                  <a:pt x="13267" y="10413"/>
                </a:cubicBezTo>
                <a:lnTo>
                  <a:pt x="15395" y="9277"/>
                </a:lnTo>
                <a:lnTo>
                  <a:pt x="15397" y="9357"/>
                </a:lnTo>
                <a:cubicBezTo>
                  <a:pt x="15397" y="9357"/>
                  <a:pt x="13719" y="10684"/>
                  <a:pt x="13719" y="10684"/>
                </a:cubicBezTo>
                <a:close/>
                <a:moveTo>
                  <a:pt x="15449" y="11589"/>
                </a:moveTo>
                <a:cubicBezTo>
                  <a:pt x="15444" y="11593"/>
                  <a:pt x="15440" y="11597"/>
                  <a:pt x="15436" y="11602"/>
                </a:cubicBezTo>
                <a:lnTo>
                  <a:pt x="13740" y="10695"/>
                </a:lnTo>
                <a:lnTo>
                  <a:pt x="15398" y="9383"/>
                </a:lnTo>
                <a:lnTo>
                  <a:pt x="15463" y="11584"/>
                </a:lnTo>
                <a:cubicBezTo>
                  <a:pt x="15458" y="11586"/>
                  <a:pt x="15454" y="11587"/>
                  <a:pt x="15449" y="11589"/>
                </a:cubicBezTo>
                <a:close/>
                <a:moveTo>
                  <a:pt x="13424" y="11364"/>
                </a:moveTo>
                <a:lnTo>
                  <a:pt x="15425" y="11635"/>
                </a:lnTo>
                <a:lnTo>
                  <a:pt x="13584" y="12132"/>
                </a:lnTo>
                <a:cubicBezTo>
                  <a:pt x="13584" y="12132"/>
                  <a:pt x="13424" y="11364"/>
                  <a:pt x="13424" y="11364"/>
                </a:cubicBezTo>
                <a:close/>
                <a:moveTo>
                  <a:pt x="13436" y="12172"/>
                </a:moveTo>
                <a:lnTo>
                  <a:pt x="12994" y="11335"/>
                </a:lnTo>
                <a:cubicBezTo>
                  <a:pt x="13003" y="11328"/>
                  <a:pt x="13009" y="11319"/>
                  <a:pt x="13012" y="11309"/>
                </a:cubicBezTo>
                <a:lnTo>
                  <a:pt x="13408" y="11362"/>
                </a:lnTo>
                <a:lnTo>
                  <a:pt x="13570" y="12136"/>
                </a:lnTo>
                <a:cubicBezTo>
                  <a:pt x="13570" y="12136"/>
                  <a:pt x="13436" y="12172"/>
                  <a:pt x="13436" y="12172"/>
                </a:cubicBezTo>
                <a:close/>
                <a:moveTo>
                  <a:pt x="13669" y="12612"/>
                </a:moveTo>
                <a:lnTo>
                  <a:pt x="13447" y="12192"/>
                </a:lnTo>
                <a:lnTo>
                  <a:pt x="13574" y="12157"/>
                </a:lnTo>
                <a:lnTo>
                  <a:pt x="13669" y="12612"/>
                </a:lnTo>
                <a:cubicBezTo>
                  <a:pt x="13669" y="12612"/>
                  <a:pt x="13669" y="12612"/>
                  <a:pt x="13669" y="12612"/>
                </a:cubicBezTo>
                <a:close/>
                <a:moveTo>
                  <a:pt x="13073" y="12293"/>
                </a:moveTo>
                <a:lnTo>
                  <a:pt x="13293" y="12233"/>
                </a:lnTo>
                <a:lnTo>
                  <a:pt x="13647" y="12628"/>
                </a:lnTo>
                <a:cubicBezTo>
                  <a:pt x="13642" y="12635"/>
                  <a:pt x="13640" y="12642"/>
                  <a:pt x="13639" y="12650"/>
                </a:cubicBezTo>
                <a:lnTo>
                  <a:pt x="13106" y="12633"/>
                </a:lnTo>
                <a:cubicBezTo>
                  <a:pt x="13106" y="12633"/>
                  <a:pt x="13073" y="12293"/>
                  <a:pt x="13073" y="12293"/>
                </a:cubicBezTo>
                <a:close/>
                <a:moveTo>
                  <a:pt x="13053" y="12298"/>
                </a:moveTo>
                <a:lnTo>
                  <a:pt x="13086" y="12632"/>
                </a:lnTo>
                <a:lnTo>
                  <a:pt x="11949" y="12596"/>
                </a:lnTo>
                <a:cubicBezTo>
                  <a:pt x="11949" y="12596"/>
                  <a:pt x="13053" y="12298"/>
                  <a:pt x="13053" y="12298"/>
                </a:cubicBezTo>
                <a:close/>
                <a:moveTo>
                  <a:pt x="11417" y="12436"/>
                </a:moveTo>
                <a:lnTo>
                  <a:pt x="11841" y="12593"/>
                </a:lnTo>
                <a:cubicBezTo>
                  <a:pt x="11840" y="12600"/>
                  <a:pt x="11840" y="12607"/>
                  <a:pt x="11842" y="12613"/>
                </a:cubicBezTo>
                <a:lnTo>
                  <a:pt x="10249" y="13288"/>
                </a:lnTo>
                <a:cubicBezTo>
                  <a:pt x="10249" y="13288"/>
                  <a:pt x="11417" y="12436"/>
                  <a:pt x="11417" y="12436"/>
                </a:cubicBezTo>
                <a:close/>
                <a:moveTo>
                  <a:pt x="9837" y="12651"/>
                </a:moveTo>
                <a:lnTo>
                  <a:pt x="10153" y="13285"/>
                </a:lnTo>
                <a:cubicBezTo>
                  <a:pt x="10151" y="13286"/>
                  <a:pt x="10150" y="13288"/>
                  <a:pt x="10148" y="13290"/>
                </a:cubicBezTo>
                <a:lnTo>
                  <a:pt x="9999" y="13197"/>
                </a:lnTo>
                <a:cubicBezTo>
                  <a:pt x="9999" y="13197"/>
                  <a:pt x="9837" y="12651"/>
                  <a:pt x="9837" y="12651"/>
                </a:cubicBezTo>
                <a:close/>
                <a:moveTo>
                  <a:pt x="9788" y="12553"/>
                </a:moveTo>
                <a:lnTo>
                  <a:pt x="9975" y="13182"/>
                </a:lnTo>
                <a:lnTo>
                  <a:pt x="8631" y="12343"/>
                </a:lnTo>
                <a:lnTo>
                  <a:pt x="9429" y="11833"/>
                </a:lnTo>
                <a:cubicBezTo>
                  <a:pt x="9429" y="11833"/>
                  <a:pt x="9788" y="12553"/>
                  <a:pt x="9788" y="12553"/>
                </a:cubicBezTo>
                <a:close/>
                <a:moveTo>
                  <a:pt x="9521" y="11774"/>
                </a:moveTo>
                <a:cubicBezTo>
                  <a:pt x="9532" y="11785"/>
                  <a:pt x="9546" y="11791"/>
                  <a:pt x="9561" y="11790"/>
                </a:cubicBezTo>
                <a:lnTo>
                  <a:pt x="9759" y="12454"/>
                </a:lnTo>
                <a:lnTo>
                  <a:pt x="9444" y="11823"/>
                </a:lnTo>
                <a:lnTo>
                  <a:pt x="9503" y="11785"/>
                </a:lnTo>
                <a:cubicBezTo>
                  <a:pt x="9503" y="11785"/>
                  <a:pt x="9521" y="11774"/>
                  <a:pt x="9521" y="11774"/>
                </a:cubicBezTo>
                <a:close/>
                <a:moveTo>
                  <a:pt x="10324" y="11629"/>
                </a:moveTo>
                <a:lnTo>
                  <a:pt x="9656" y="11716"/>
                </a:lnTo>
                <a:lnTo>
                  <a:pt x="10170" y="11532"/>
                </a:lnTo>
                <a:cubicBezTo>
                  <a:pt x="10170" y="11532"/>
                  <a:pt x="10324" y="11629"/>
                  <a:pt x="10324" y="11629"/>
                </a:cubicBezTo>
                <a:close/>
                <a:moveTo>
                  <a:pt x="10908" y="11552"/>
                </a:moveTo>
                <a:lnTo>
                  <a:pt x="10357" y="11624"/>
                </a:lnTo>
                <a:lnTo>
                  <a:pt x="10195" y="11523"/>
                </a:lnTo>
                <a:lnTo>
                  <a:pt x="11047" y="11218"/>
                </a:lnTo>
                <a:cubicBezTo>
                  <a:pt x="11047" y="11218"/>
                  <a:pt x="10908" y="11552"/>
                  <a:pt x="10908" y="11552"/>
                </a:cubicBezTo>
                <a:close/>
                <a:moveTo>
                  <a:pt x="11612" y="11016"/>
                </a:moveTo>
                <a:lnTo>
                  <a:pt x="11686" y="11451"/>
                </a:lnTo>
                <a:lnTo>
                  <a:pt x="10930" y="11549"/>
                </a:lnTo>
                <a:lnTo>
                  <a:pt x="11072" y="11209"/>
                </a:lnTo>
                <a:cubicBezTo>
                  <a:pt x="11072" y="11209"/>
                  <a:pt x="11612" y="11016"/>
                  <a:pt x="11612" y="11016"/>
                </a:cubicBezTo>
                <a:close/>
                <a:moveTo>
                  <a:pt x="11482" y="10246"/>
                </a:moveTo>
                <a:lnTo>
                  <a:pt x="11608" y="10993"/>
                </a:lnTo>
                <a:lnTo>
                  <a:pt x="11084" y="11180"/>
                </a:lnTo>
                <a:lnTo>
                  <a:pt x="11472" y="10246"/>
                </a:lnTo>
                <a:cubicBezTo>
                  <a:pt x="11475" y="10247"/>
                  <a:pt x="11479" y="10246"/>
                  <a:pt x="11482" y="10246"/>
                </a:cubicBezTo>
                <a:close/>
                <a:moveTo>
                  <a:pt x="11608" y="7898"/>
                </a:moveTo>
                <a:lnTo>
                  <a:pt x="11861" y="8535"/>
                </a:lnTo>
                <a:lnTo>
                  <a:pt x="11494" y="10102"/>
                </a:lnTo>
                <a:lnTo>
                  <a:pt x="11605" y="7898"/>
                </a:lnTo>
                <a:cubicBezTo>
                  <a:pt x="11606" y="7898"/>
                  <a:pt x="11607" y="7898"/>
                  <a:pt x="11608" y="7898"/>
                </a:cubicBezTo>
                <a:close/>
                <a:moveTo>
                  <a:pt x="11910" y="8325"/>
                </a:moveTo>
                <a:lnTo>
                  <a:pt x="11633" y="7884"/>
                </a:lnTo>
                <a:cubicBezTo>
                  <a:pt x="11640" y="7876"/>
                  <a:pt x="11645" y="7867"/>
                  <a:pt x="11647" y="7857"/>
                </a:cubicBezTo>
                <a:lnTo>
                  <a:pt x="12024" y="7837"/>
                </a:lnTo>
                <a:cubicBezTo>
                  <a:pt x="12024" y="7837"/>
                  <a:pt x="11910" y="8325"/>
                  <a:pt x="11910" y="8325"/>
                </a:cubicBezTo>
                <a:close/>
                <a:moveTo>
                  <a:pt x="12739" y="8735"/>
                </a:moveTo>
                <a:lnTo>
                  <a:pt x="12407" y="9116"/>
                </a:lnTo>
                <a:lnTo>
                  <a:pt x="11924" y="8348"/>
                </a:lnTo>
                <a:lnTo>
                  <a:pt x="12044" y="7836"/>
                </a:lnTo>
                <a:lnTo>
                  <a:pt x="12482" y="7813"/>
                </a:lnTo>
                <a:cubicBezTo>
                  <a:pt x="12482" y="7813"/>
                  <a:pt x="12739" y="8735"/>
                  <a:pt x="12739" y="8735"/>
                </a:cubicBezTo>
                <a:close/>
                <a:moveTo>
                  <a:pt x="12755" y="8716"/>
                </a:moveTo>
                <a:lnTo>
                  <a:pt x="12503" y="7812"/>
                </a:lnTo>
                <a:lnTo>
                  <a:pt x="13591" y="7754"/>
                </a:lnTo>
                <a:cubicBezTo>
                  <a:pt x="13591" y="7754"/>
                  <a:pt x="12755" y="8716"/>
                  <a:pt x="12755" y="8716"/>
                </a:cubicBezTo>
                <a:close/>
                <a:moveTo>
                  <a:pt x="13658" y="7750"/>
                </a:moveTo>
                <a:lnTo>
                  <a:pt x="13171" y="10209"/>
                </a:lnTo>
                <a:lnTo>
                  <a:pt x="12761" y="8739"/>
                </a:lnTo>
                <a:lnTo>
                  <a:pt x="13619" y="7752"/>
                </a:lnTo>
                <a:cubicBezTo>
                  <a:pt x="13619" y="7752"/>
                  <a:pt x="13658" y="7750"/>
                  <a:pt x="13658" y="7750"/>
                </a:cubicBezTo>
                <a:close/>
                <a:moveTo>
                  <a:pt x="14778" y="8385"/>
                </a:moveTo>
                <a:lnTo>
                  <a:pt x="13243" y="10383"/>
                </a:lnTo>
                <a:cubicBezTo>
                  <a:pt x="13241" y="10382"/>
                  <a:pt x="13239" y="10381"/>
                  <a:pt x="13238" y="10380"/>
                </a:cubicBezTo>
                <a:lnTo>
                  <a:pt x="13680" y="7749"/>
                </a:lnTo>
                <a:lnTo>
                  <a:pt x="13800" y="7743"/>
                </a:lnTo>
                <a:cubicBezTo>
                  <a:pt x="13800" y="7743"/>
                  <a:pt x="14778" y="8385"/>
                  <a:pt x="14778" y="8385"/>
                </a:cubicBezTo>
                <a:close/>
                <a:moveTo>
                  <a:pt x="15794" y="8999"/>
                </a:moveTo>
                <a:lnTo>
                  <a:pt x="15378" y="7694"/>
                </a:lnTo>
                <a:cubicBezTo>
                  <a:pt x="15380" y="7693"/>
                  <a:pt x="15382" y="7693"/>
                  <a:pt x="15383" y="7692"/>
                </a:cubicBezTo>
                <a:cubicBezTo>
                  <a:pt x="15395" y="7685"/>
                  <a:pt x="15402" y="7673"/>
                  <a:pt x="15405" y="7660"/>
                </a:cubicBezTo>
                <a:lnTo>
                  <a:pt x="16589" y="7777"/>
                </a:lnTo>
                <a:lnTo>
                  <a:pt x="15821" y="9002"/>
                </a:lnTo>
                <a:cubicBezTo>
                  <a:pt x="15812" y="8999"/>
                  <a:pt x="15803" y="8997"/>
                  <a:pt x="15794" y="8999"/>
                </a:cubicBezTo>
                <a:close/>
                <a:moveTo>
                  <a:pt x="15402" y="8795"/>
                </a:moveTo>
                <a:lnTo>
                  <a:pt x="15759" y="9030"/>
                </a:lnTo>
                <a:cubicBezTo>
                  <a:pt x="15755" y="9040"/>
                  <a:pt x="15755" y="9051"/>
                  <a:pt x="15758" y="9063"/>
                </a:cubicBezTo>
                <a:lnTo>
                  <a:pt x="15416" y="9245"/>
                </a:lnTo>
                <a:cubicBezTo>
                  <a:pt x="15416" y="9245"/>
                  <a:pt x="15402" y="8795"/>
                  <a:pt x="15402" y="8795"/>
                </a:cubicBezTo>
                <a:close/>
                <a:moveTo>
                  <a:pt x="15778" y="9005"/>
                </a:moveTo>
                <a:cubicBezTo>
                  <a:pt x="15774" y="9008"/>
                  <a:pt x="15771" y="9012"/>
                  <a:pt x="15768" y="9015"/>
                </a:cubicBezTo>
                <a:lnTo>
                  <a:pt x="15402" y="8775"/>
                </a:lnTo>
                <a:lnTo>
                  <a:pt x="15370" y="7707"/>
                </a:lnTo>
                <a:lnTo>
                  <a:pt x="15783" y="9003"/>
                </a:lnTo>
                <a:cubicBezTo>
                  <a:pt x="15781" y="9004"/>
                  <a:pt x="15780" y="9004"/>
                  <a:pt x="15778" y="9005"/>
                </a:cubicBezTo>
                <a:close/>
                <a:moveTo>
                  <a:pt x="15336" y="7693"/>
                </a:moveTo>
                <a:cubicBezTo>
                  <a:pt x="15340" y="7695"/>
                  <a:pt x="15344" y="7697"/>
                  <a:pt x="15348" y="7698"/>
                </a:cubicBezTo>
                <a:lnTo>
                  <a:pt x="15380" y="8760"/>
                </a:lnTo>
                <a:lnTo>
                  <a:pt x="14806" y="8383"/>
                </a:lnTo>
                <a:cubicBezTo>
                  <a:pt x="14806" y="8383"/>
                  <a:pt x="15336" y="7693"/>
                  <a:pt x="15336" y="7693"/>
                </a:cubicBezTo>
                <a:close/>
                <a:moveTo>
                  <a:pt x="13259" y="10397"/>
                </a:moveTo>
                <a:cubicBezTo>
                  <a:pt x="13259" y="10397"/>
                  <a:pt x="13258" y="10396"/>
                  <a:pt x="13258" y="10396"/>
                </a:cubicBezTo>
                <a:lnTo>
                  <a:pt x="14796" y="8397"/>
                </a:lnTo>
                <a:lnTo>
                  <a:pt x="15380" y="8781"/>
                </a:lnTo>
                <a:lnTo>
                  <a:pt x="15394" y="9257"/>
                </a:lnTo>
                <a:cubicBezTo>
                  <a:pt x="15394" y="9257"/>
                  <a:pt x="13259" y="10397"/>
                  <a:pt x="13259" y="10397"/>
                </a:cubicBezTo>
                <a:close/>
                <a:moveTo>
                  <a:pt x="13344" y="10981"/>
                </a:moveTo>
                <a:lnTo>
                  <a:pt x="13238" y="10474"/>
                </a:lnTo>
                <a:cubicBezTo>
                  <a:pt x="13241" y="10473"/>
                  <a:pt x="13244" y="10472"/>
                  <a:pt x="13247" y="10471"/>
                </a:cubicBezTo>
                <a:cubicBezTo>
                  <a:pt x="13252" y="10467"/>
                  <a:pt x="13256" y="10463"/>
                  <a:pt x="13260" y="10458"/>
                </a:cubicBezTo>
                <a:lnTo>
                  <a:pt x="13705" y="10696"/>
                </a:lnTo>
                <a:cubicBezTo>
                  <a:pt x="13705" y="10696"/>
                  <a:pt x="13344" y="10981"/>
                  <a:pt x="13344" y="10981"/>
                </a:cubicBezTo>
                <a:close/>
                <a:moveTo>
                  <a:pt x="13010" y="11273"/>
                </a:moveTo>
                <a:lnTo>
                  <a:pt x="13336" y="11015"/>
                </a:lnTo>
                <a:lnTo>
                  <a:pt x="13405" y="11345"/>
                </a:lnTo>
                <a:lnTo>
                  <a:pt x="13014" y="11292"/>
                </a:lnTo>
                <a:cubicBezTo>
                  <a:pt x="13014" y="11285"/>
                  <a:pt x="13012" y="11279"/>
                  <a:pt x="13010" y="11273"/>
                </a:cubicBezTo>
                <a:close/>
                <a:moveTo>
                  <a:pt x="13040" y="11951"/>
                </a:moveTo>
                <a:lnTo>
                  <a:pt x="13276" y="12215"/>
                </a:lnTo>
                <a:lnTo>
                  <a:pt x="13071" y="12270"/>
                </a:lnTo>
                <a:cubicBezTo>
                  <a:pt x="13071" y="12270"/>
                  <a:pt x="13040" y="11951"/>
                  <a:pt x="13040" y="11951"/>
                </a:cubicBezTo>
                <a:close/>
                <a:moveTo>
                  <a:pt x="11931" y="12578"/>
                </a:moveTo>
                <a:cubicBezTo>
                  <a:pt x="11930" y="12577"/>
                  <a:pt x="11930" y="12576"/>
                  <a:pt x="11929" y="12575"/>
                </a:cubicBezTo>
                <a:cubicBezTo>
                  <a:pt x="11928" y="12572"/>
                  <a:pt x="11926" y="12570"/>
                  <a:pt x="11924" y="12568"/>
                </a:cubicBezTo>
                <a:lnTo>
                  <a:pt x="12724" y="11598"/>
                </a:lnTo>
                <a:lnTo>
                  <a:pt x="13017" y="11926"/>
                </a:lnTo>
                <a:lnTo>
                  <a:pt x="13051" y="12276"/>
                </a:lnTo>
                <a:cubicBezTo>
                  <a:pt x="13051" y="12276"/>
                  <a:pt x="11931" y="12578"/>
                  <a:pt x="11931" y="12578"/>
                </a:cubicBezTo>
                <a:close/>
                <a:moveTo>
                  <a:pt x="11505" y="12372"/>
                </a:moveTo>
                <a:lnTo>
                  <a:pt x="11806" y="12562"/>
                </a:lnTo>
                <a:lnTo>
                  <a:pt x="11434" y="12424"/>
                </a:lnTo>
                <a:cubicBezTo>
                  <a:pt x="11434" y="12424"/>
                  <a:pt x="11505" y="12372"/>
                  <a:pt x="11505" y="12372"/>
                </a:cubicBezTo>
                <a:close/>
                <a:moveTo>
                  <a:pt x="10682" y="12147"/>
                </a:moveTo>
                <a:lnTo>
                  <a:pt x="10779" y="11915"/>
                </a:lnTo>
                <a:lnTo>
                  <a:pt x="11486" y="12361"/>
                </a:lnTo>
                <a:lnTo>
                  <a:pt x="11411" y="12416"/>
                </a:lnTo>
                <a:cubicBezTo>
                  <a:pt x="11411" y="12416"/>
                  <a:pt x="10682" y="12147"/>
                  <a:pt x="10682" y="12147"/>
                </a:cubicBezTo>
                <a:close/>
                <a:moveTo>
                  <a:pt x="10215" y="13288"/>
                </a:moveTo>
                <a:cubicBezTo>
                  <a:pt x="10214" y="13286"/>
                  <a:pt x="10213" y="13284"/>
                  <a:pt x="10211" y="13282"/>
                </a:cubicBezTo>
                <a:lnTo>
                  <a:pt x="10676" y="12162"/>
                </a:lnTo>
                <a:lnTo>
                  <a:pt x="11394" y="12428"/>
                </a:lnTo>
                <a:cubicBezTo>
                  <a:pt x="11394" y="12428"/>
                  <a:pt x="10215" y="13288"/>
                  <a:pt x="10215" y="13288"/>
                </a:cubicBezTo>
                <a:close/>
                <a:moveTo>
                  <a:pt x="10113" y="13164"/>
                </a:moveTo>
                <a:lnTo>
                  <a:pt x="9807" y="12552"/>
                </a:lnTo>
                <a:lnTo>
                  <a:pt x="9616" y="11910"/>
                </a:lnTo>
                <a:cubicBezTo>
                  <a:pt x="9616" y="11910"/>
                  <a:pt x="10113" y="13164"/>
                  <a:pt x="10113" y="13164"/>
                </a:cubicBezTo>
                <a:close/>
                <a:moveTo>
                  <a:pt x="10171" y="13276"/>
                </a:moveTo>
                <a:lnTo>
                  <a:pt x="9580" y="11783"/>
                </a:lnTo>
                <a:cubicBezTo>
                  <a:pt x="9580" y="11783"/>
                  <a:pt x="9581" y="11783"/>
                  <a:pt x="9581" y="11783"/>
                </a:cubicBezTo>
                <a:cubicBezTo>
                  <a:pt x="9589" y="11778"/>
                  <a:pt x="9594" y="11771"/>
                  <a:pt x="9598" y="11764"/>
                </a:cubicBezTo>
                <a:lnTo>
                  <a:pt x="10658" y="12156"/>
                </a:lnTo>
                <a:lnTo>
                  <a:pt x="10193" y="13274"/>
                </a:lnTo>
                <a:cubicBezTo>
                  <a:pt x="10185" y="13273"/>
                  <a:pt x="10178" y="13274"/>
                  <a:pt x="10171" y="13276"/>
                </a:cubicBezTo>
                <a:close/>
                <a:moveTo>
                  <a:pt x="10762" y="11904"/>
                </a:moveTo>
                <a:lnTo>
                  <a:pt x="10664" y="12140"/>
                </a:lnTo>
                <a:lnTo>
                  <a:pt x="9603" y="11748"/>
                </a:lnTo>
                <a:cubicBezTo>
                  <a:pt x="9603" y="11747"/>
                  <a:pt x="9603" y="11745"/>
                  <a:pt x="9603" y="11744"/>
                </a:cubicBezTo>
                <a:lnTo>
                  <a:pt x="10352" y="11646"/>
                </a:lnTo>
                <a:cubicBezTo>
                  <a:pt x="10352" y="11646"/>
                  <a:pt x="10762" y="11904"/>
                  <a:pt x="10762" y="11904"/>
                </a:cubicBezTo>
                <a:close/>
                <a:moveTo>
                  <a:pt x="10770" y="11885"/>
                </a:moveTo>
                <a:lnTo>
                  <a:pt x="10384" y="11642"/>
                </a:lnTo>
                <a:lnTo>
                  <a:pt x="10899" y="11575"/>
                </a:lnTo>
                <a:cubicBezTo>
                  <a:pt x="10899" y="11575"/>
                  <a:pt x="10770" y="11885"/>
                  <a:pt x="10770" y="11885"/>
                </a:cubicBezTo>
                <a:close/>
                <a:moveTo>
                  <a:pt x="11801" y="12131"/>
                </a:moveTo>
                <a:lnTo>
                  <a:pt x="11505" y="12347"/>
                </a:lnTo>
                <a:lnTo>
                  <a:pt x="10787" y="11895"/>
                </a:lnTo>
                <a:lnTo>
                  <a:pt x="10921" y="11572"/>
                </a:lnTo>
                <a:lnTo>
                  <a:pt x="11689" y="11471"/>
                </a:lnTo>
                <a:cubicBezTo>
                  <a:pt x="11689" y="11471"/>
                  <a:pt x="11801" y="12131"/>
                  <a:pt x="11801" y="12131"/>
                </a:cubicBezTo>
                <a:close/>
                <a:moveTo>
                  <a:pt x="12514" y="11364"/>
                </a:moveTo>
                <a:lnTo>
                  <a:pt x="12587" y="11446"/>
                </a:lnTo>
                <a:lnTo>
                  <a:pt x="12463" y="11648"/>
                </a:lnTo>
                <a:lnTo>
                  <a:pt x="11815" y="12121"/>
                </a:lnTo>
                <a:lnTo>
                  <a:pt x="11705" y="11469"/>
                </a:lnTo>
                <a:cubicBezTo>
                  <a:pt x="11705" y="11469"/>
                  <a:pt x="12514" y="11364"/>
                  <a:pt x="12514" y="11364"/>
                </a:cubicBezTo>
                <a:close/>
                <a:moveTo>
                  <a:pt x="12059" y="10856"/>
                </a:moveTo>
                <a:lnTo>
                  <a:pt x="12497" y="11345"/>
                </a:lnTo>
                <a:lnTo>
                  <a:pt x="11701" y="11449"/>
                </a:lnTo>
                <a:lnTo>
                  <a:pt x="11627" y="11010"/>
                </a:lnTo>
                <a:cubicBezTo>
                  <a:pt x="11627" y="11010"/>
                  <a:pt x="12059" y="10856"/>
                  <a:pt x="12059" y="10856"/>
                </a:cubicBezTo>
                <a:close/>
                <a:moveTo>
                  <a:pt x="11507" y="10240"/>
                </a:moveTo>
                <a:lnTo>
                  <a:pt x="12042" y="10837"/>
                </a:lnTo>
                <a:lnTo>
                  <a:pt x="11623" y="10987"/>
                </a:lnTo>
                <a:lnTo>
                  <a:pt x="11498" y="10243"/>
                </a:lnTo>
                <a:cubicBezTo>
                  <a:pt x="11501" y="10242"/>
                  <a:pt x="11504" y="10242"/>
                  <a:pt x="11507" y="10240"/>
                </a:cubicBezTo>
                <a:close/>
                <a:moveTo>
                  <a:pt x="12190" y="9366"/>
                </a:moveTo>
                <a:lnTo>
                  <a:pt x="11506" y="10153"/>
                </a:lnTo>
                <a:cubicBezTo>
                  <a:pt x="11505" y="10152"/>
                  <a:pt x="11503" y="10152"/>
                  <a:pt x="11502" y="10151"/>
                </a:cubicBezTo>
                <a:lnTo>
                  <a:pt x="11873" y="8566"/>
                </a:lnTo>
                <a:cubicBezTo>
                  <a:pt x="11873" y="8566"/>
                  <a:pt x="12190" y="9366"/>
                  <a:pt x="12190" y="9366"/>
                </a:cubicBezTo>
                <a:close/>
                <a:moveTo>
                  <a:pt x="13147" y="10327"/>
                </a:moveTo>
                <a:lnTo>
                  <a:pt x="13131" y="10409"/>
                </a:lnTo>
                <a:lnTo>
                  <a:pt x="12598" y="10338"/>
                </a:lnTo>
                <a:lnTo>
                  <a:pt x="12214" y="9369"/>
                </a:lnTo>
                <a:lnTo>
                  <a:pt x="12406" y="9148"/>
                </a:lnTo>
                <a:cubicBezTo>
                  <a:pt x="12406" y="9148"/>
                  <a:pt x="13147" y="10327"/>
                  <a:pt x="13147" y="10327"/>
                </a:cubicBezTo>
                <a:close/>
                <a:moveTo>
                  <a:pt x="13152" y="10301"/>
                </a:moveTo>
                <a:lnTo>
                  <a:pt x="12419" y="9133"/>
                </a:lnTo>
                <a:lnTo>
                  <a:pt x="12745" y="8758"/>
                </a:lnTo>
                <a:lnTo>
                  <a:pt x="13162" y="10253"/>
                </a:lnTo>
                <a:cubicBezTo>
                  <a:pt x="13162" y="10253"/>
                  <a:pt x="13152" y="10301"/>
                  <a:pt x="13152" y="10301"/>
                </a:cubicBezTo>
                <a:close/>
                <a:moveTo>
                  <a:pt x="13194" y="10366"/>
                </a:moveTo>
                <a:lnTo>
                  <a:pt x="13169" y="10327"/>
                </a:lnTo>
                <a:lnTo>
                  <a:pt x="13174" y="10297"/>
                </a:lnTo>
                <a:cubicBezTo>
                  <a:pt x="13174" y="10297"/>
                  <a:pt x="13194" y="10366"/>
                  <a:pt x="13194" y="10366"/>
                </a:cubicBezTo>
                <a:close/>
                <a:moveTo>
                  <a:pt x="13218" y="10377"/>
                </a:moveTo>
                <a:lnTo>
                  <a:pt x="13183" y="10253"/>
                </a:lnTo>
                <a:lnTo>
                  <a:pt x="13571" y="8297"/>
                </a:lnTo>
                <a:lnTo>
                  <a:pt x="13221" y="10378"/>
                </a:lnTo>
                <a:cubicBezTo>
                  <a:pt x="13220" y="10378"/>
                  <a:pt x="13219" y="10377"/>
                  <a:pt x="13218" y="10377"/>
                </a:cubicBezTo>
                <a:close/>
                <a:moveTo>
                  <a:pt x="12940" y="11336"/>
                </a:moveTo>
                <a:cubicBezTo>
                  <a:pt x="12946" y="11341"/>
                  <a:pt x="12953" y="11343"/>
                  <a:pt x="12961" y="11344"/>
                </a:cubicBezTo>
                <a:lnTo>
                  <a:pt x="13014" y="11893"/>
                </a:lnTo>
                <a:lnTo>
                  <a:pt x="12736" y="11583"/>
                </a:lnTo>
                <a:cubicBezTo>
                  <a:pt x="12736" y="11583"/>
                  <a:pt x="12940" y="11336"/>
                  <a:pt x="12940" y="11336"/>
                </a:cubicBezTo>
                <a:close/>
                <a:moveTo>
                  <a:pt x="12678" y="11517"/>
                </a:moveTo>
                <a:lnTo>
                  <a:pt x="12919" y="11341"/>
                </a:lnTo>
                <a:lnTo>
                  <a:pt x="12728" y="11573"/>
                </a:lnTo>
                <a:cubicBezTo>
                  <a:pt x="12728" y="11573"/>
                  <a:pt x="12678" y="11517"/>
                  <a:pt x="12678" y="11517"/>
                </a:cubicBezTo>
                <a:close/>
                <a:moveTo>
                  <a:pt x="12648" y="11513"/>
                </a:moveTo>
                <a:lnTo>
                  <a:pt x="12497" y="11623"/>
                </a:lnTo>
                <a:lnTo>
                  <a:pt x="12599" y="11458"/>
                </a:lnTo>
                <a:cubicBezTo>
                  <a:pt x="12599" y="11458"/>
                  <a:pt x="12648" y="11513"/>
                  <a:pt x="12648" y="11513"/>
                </a:cubicBezTo>
                <a:close/>
                <a:moveTo>
                  <a:pt x="12669" y="11343"/>
                </a:moveTo>
                <a:lnTo>
                  <a:pt x="12921" y="11310"/>
                </a:lnTo>
                <a:cubicBezTo>
                  <a:pt x="12922" y="11311"/>
                  <a:pt x="12922" y="11312"/>
                  <a:pt x="12922" y="11313"/>
                </a:cubicBezTo>
                <a:lnTo>
                  <a:pt x="12664" y="11502"/>
                </a:lnTo>
                <a:lnTo>
                  <a:pt x="12609" y="11441"/>
                </a:lnTo>
                <a:cubicBezTo>
                  <a:pt x="12609" y="11441"/>
                  <a:pt x="12669" y="11343"/>
                  <a:pt x="12669" y="11343"/>
                </a:cubicBezTo>
                <a:close/>
                <a:moveTo>
                  <a:pt x="12648" y="11346"/>
                </a:moveTo>
                <a:lnTo>
                  <a:pt x="12598" y="11428"/>
                </a:lnTo>
                <a:lnTo>
                  <a:pt x="12538" y="11361"/>
                </a:lnTo>
                <a:cubicBezTo>
                  <a:pt x="12538" y="11361"/>
                  <a:pt x="12648" y="11346"/>
                  <a:pt x="12648" y="11346"/>
                </a:cubicBezTo>
                <a:close/>
                <a:moveTo>
                  <a:pt x="12263" y="10783"/>
                </a:moveTo>
                <a:lnTo>
                  <a:pt x="12766" y="11154"/>
                </a:lnTo>
                <a:lnTo>
                  <a:pt x="12662" y="11323"/>
                </a:lnTo>
                <a:lnTo>
                  <a:pt x="12520" y="11342"/>
                </a:lnTo>
                <a:lnTo>
                  <a:pt x="12079" y="10849"/>
                </a:lnTo>
                <a:cubicBezTo>
                  <a:pt x="12079" y="10849"/>
                  <a:pt x="12263" y="10783"/>
                  <a:pt x="12263" y="10783"/>
                </a:cubicBezTo>
                <a:close/>
                <a:moveTo>
                  <a:pt x="12241" y="10766"/>
                </a:moveTo>
                <a:lnTo>
                  <a:pt x="12062" y="10830"/>
                </a:lnTo>
                <a:lnTo>
                  <a:pt x="11543" y="10250"/>
                </a:lnTo>
                <a:cubicBezTo>
                  <a:pt x="11543" y="10250"/>
                  <a:pt x="12241" y="10766"/>
                  <a:pt x="12241" y="10766"/>
                </a:cubicBezTo>
                <a:close/>
                <a:moveTo>
                  <a:pt x="11529" y="10196"/>
                </a:moveTo>
                <a:cubicBezTo>
                  <a:pt x="11529" y="10187"/>
                  <a:pt x="11528" y="10178"/>
                  <a:pt x="11523" y="10170"/>
                </a:cubicBezTo>
                <a:cubicBezTo>
                  <a:pt x="11522" y="10169"/>
                  <a:pt x="11521" y="10168"/>
                  <a:pt x="11520" y="10167"/>
                </a:cubicBezTo>
                <a:lnTo>
                  <a:pt x="12199" y="9387"/>
                </a:lnTo>
                <a:lnTo>
                  <a:pt x="12575" y="10335"/>
                </a:lnTo>
                <a:cubicBezTo>
                  <a:pt x="12575" y="10335"/>
                  <a:pt x="11529" y="10196"/>
                  <a:pt x="11529" y="10196"/>
                </a:cubicBezTo>
                <a:close/>
                <a:moveTo>
                  <a:pt x="12683" y="10608"/>
                </a:moveTo>
                <a:lnTo>
                  <a:pt x="12256" y="10761"/>
                </a:lnTo>
                <a:lnTo>
                  <a:pt x="11524" y="10219"/>
                </a:lnTo>
                <a:cubicBezTo>
                  <a:pt x="11526" y="10216"/>
                  <a:pt x="11528" y="10213"/>
                  <a:pt x="11528" y="10210"/>
                </a:cubicBezTo>
                <a:lnTo>
                  <a:pt x="12580" y="10349"/>
                </a:lnTo>
                <a:cubicBezTo>
                  <a:pt x="12580" y="10349"/>
                  <a:pt x="12683" y="10608"/>
                  <a:pt x="12683" y="10608"/>
                </a:cubicBezTo>
                <a:close/>
                <a:moveTo>
                  <a:pt x="13123" y="10450"/>
                </a:moveTo>
                <a:lnTo>
                  <a:pt x="12703" y="10601"/>
                </a:lnTo>
                <a:lnTo>
                  <a:pt x="12604" y="10352"/>
                </a:lnTo>
                <a:lnTo>
                  <a:pt x="13128" y="10422"/>
                </a:lnTo>
                <a:cubicBezTo>
                  <a:pt x="13128" y="10422"/>
                  <a:pt x="13123" y="10450"/>
                  <a:pt x="13123" y="10450"/>
                </a:cubicBezTo>
                <a:close/>
                <a:moveTo>
                  <a:pt x="13173" y="10428"/>
                </a:moveTo>
                <a:cubicBezTo>
                  <a:pt x="13173" y="10429"/>
                  <a:pt x="13173" y="10431"/>
                  <a:pt x="13173" y="10432"/>
                </a:cubicBezTo>
                <a:lnTo>
                  <a:pt x="13146" y="10442"/>
                </a:lnTo>
                <a:lnTo>
                  <a:pt x="13149" y="10425"/>
                </a:lnTo>
                <a:cubicBezTo>
                  <a:pt x="13149" y="10425"/>
                  <a:pt x="13173" y="10428"/>
                  <a:pt x="13173" y="10428"/>
                </a:cubicBezTo>
                <a:close/>
                <a:moveTo>
                  <a:pt x="13174" y="10414"/>
                </a:moveTo>
                <a:lnTo>
                  <a:pt x="13152" y="10411"/>
                </a:lnTo>
                <a:lnTo>
                  <a:pt x="13163" y="10353"/>
                </a:lnTo>
                <a:lnTo>
                  <a:pt x="13188" y="10392"/>
                </a:lnTo>
                <a:cubicBezTo>
                  <a:pt x="13181" y="10398"/>
                  <a:pt x="13177" y="10406"/>
                  <a:pt x="13174" y="10414"/>
                </a:cubicBezTo>
                <a:close/>
                <a:moveTo>
                  <a:pt x="13109" y="10625"/>
                </a:moveTo>
                <a:lnTo>
                  <a:pt x="13203" y="10473"/>
                </a:lnTo>
                <a:cubicBezTo>
                  <a:pt x="13203" y="10473"/>
                  <a:pt x="13203" y="10473"/>
                  <a:pt x="13203" y="10474"/>
                </a:cubicBezTo>
                <a:lnTo>
                  <a:pt x="13009" y="11133"/>
                </a:lnTo>
                <a:cubicBezTo>
                  <a:pt x="13009" y="11133"/>
                  <a:pt x="13109" y="10625"/>
                  <a:pt x="13109" y="10625"/>
                </a:cubicBezTo>
                <a:close/>
                <a:moveTo>
                  <a:pt x="12855" y="11041"/>
                </a:moveTo>
                <a:lnTo>
                  <a:pt x="12939" y="11253"/>
                </a:lnTo>
                <a:cubicBezTo>
                  <a:pt x="12936" y="11255"/>
                  <a:pt x="12934" y="11257"/>
                  <a:pt x="12932" y="11260"/>
                </a:cubicBezTo>
                <a:lnTo>
                  <a:pt x="12786" y="11152"/>
                </a:lnTo>
                <a:cubicBezTo>
                  <a:pt x="12786" y="11152"/>
                  <a:pt x="12855" y="11041"/>
                  <a:pt x="12855" y="11041"/>
                </a:cubicBezTo>
                <a:close/>
                <a:moveTo>
                  <a:pt x="12847" y="11022"/>
                </a:moveTo>
                <a:lnTo>
                  <a:pt x="12773" y="11143"/>
                </a:lnTo>
                <a:lnTo>
                  <a:pt x="12278" y="10777"/>
                </a:lnTo>
                <a:lnTo>
                  <a:pt x="12691" y="10629"/>
                </a:lnTo>
                <a:cubicBezTo>
                  <a:pt x="12691" y="10629"/>
                  <a:pt x="12847" y="11022"/>
                  <a:pt x="12847" y="11022"/>
                </a:cubicBezTo>
                <a:close/>
                <a:moveTo>
                  <a:pt x="12958" y="11244"/>
                </a:moveTo>
                <a:lnTo>
                  <a:pt x="12868" y="11019"/>
                </a:lnTo>
                <a:lnTo>
                  <a:pt x="13078" y="10676"/>
                </a:lnTo>
                <a:lnTo>
                  <a:pt x="12966" y="11244"/>
                </a:lnTo>
                <a:cubicBezTo>
                  <a:pt x="12963" y="11244"/>
                  <a:pt x="12960" y="11244"/>
                  <a:pt x="12958" y="11244"/>
                </a:cubicBezTo>
                <a:close/>
                <a:moveTo>
                  <a:pt x="13087" y="10630"/>
                </a:moveTo>
                <a:lnTo>
                  <a:pt x="12861" y="11000"/>
                </a:lnTo>
                <a:lnTo>
                  <a:pt x="12711" y="10622"/>
                </a:lnTo>
                <a:lnTo>
                  <a:pt x="13118" y="10477"/>
                </a:lnTo>
                <a:cubicBezTo>
                  <a:pt x="13118" y="10477"/>
                  <a:pt x="13087" y="10630"/>
                  <a:pt x="13087" y="10630"/>
                </a:cubicBezTo>
                <a:close/>
                <a:moveTo>
                  <a:pt x="13180" y="10454"/>
                </a:moveTo>
                <a:cubicBezTo>
                  <a:pt x="13182" y="10458"/>
                  <a:pt x="13186" y="10461"/>
                  <a:pt x="13189" y="10464"/>
                </a:cubicBezTo>
                <a:lnTo>
                  <a:pt x="13118" y="10579"/>
                </a:lnTo>
                <a:lnTo>
                  <a:pt x="13140" y="10469"/>
                </a:lnTo>
                <a:cubicBezTo>
                  <a:pt x="13140" y="10469"/>
                  <a:pt x="13180" y="10454"/>
                  <a:pt x="13180" y="10454"/>
                </a:cubicBezTo>
                <a:close/>
                <a:moveTo>
                  <a:pt x="12683" y="11320"/>
                </a:moveTo>
                <a:lnTo>
                  <a:pt x="12779" y="11164"/>
                </a:lnTo>
                <a:lnTo>
                  <a:pt x="12924" y="11271"/>
                </a:lnTo>
                <a:cubicBezTo>
                  <a:pt x="12921" y="11277"/>
                  <a:pt x="12919" y="11283"/>
                  <a:pt x="12919" y="11290"/>
                </a:cubicBezTo>
                <a:cubicBezTo>
                  <a:pt x="12919" y="11290"/>
                  <a:pt x="12683" y="11320"/>
                  <a:pt x="12683" y="11320"/>
                </a:cubicBezTo>
                <a:close/>
                <a:moveTo>
                  <a:pt x="12469" y="11669"/>
                </a:moveTo>
                <a:lnTo>
                  <a:pt x="12662" y="11529"/>
                </a:lnTo>
                <a:lnTo>
                  <a:pt x="12715" y="11588"/>
                </a:lnTo>
                <a:lnTo>
                  <a:pt x="11949" y="12517"/>
                </a:lnTo>
                <a:cubicBezTo>
                  <a:pt x="11949" y="12517"/>
                  <a:pt x="12469" y="11669"/>
                  <a:pt x="12469" y="11669"/>
                </a:cubicBezTo>
                <a:close/>
                <a:moveTo>
                  <a:pt x="11872" y="12554"/>
                </a:moveTo>
                <a:cubicBezTo>
                  <a:pt x="11869" y="12555"/>
                  <a:pt x="11866" y="12556"/>
                  <a:pt x="11863" y="12558"/>
                </a:cubicBezTo>
                <a:cubicBezTo>
                  <a:pt x="11859" y="12560"/>
                  <a:pt x="11856" y="12564"/>
                  <a:pt x="11853" y="12567"/>
                </a:cubicBezTo>
                <a:lnTo>
                  <a:pt x="11523" y="12359"/>
                </a:lnTo>
                <a:lnTo>
                  <a:pt x="11805" y="12154"/>
                </a:lnTo>
                <a:cubicBezTo>
                  <a:pt x="11805" y="12154"/>
                  <a:pt x="11872" y="12554"/>
                  <a:pt x="11872" y="12554"/>
                </a:cubicBezTo>
                <a:close/>
                <a:moveTo>
                  <a:pt x="11887" y="12551"/>
                </a:moveTo>
                <a:lnTo>
                  <a:pt x="11818" y="12144"/>
                </a:lnTo>
                <a:lnTo>
                  <a:pt x="12435" y="11694"/>
                </a:lnTo>
                <a:lnTo>
                  <a:pt x="11907" y="12555"/>
                </a:lnTo>
                <a:cubicBezTo>
                  <a:pt x="11901" y="12553"/>
                  <a:pt x="11894" y="12551"/>
                  <a:pt x="11887" y="12551"/>
                </a:cubicBezTo>
                <a:close/>
                <a:moveTo>
                  <a:pt x="12997" y="11256"/>
                </a:moveTo>
                <a:cubicBezTo>
                  <a:pt x="12994" y="11253"/>
                  <a:pt x="12990" y="11250"/>
                  <a:pt x="12986" y="11249"/>
                </a:cubicBezTo>
                <a:lnTo>
                  <a:pt x="12989" y="11234"/>
                </a:lnTo>
                <a:lnTo>
                  <a:pt x="13211" y="10477"/>
                </a:lnTo>
                <a:cubicBezTo>
                  <a:pt x="13216" y="10478"/>
                  <a:pt x="13220" y="10478"/>
                  <a:pt x="13224" y="10477"/>
                </a:cubicBezTo>
                <a:lnTo>
                  <a:pt x="13331" y="10992"/>
                </a:lnTo>
                <a:cubicBezTo>
                  <a:pt x="13331" y="10992"/>
                  <a:pt x="12997" y="11256"/>
                  <a:pt x="12997" y="11256"/>
                </a:cubicBezTo>
                <a:close/>
                <a:moveTo>
                  <a:pt x="11869" y="8500"/>
                </a:moveTo>
                <a:lnTo>
                  <a:pt x="11648" y="7943"/>
                </a:lnTo>
                <a:lnTo>
                  <a:pt x="11904" y="8350"/>
                </a:lnTo>
                <a:cubicBezTo>
                  <a:pt x="11904" y="8350"/>
                  <a:pt x="11869" y="8500"/>
                  <a:pt x="11869" y="8500"/>
                </a:cubicBezTo>
                <a:close/>
                <a:moveTo>
                  <a:pt x="11919" y="8373"/>
                </a:moveTo>
                <a:lnTo>
                  <a:pt x="12395" y="9130"/>
                </a:lnTo>
                <a:lnTo>
                  <a:pt x="12206" y="9348"/>
                </a:lnTo>
                <a:lnTo>
                  <a:pt x="11882" y="8531"/>
                </a:lnTo>
                <a:cubicBezTo>
                  <a:pt x="11882" y="8531"/>
                  <a:pt x="11919" y="8373"/>
                  <a:pt x="11919" y="8373"/>
                </a:cubicBezTo>
                <a:close/>
                <a:moveTo>
                  <a:pt x="13435" y="12195"/>
                </a:moveTo>
                <a:lnTo>
                  <a:pt x="13651" y="12604"/>
                </a:lnTo>
                <a:lnTo>
                  <a:pt x="13314" y="12228"/>
                </a:lnTo>
                <a:cubicBezTo>
                  <a:pt x="13314" y="12228"/>
                  <a:pt x="13435" y="12195"/>
                  <a:pt x="13435" y="12195"/>
                </a:cubicBezTo>
                <a:close/>
                <a:moveTo>
                  <a:pt x="13298" y="12209"/>
                </a:moveTo>
                <a:lnTo>
                  <a:pt x="13037" y="11918"/>
                </a:lnTo>
                <a:lnTo>
                  <a:pt x="12981" y="11341"/>
                </a:lnTo>
                <a:cubicBezTo>
                  <a:pt x="12982" y="11341"/>
                  <a:pt x="12983" y="11341"/>
                  <a:pt x="12984" y="11340"/>
                </a:cubicBezTo>
                <a:lnTo>
                  <a:pt x="13424" y="12175"/>
                </a:lnTo>
                <a:cubicBezTo>
                  <a:pt x="13424" y="12175"/>
                  <a:pt x="13298" y="12209"/>
                  <a:pt x="13298" y="12209"/>
                </a:cubicBezTo>
                <a:close/>
                <a:moveTo>
                  <a:pt x="15429" y="11618"/>
                </a:moveTo>
                <a:lnTo>
                  <a:pt x="13420" y="11347"/>
                </a:lnTo>
                <a:lnTo>
                  <a:pt x="13349" y="11005"/>
                </a:lnTo>
                <a:lnTo>
                  <a:pt x="13725" y="10707"/>
                </a:lnTo>
                <a:lnTo>
                  <a:pt x="15429" y="11618"/>
                </a:lnTo>
                <a:cubicBezTo>
                  <a:pt x="15429" y="11618"/>
                  <a:pt x="15429" y="11618"/>
                  <a:pt x="15429" y="11618"/>
                </a:cubicBezTo>
                <a:close/>
                <a:moveTo>
                  <a:pt x="15312" y="7663"/>
                </a:moveTo>
                <a:cubicBezTo>
                  <a:pt x="15313" y="7667"/>
                  <a:pt x="15314" y="7671"/>
                  <a:pt x="15316" y="7675"/>
                </a:cubicBezTo>
                <a:cubicBezTo>
                  <a:pt x="15318" y="7677"/>
                  <a:pt x="15319" y="7679"/>
                  <a:pt x="15321" y="7680"/>
                </a:cubicBezTo>
                <a:lnTo>
                  <a:pt x="14789" y="8372"/>
                </a:lnTo>
                <a:lnTo>
                  <a:pt x="13828" y="7741"/>
                </a:lnTo>
                <a:cubicBezTo>
                  <a:pt x="13828" y="7741"/>
                  <a:pt x="15312" y="7663"/>
                  <a:pt x="15312" y="7663"/>
                </a:cubicBezTo>
                <a:close/>
                <a:moveTo>
                  <a:pt x="13768" y="7722"/>
                </a:moveTo>
                <a:lnTo>
                  <a:pt x="13684" y="7726"/>
                </a:lnTo>
                <a:lnTo>
                  <a:pt x="13685" y="7722"/>
                </a:lnTo>
                <a:lnTo>
                  <a:pt x="13688" y="7709"/>
                </a:lnTo>
                <a:cubicBezTo>
                  <a:pt x="13696" y="7709"/>
                  <a:pt x="13705" y="7707"/>
                  <a:pt x="13712" y="7702"/>
                </a:cubicBezTo>
                <a:cubicBezTo>
                  <a:pt x="13716" y="7699"/>
                  <a:pt x="13720" y="7696"/>
                  <a:pt x="13723" y="7692"/>
                </a:cubicBezTo>
                <a:cubicBezTo>
                  <a:pt x="13723" y="7692"/>
                  <a:pt x="13768" y="7722"/>
                  <a:pt x="13768" y="7722"/>
                </a:cubicBezTo>
                <a:close/>
                <a:moveTo>
                  <a:pt x="13663" y="7702"/>
                </a:moveTo>
                <a:cubicBezTo>
                  <a:pt x="13664" y="7703"/>
                  <a:pt x="13666" y="7703"/>
                  <a:pt x="13667" y="7704"/>
                </a:cubicBezTo>
                <a:lnTo>
                  <a:pt x="13663" y="7727"/>
                </a:lnTo>
                <a:lnTo>
                  <a:pt x="13639" y="7729"/>
                </a:lnTo>
                <a:cubicBezTo>
                  <a:pt x="13639" y="7729"/>
                  <a:pt x="13663" y="7702"/>
                  <a:pt x="13663" y="7702"/>
                </a:cubicBezTo>
                <a:close/>
                <a:moveTo>
                  <a:pt x="13640" y="7671"/>
                </a:moveTo>
                <a:cubicBezTo>
                  <a:pt x="13642" y="7676"/>
                  <a:pt x="13643" y="7681"/>
                  <a:pt x="13646" y="7685"/>
                </a:cubicBezTo>
                <a:cubicBezTo>
                  <a:pt x="13646" y="7687"/>
                  <a:pt x="13647" y="7687"/>
                  <a:pt x="13648" y="7688"/>
                </a:cubicBezTo>
                <a:lnTo>
                  <a:pt x="13612" y="7730"/>
                </a:lnTo>
                <a:lnTo>
                  <a:pt x="12497" y="7789"/>
                </a:lnTo>
                <a:lnTo>
                  <a:pt x="12492" y="7775"/>
                </a:lnTo>
                <a:cubicBezTo>
                  <a:pt x="12492" y="7775"/>
                  <a:pt x="13640" y="7671"/>
                  <a:pt x="13640" y="7671"/>
                </a:cubicBezTo>
                <a:close/>
                <a:moveTo>
                  <a:pt x="12250" y="6980"/>
                </a:moveTo>
                <a:lnTo>
                  <a:pt x="12468" y="7762"/>
                </a:lnTo>
                <a:lnTo>
                  <a:pt x="12053" y="7799"/>
                </a:lnTo>
                <a:lnTo>
                  <a:pt x="12245" y="6980"/>
                </a:lnTo>
                <a:cubicBezTo>
                  <a:pt x="12246" y="6980"/>
                  <a:pt x="12248" y="6981"/>
                  <a:pt x="12250" y="6980"/>
                </a:cubicBezTo>
                <a:close/>
                <a:moveTo>
                  <a:pt x="11449" y="10233"/>
                </a:moveTo>
                <a:cubicBezTo>
                  <a:pt x="11451" y="10235"/>
                  <a:pt x="11452" y="10237"/>
                  <a:pt x="11454" y="10238"/>
                </a:cubicBezTo>
                <a:lnTo>
                  <a:pt x="11059" y="11189"/>
                </a:lnTo>
                <a:lnTo>
                  <a:pt x="10171" y="11507"/>
                </a:lnTo>
                <a:lnTo>
                  <a:pt x="9996" y="11397"/>
                </a:lnTo>
                <a:cubicBezTo>
                  <a:pt x="9996" y="11397"/>
                  <a:pt x="11449" y="10233"/>
                  <a:pt x="11449" y="10233"/>
                </a:cubicBezTo>
                <a:close/>
                <a:moveTo>
                  <a:pt x="8909" y="10738"/>
                </a:moveTo>
                <a:lnTo>
                  <a:pt x="9524" y="11125"/>
                </a:lnTo>
                <a:lnTo>
                  <a:pt x="9545" y="11691"/>
                </a:lnTo>
                <a:cubicBezTo>
                  <a:pt x="9541" y="11692"/>
                  <a:pt x="9537" y="11693"/>
                  <a:pt x="9533" y="11695"/>
                </a:cubicBezTo>
                <a:lnTo>
                  <a:pt x="8906" y="10741"/>
                </a:lnTo>
                <a:cubicBezTo>
                  <a:pt x="8907" y="10740"/>
                  <a:pt x="8908" y="10739"/>
                  <a:pt x="8909" y="10738"/>
                </a:cubicBezTo>
                <a:close/>
                <a:moveTo>
                  <a:pt x="3637" y="17132"/>
                </a:moveTo>
                <a:cubicBezTo>
                  <a:pt x="3644" y="17138"/>
                  <a:pt x="3652" y="17140"/>
                  <a:pt x="3660" y="17141"/>
                </a:cubicBezTo>
                <a:lnTo>
                  <a:pt x="3789" y="18354"/>
                </a:lnTo>
                <a:lnTo>
                  <a:pt x="2920" y="17861"/>
                </a:lnTo>
                <a:cubicBezTo>
                  <a:pt x="2920" y="17861"/>
                  <a:pt x="3637" y="17132"/>
                  <a:pt x="3637" y="17132"/>
                </a:cubicBezTo>
                <a:close/>
                <a:moveTo>
                  <a:pt x="1988" y="17318"/>
                </a:moveTo>
                <a:lnTo>
                  <a:pt x="3619" y="17105"/>
                </a:lnTo>
                <a:cubicBezTo>
                  <a:pt x="3621" y="17109"/>
                  <a:pt x="3622" y="17114"/>
                  <a:pt x="3624" y="17118"/>
                </a:cubicBezTo>
                <a:cubicBezTo>
                  <a:pt x="3625" y="17119"/>
                  <a:pt x="3625" y="17120"/>
                  <a:pt x="3626" y="17120"/>
                </a:cubicBezTo>
                <a:lnTo>
                  <a:pt x="2905" y="17853"/>
                </a:lnTo>
                <a:lnTo>
                  <a:pt x="1986" y="17333"/>
                </a:lnTo>
                <a:cubicBezTo>
                  <a:pt x="1988" y="17328"/>
                  <a:pt x="1988" y="17323"/>
                  <a:pt x="1988" y="17318"/>
                </a:cubicBezTo>
                <a:close/>
                <a:moveTo>
                  <a:pt x="5476" y="15898"/>
                </a:moveTo>
                <a:lnTo>
                  <a:pt x="5397" y="15795"/>
                </a:lnTo>
                <a:lnTo>
                  <a:pt x="5829" y="15695"/>
                </a:lnTo>
                <a:lnTo>
                  <a:pt x="5879" y="15932"/>
                </a:lnTo>
                <a:cubicBezTo>
                  <a:pt x="5879" y="15932"/>
                  <a:pt x="5476" y="15898"/>
                  <a:pt x="5476" y="15898"/>
                </a:cubicBezTo>
                <a:close/>
                <a:moveTo>
                  <a:pt x="6017" y="16613"/>
                </a:moveTo>
                <a:cubicBezTo>
                  <a:pt x="6016" y="16613"/>
                  <a:pt x="6016" y="16613"/>
                  <a:pt x="6016" y="16613"/>
                </a:cubicBezTo>
                <a:lnTo>
                  <a:pt x="5492" y="15920"/>
                </a:lnTo>
                <a:lnTo>
                  <a:pt x="5884" y="15953"/>
                </a:lnTo>
                <a:lnTo>
                  <a:pt x="6023" y="16610"/>
                </a:lnTo>
                <a:cubicBezTo>
                  <a:pt x="6021" y="16611"/>
                  <a:pt x="6019" y="16612"/>
                  <a:pt x="6017" y="16613"/>
                </a:cubicBezTo>
                <a:close/>
                <a:moveTo>
                  <a:pt x="16845" y="7761"/>
                </a:moveTo>
                <a:cubicBezTo>
                  <a:pt x="16843" y="7758"/>
                  <a:pt x="16840" y="7754"/>
                  <a:pt x="16837" y="7752"/>
                </a:cubicBezTo>
                <a:lnTo>
                  <a:pt x="16861" y="7704"/>
                </a:lnTo>
                <a:lnTo>
                  <a:pt x="16943" y="7707"/>
                </a:lnTo>
                <a:cubicBezTo>
                  <a:pt x="16943" y="7707"/>
                  <a:pt x="16845" y="7761"/>
                  <a:pt x="16845" y="7761"/>
                </a:cubicBezTo>
                <a:close/>
                <a:moveTo>
                  <a:pt x="16974" y="7689"/>
                </a:moveTo>
                <a:lnTo>
                  <a:pt x="16870" y="7686"/>
                </a:lnTo>
                <a:lnTo>
                  <a:pt x="17377" y="6682"/>
                </a:lnTo>
                <a:lnTo>
                  <a:pt x="17797" y="7233"/>
                </a:lnTo>
                <a:cubicBezTo>
                  <a:pt x="17797" y="7233"/>
                  <a:pt x="16974" y="7689"/>
                  <a:pt x="16974" y="7689"/>
                </a:cubicBezTo>
                <a:close/>
                <a:moveTo>
                  <a:pt x="18148" y="7726"/>
                </a:moveTo>
                <a:lnTo>
                  <a:pt x="17011" y="7691"/>
                </a:lnTo>
                <a:lnTo>
                  <a:pt x="17809" y="7248"/>
                </a:lnTo>
                <a:lnTo>
                  <a:pt x="18157" y="7705"/>
                </a:lnTo>
                <a:cubicBezTo>
                  <a:pt x="18152" y="7711"/>
                  <a:pt x="18149" y="7718"/>
                  <a:pt x="18148" y="7726"/>
                </a:cubicBezTo>
                <a:close/>
                <a:moveTo>
                  <a:pt x="17670" y="5501"/>
                </a:moveTo>
                <a:lnTo>
                  <a:pt x="17610" y="4827"/>
                </a:lnTo>
                <a:lnTo>
                  <a:pt x="17751" y="5537"/>
                </a:lnTo>
                <a:cubicBezTo>
                  <a:pt x="17751" y="5537"/>
                  <a:pt x="17670" y="5501"/>
                  <a:pt x="17670" y="5501"/>
                </a:cubicBezTo>
                <a:close/>
                <a:moveTo>
                  <a:pt x="17756" y="5565"/>
                </a:moveTo>
                <a:lnTo>
                  <a:pt x="17788" y="5724"/>
                </a:lnTo>
                <a:lnTo>
                  <a:pt x="17716" y="5959"/>
                </a:lnTo>
                <a:cubicBezTo>
                  <a:pt x="17714" y="5959"/>
                  <a:pt x="17713" y="5959"/>
                  <a:pt x="17711" y="5959"/>
                </a:cubicBezTo>
                <a:lnTo>
                  <a:pt x="17673" y="5527"/>
                </a:lnTo>
                <a:cubicBezTo>
                  <a:pt x="17673" y="5527"/>
                  <a:pt x="17756" y="5565"/>
                  <a:pt x="17756" y="5565"/>
                </a:cubicBezTo>
                <a:close/>
                <a:moveTo>
                  <a:pt x="11558" y="7875"/>
                </a:moveTo>
                <a:lnTo>
                  <a:pt x="11559" y="7875"/>
                </a:lnTo>
                <a:lnTo>
                  <a:pt x="10705" y="8770"/>
                </a:lnTo>
                <a:lnTo>
                  <a:pt x="10474" y="8352"/>
                </a:lnTo>
                <a:cubicBezTo>
                  <a:pt x="10474" y="8352"/>
                  <a:pt x="11558" y="7875"/>
                  <a:pt x="11558" y="7875"/>
                </a:cubicBezTo>
                <a:close/>
                <a:moveTo>
                  <a:pt x="9490" y="8785"/>
                </a:moveTo>
                <a:lnTo>
                  <a:pt x="10455" y="8360"/>
                </a:lnTo>
                <a:lnTo>
                  <a:pt x="10690" y="8785"/>
                </a:lnTo>
                <a:lnTo>
                  <a:pt x="10196" y="9303"/>
                </a:lnTo>
                <a:lnTo>
                  <a:pt x="9487" y="8816"/>
                </a:lnTo>
                <a:cubicBezTo>
                  <a:pt x="9491" y="8806"/>
                  <a:pt x="9493" y="8796"/>
                  <a:pt x="9490" y="8785"/>
                </a:cubicBezTo>
                <a:close/>
                <a:moveTo>
                  <a:pt x="11437" y="10214"/>
                </a:moveTo>
                <a:cubicBezTo>
                  <a:pt x="11438" y="10216"/>
                  <a:pt x="11438" y="10218"/>
                  <a:pt x="11439" y="10220"/>
                </a:cubicBezTo>
                <a:lnTo>
                  <a:pt x="9981" y="11388"/>
                </a:lnTo>
                <a:lnTo>
                  <a:pt x="9541" y="11110"/>
                </a:lnTo>
                <a:lnTo>
                  <a:pt x="9521" y="10587"/>
                </a:lnTo>
                <a:cubicBezTo>
                  <a:pt x="9521" y="10587"/>
                  <a:pt x="11437" y="10214"/>
                  <a:pt x="11437" y="10214"/>
                </a:cubicBezTo>
                <a:close/>
                <a:moveTo>
                  <a:pt x="9503" y="10590"/>
                </a:moveTo>
                <a:lnTo>
                  <a:pt x="9523" y="11099"/>
                </a:lnTo>
                <a:lnTo>
                  <a:pt x="8920" y="10720"/>
                </a:lnTo>
                <a:cubicBezTo>
                  <a:pt x="8922" y="10714"/>
                  <a:pt x="8923" y="10709"/>
                  <a:pt x="8923" y="10703"/>
                </a:cubicBezTo>
                <a:cubicBezTo>
                  <a:pt x="8923" y="10703"/>
                  <a:pt x="9503" y="10590"/>
                  <a:pt x="9503" y="10590"/>
                </a:cubicBezTo>
                <a:close/>
                <a:moveTo>
                  <a:pt x="7849" y="11880"/>
                </a:moveTo>
                <a:lnTo>
                  <a:pt x="7324" y="12490"/>
                </a:lnTo>
                <a:lnTo>
                  <a:pt x="7271" y="11546"/>
                </a:lnTo>
                <a:cubicBezTo>
                  <a:pt x="7275" y="11545"/>
                  <a:pt x="7279" y="11544"/>
                  <a:pt x="7283" y="11542"/>
                </a:cubicBezTo>
                <a:cubicBezTo>
                  <a:pt x="7287" y="11539"/>
                  <a:pt x="7290" y="11536"/>
                  <a:pt x="7293" y="11532"/>
                </a:cubicBezTo>
                <a:cubicBezTo>
                  <a:pt x="7293" y="11532"/>
                  <a:pt x="7849" y="11880"/>
                  <a:pt x="7849" y="11880"/>
                </a:cubicBezTo>
                <a:close/>
                <a:moveTo>
                  <a:pt x="7372" y="15318"/>
                </a:moveTo>
                <a:lnTo>
                  <a:pt x="6568" y="14633"/>
                </a:lnTo>
                <a:lnTo>
                  <a:pt x="6608" y="14478"/>
                </a:lnTo>
                <a:lnTo>
                  <a:pt x="7432" y="15276"/>
                </a:lnTo>
                <a:cubicBezTo>
                  <a:pt x="7427" y="15285"/>
                  <a:pt x="7425" y="15295"/>
                  <a:pt x="7425" y="15305"/>
                </a:cubicBezTo>
                <a:cubicBezTo>
                  <a:pt x="7425" y="15305"/>
                  <a:pt x="7372" y="15318"/>
                  <a:pt x="7372" y="15318"/>
                </a:cubicBezTo>
                <a:close/>
                <a:moveTo>
                  <a:pt x="12463" y="13489"/>
                </a:moveTo>
                <a:lnTo>
                  <a:pt x="12130" y="12965"/>
                </a:lnTo>
                <a:lnTo>
                  <a:pt x="13100" y="12780"/>
                </a:lnTo>
                <a:lnTo>
                  <a:pt x="13124" y="13032"/>
                </a:lnTo>
                <a:cubicBezTo>
                  <a:pt x="13124" y="13032"/>
                  <a:pt x="12463" y="13489"/>
                  <a:pt x="12463" y="13489"/>
                </a:cubicBezTo>
                <a:close/>
                <a:moveTo>
                  <a:pt x="13290" y="14786"/>
                </a:moveTo>
                <a:lnTo>
                  <a:pt x="12475" y="13508"/>
                </a:lnTo>
                <a:lnTo>
                  <a:pt x="13127" y="13058"/>
                </a:lnTo>
                <a:lnTo>
                  <a:pt x="13294" y="14784"/>
                </a:lnTo>
                <a:cubicBezTo>
                  <a:pt x="13293" y="14785"/>
                  <a:pt x="13291" y="14786"/>
                  <a:pt x="13290" y="14786"/>
                </a:cubicBezTo>
                <a:close/>
                <a:moveTo>
                  <a:pt x="16988" y="11805"/>
                </a:moveTo>
                <a:cubicBezTo>
                  <a:pt x="16973" y="11815"/>
                  <a:pt x="16965" y="11832"/>
                  <a:pt x="16966" y="11849"/>
                </a:cubicBezTo>
                <a:lnTo>
                  <a:pt x="13745" y="12633"/>
                </a:lnTo>
                <a:lnTo>
                  <a:pt x="15437" y="11663"/>
                </a:lnTo>
                <a:cubicBezTo>
                  <a:pt x="15452" y="11683"/>
                  <a:pt x="15479" y="11690"/>
                  <a:pt x="15500" y="11676"/>
                </a:cubicBezTo>
                <a:cubicBezTo>
                  <a:pt x="15523" y="11661"/>
                  <a:pt x="15530" y="11630"/>
                  <a:pt x="15516" y="11606"/>
                </a:cubicBezTo>
                <a:cubicBezTo>
                  <a:pt x="15512" y="11599"/>
                  <a:pt x="15507" y="11594"/>
                  <a:pt x="15501" y="11590"/>
                </a:cubicBezTo>
                <a:lnTo>
                  <a:pt x="16800" y="7850"/>
                </a:lnTo>
                <a:lnTo>
                  <a:pt x="17000" y="11800"/>
                </a:lnTo>
                <a:cubicBezTo>
                  <a:pt x="16996" y="11802"/>
                  <a:pt x="16992" y="11803"/>
                  <a:pt x="16988" y="11805"/>
                </a:cubicBezTo>
                <a:close/>
                <a:moveTo>
                  <a:pt x="20573" y="1625"/>
                </a:moveTo>
                <a:cubicBezTo>
                  <a:pt x="20581" y="1633"/>
                  <a:pt x="20591" y="1638"/>
                  <a:pt x="20603" y="1639"/>
                </a:cubicBezTo>
                <a:lnTo>
                  <a:pt x="20819" y="4094"/>
                </a:lnTo>
                <a:cubicBezTo>
                  <a:pt x="20815" y="4095"/>
                  <a:pt x="20810" y="4096"/>
                  <a:pt x="20806" y="4099"/>
                </a:cubicBezTo>
                <a:cubicBezTo>
                  <a:pt x="20805" y="4100"/>
                  <a:pt x="20805" y="4100"/>
                  <a:pt x="20804" y="4101"/>
                </a:cubicBezTo>
                <a:lnTo>
                  <a:pt x="19273" y="2603"/>
                </a:lnTo>
                <a:cubicBezTo>
                  <a:pt x="19273" y="2603"/>
                  <a:pt x="20573" y="1625"/>
                  <a:pt x="20573" y="1625"/>
                </a:cubicBezTo>
                <a:close/>
                <a:moveTo>
                  <a:pt x="18175" y="1488"/>
                </a:moveTo>
                <a:lnTo>
                  <a:pt x="21498" y="80"/>
                </a:lnTo>
                <a:cubicBezTo>
                  <a:pt x="21501" y="83"/>
                  <a:pt x="21503" y="87"/>
                  <a:pt x="21507" y="89"/>
                </a:cubicBezTo>
                <a:lnTo>
                  <a:pt x="20626" y="1544"/>
                </a:lnTo>
                <a:cubicBezTo>
                  <a:pt x="20612" y="1537"/>
                  <a:pt x="20595" y="1537"/>
                  <a:pt x="20581" y="1546"/>
                </a:cubicBezTo>
                <a:cubicBezTo>
                  <a:pt x="20569" y="1553"/>
                  <a:pt x="20562" y="1566"/>
                  <a:pt x="20559" y="1579"/>
                </a:cubicBezTo>
                <a:lnTo>
                  <a:pt x="18175" y="1490"/>
                </a:lnTo>
                <a:cubicBezTo>
                  <a:pt x="18175" y="1489"/>
                  <a:pt x="18175" y="1489"/>
                  <a:pt x="18175" y="1488"/>
                </a:cubicBezTo>
                <a:close/>
                <a:moveTo>
                  <a:pt x="18623" y="3144"/>
                </a:moveTo>
                <a:cubicBezTo>
                  <a:pt x="18629" y="3141"/>
                  <a:pt x="18634" y="3135"/>
                  <a:pt x="18637" y="3129"/>
                </a:cubicBezTo>
                <a:lnTo>
                  <a:pt x="20785" y="4130"/>
                </a:lnTo>
                <a:cubicBezTo>
                  <a:pt x="20784" y="4133"/>
                  <a:pt x="20784" y="4137"/>
                  <a:pt x="20784" y="4140"/>
                </a:cubicBezTo>
                <a:lnTo>
                  <a:pt x="18968" y="4448"/>
                </a:lnTo>
                <a:lnTo>
                  <a:pt x="18619" y="3146"/>
                </a:lnTo>
                <a:cubicBezTo>
                  <a:pt x="18620" y="3145"/>
                  <a:pt x="18622" y="3145"/>
                  <a:pt x="18623" y="3144"/>
                </a:cubicBezTo>
                <a:close/>
                <a:moveTo>
                  <a:pt x="13401" y="5119"/>
                </a:moveTo>
                <a:lnTo>
                  <a:pt x="15321" y="7617"/>
                </a:lnTo>
                <a:cubicBezTo>
                  <a:pt x="15318" y="7620"/>
                  <a:pt x="15316" y="7624"/>
                  <a:pt x="15314" y="7628"/>
                </a:cubicBezTo>
                <a:lnTo>
                  <a:pt x="12294" y="6931"/>
                </a:lnTo>
                <a:cubicBezTo>
                  <a:pt x="12294" y="6922"/>
                  <a:pt x="12293" y="6912"/>
                  <a:pt x="12288" y="6904"/>
                </a:cubicBezTo>
                <a:cubicBezTo>
                  <a:pt x="12276" y="6883"/>
                  <a:pt x="12251" y="6875"/>
                  <a:pt x="12230" y="6884"/>
                </a:cubicBezTo>
                <a:lnTo>
                  <a:pt x="13361" y="5121"/>
                </a:lnTo>
                <a:cubicBezTo>
                  <a:pt x="13373" y="5126"/>
                  <a:pt x="13388" y="5126"/>
                  <a:pt x="13401" y="5119"/>
                </a:cubicBezTo>
                <a:close/>
                <a:moveTo>
                  <a:pt x="10526" y="7447"/>
                </a:moveTo>
                <a:lnTo>
                  <a:pt x="11552" y="7838"/>
                </a:lnTo>
                <a:cubicBezTo>
                  <a:pt x="11551" y="7845"/>
                  <a:pt x="11551" y="7853"/>
                  <a:pt x="11553" y="7860"/>
                </a:cubicBezTo>
                <a:lnTo>
                  <a:pt x="10466" y="8338"/>
                </a:lnTo>
                <a:lnTo>
                  <a:pt x="10200" y="7858"/>
                </a:lnTo>
                <a:cubicBezTo>
                  <a:pt x="10200" y="7858"/>
                  <a:pt x="10526" y="7447"/>
                  <a:pt x="10526" y="7447"/>
                </a:cubicBezTo>
                <a:close/>
                <a:moveTo>
                  <a:pt x="9848" y="7190"/>
                </a:moveTo>
                <a:lnTo>
                  <a:pt x="10505" y="7439"/>
                </a:lnTo>
                <a:lnTo>
                  <a:pt x="10189" y="7838"/>
                </a:lnTo>
                <a:lnTo>
                  <a:pt x="9838" y="7203"/>
                </a:lnTo>
                <a:cubicBezTo>
                  <a:pt x="9842" y="7199"/>
                  <a:pt x="9846" y="7195"/>
                  <a:pt x="9848" y="7190"/>
                </a:cubicBezTo>
                <a:close/>
                <a:moveTo>
                  <a:pt x="9850" y="7146"/>
                </a:moveTo>
                <a:lnTo>
                  <a:pt x="11717" y="5908"/>
                </a:lnTo>
                <a:lnTo>
                  <a:pt x="10514" y="7428"/>
                </a:lnTo>
                <a:lnTo>
                  <a:pt x="9854" y="7176"/>
                </a:lnTo>
                <a:cubicBezTo>
                  <a:pt x="9856" y="7166"/>
                  <a:pt x="9854" y="7156"/>
                  <a:pt x="9850" y="7146"/>
                </a:cubicBezTo>
                <a:close/>
                <a:moveTo>
                  <a:pt x="1570" y="15371"/>
                </a:moveTo>
                <a:cubicBezTo>
                  <a:pt x="1572" y="15369"/>
                  <a:pt x="1573" y="15367"/>
                  <a:pt x="1575" y="15365"/>
                </a:cubicBezTo>
                <a:lnTo>
                  <a:pt x="2298" y="15966"/>
                </a:lnTo>
                <a:lnTo>
                  <a:pt x="1943" y="17267"/>
                </a:lnTo>
                <a:cubicBezTo>
                  <a:pt x="1941" y="17267"/>
                  <a:pt x="1940" y="17267"/>
                  <a:pt x="1938" y="17267"/>
                </a:cubicBezTo>
                <a:lnTo>
                  <a:pt x="1560" y="15374"/>
                </a:lnTo>
                <a:cubicBezTo>
                  <a:pt x="1563" y="15373"/>
                  <a:pt x="1567" y="15373"/>
                  <a:pt x="1570" y="15371"/>
                </a:cubicBezTo>
                <a:close/>
                <a:moveTo>
                  <a:pt x="669" y="20418"/>
                </a:moveTo>
                <a:cubicBezTo>
                  <a:pt x="669" y="20417"/>
                  <a:pt x="668" y="20417"/>
                  <a:pt x="668" y="20417"/>
                </a:cubicBezTo>
                <a:lnTo>
                  <a:pt x="1778" y="19055"/>
                </a:lnTo>
                <a:lnTo>
                  <a:pt x="899" y="20307"/>
                </a:lnTo>
                <a:cubicBezTo>
                  <a:pt x="899" y="20307"/>
                  <a:pt x="669" y="20418"/>
                  <a:pt x="669" y="20418"/>
                </a:cubicBezTo>
                <a:close/>
                <a:moveTo>
                  <a:pt x="933" y="20291"/>
                </a:moveTo>
                <a:lnTo>
                  <a:pt x="1905" y="18905"/>
                </a:lnTo>
                <a:cubicBezTo>
                  <a:pt x="1920" y="18912"/>
                  <a:pt x="1937" y="18913"/>
                  <a:pt x="1951" y="18904"/>
                </a:cubicBezTo>
                <a:cubicBezTo>
                  <a:pt x="1958" y="18899"/>
                  <a:pt x="1963" y="18893"/>
                  <a:pt x="1967" y="18887"/>
                </a:cubicBezTo>
                <a:lnTo>
                  <a:pt x="2983" y="19306"/>
                </a:lnTo>
                <a:cubicBezTo>
                  <a:pt x="2983" y="19306"/>
                  <a:pt x="933" y="20291"/>
                  <a:pt x="933" y="20291"/>
                </a:cubicBezTo>
                <a:close/>
                <a:moveTo>
                  <a:pt x="7" y="21562"/>
                </a:moveTo>
                <a:cubicBezTo>
                  <a:pt x="21" y="21585"/>
                  <a:pt x="51" y="21593"/>
                  <a:pt x="74" y="21578"/>
                </a:cubicBezTo>
                <a:cubicBezTo>
                  <a:pt x="97" y="21564"/>
                  <a:pt x="104" y="21532"/>
                  <a:pt x="90" y="21508"/>
                </a:cubicBezTo>
                <a:cubicBezTo>
                  <a:pt x="88" y="21505"/>
                  <a:pt x="85" y="21504"/>
                  <a:pt x="83" y="21501"/>
                </a:cubicBezTo>
                <a:lnTo>
                  <a:pt x="906" y="20329"/>
                </a:lnTo>
                <a:lnTo>
                  <a:pt x="3011" y="19318"/>
                </a:lnTo>
                <a:lnTo>
                  <a:pt x="3896" y="19683"/>
                </a:lnTo>
                <a:cubicBezTo>
                  <a:pt x="3894" y="19695"/>
                  <a:pt x="3895" y="19708"/>
                  <a:pt x="3902" y="19720"/>
                </a:cubicBezTo>
                <a:cubicBezTo>
                  <a:pt x="3916" y="19743"/>
                  <a:pt x="3946" y="19751"/>
                  <a:pt x="3969" y="19736"/>
                </a:cubicBezTo>
                <a:cubicBezTo>
                  <a:pt x="3992" y="19722"/>
                  <a:pt x="3999" y="19690"/>
                  <a:pt x="3985" y="19666"/>
                </a:cubicBezTo>
                <a:cubicBezTo>
                  <a:pt x="3977" y="19653"/>
                  <a:pt x="3963" y="19645"/>
                  <a:pt x="3949" y="19643"/>
                </a:cubicBezTo>
                <a:lnTo>
                  <a:pt x="3870" y="18905"/>
                </a:lnTo>
                <a:lnTo>
                  <a:pt x="4294" y="18702"/>
                </a:lnTo>
                <a:cubicBezTo>
                  <a:pt x="4309" y="18722"/>
                  <a:pt x="4336" y="18728"/>
                  <a:pt x="4357" y="18714"/>
                </a:cubicBezTo>
                <a:cubicBezTo>
                  <a:pt x="4380" y="18700"/>
                  <a:pt x="4387" y="18668"/>
                  <a:pt x="4373" y="18644"/>
                </a:cubicBezTo>
                <a:cubicBezTo>
                  <a:pt x="4368" y="18636"/>
                  <a:pt x="4360" y="18630"/>
                  <a:pt x="4352" y="18626"/>
                </a:cubicBezTo>
                <a:lnTo>
                  <a:pt x="4663" y="17383"/>
                </a:lnTo>
                <a:lnTo>
                  <a:pt x="6119" y="17791"/>
                </a:lnTo>
                <a:cubicBezTo>
                  <a:pt x="6119" y="17801"/>
                  <a:pt x="6120" y="17812"/>
                  <a:pt x="6125" y="17821"/>
                </a:cubicBezTo>
                <a:cubicBezTo>
                  <a:pt x="6139" y="17845"/>
                  <a:pt x="6169" y="17852"/>
                  <a:pt x="6192" y="17837"/>
                </a:cubicBezTo>
                <a:cubicBezTo>
                  <a:pt x="6215" y="17823"/>
                  <a:pt x="6222" y="17791"/>
                  <a:pt x="6208" y="17767"/>
                </a:cubicBezTo>
                <a:cubicBezTo>
                  <a:pt x="6196" y="17747"/>
                  <a:pt x="6172" y="17739"/>
                  <a:pt x="6151" y="17747"/>
                </a:cubicBezTo>
                <a:lnTo>
                  <a:pt x="5564" y="16752"/>
                </a:lnTo>
                <a:lnTo>
                  <a:pt x="5997" y="16673"/>
                </a:lnTo>
                <a:cubicBezTo>
                  <a:pt x="5998" y="16676"/>
                  <a:pt x="5999" y="16680"/>
                  <a:pt x="6001" y="16683"/>
                </a:cubicBezTo>
                <a:cubicBezTo>
                  <a:pt x="6015" y="16707"/>
                  <a:pt x="6045" y="16714"/>
                  <a:pt x="6067" y="16699"/>
                </a:cubicBezTo>
                <a:cubicBezTo>
                  <a:pt x="6090" y="16685"/>
                  <a:pt x="6097" y="16653"/>
                  <a:pt x="6083" y="16630"/>
                </a:cubicBezTo>
                <a:cubicBezTo>
                  <a:pt x="6078" y="16621"/>
                  <a:pt x="6071" y="16616"/>
                  <a:pt x="6063" y="16611"/>
                </a:cubicBezTo>
                <a:lnTo>
                  <a:pt x="6224" y="15982"/>
                </a:lnTo>
                <a:lnTo>
                  <a:pt x="8282" y="16155"/>
                </a:lnTo>
                <a:cubicBezTo>
                  <a:pt x="8283" y="16162"/>
                  <a:pt x="8285" y="16169"/>
                  <a:pt x="8289" y="16176"/>
                </a:cubicBezTo>
                <a:cubicBezTo>
                  <a:pt x="8303" y="16199"/>
                  <a:pt x="8333" y="16207"/>
                  <a:pt x="8356" y="16192"/>
                </a:cubicBezTo>
                <a:cubicBezTo>
                  <a:pt x="8379" y="16177"/>
                  <a:pt x="8386" y="16146"/>
                  <a:pt x="8372" y="16122"/>
                </a:cubicBezTo>
                <a:cubicBezTo>
                  <a:pt x="8370" y="16119"/>
                  <a:pt x="8367" y="16117"/>
                  <a:pt x="8365" y="16114"/>
                </a:cubicBezTo>
                <a:lnTo>
                  <a:pt x="9439" y="14476"/>
                </a:lnTo>
                <a:lnTo>
                  <a:pt x="10439" y="14861"/>
                </a:lnTo>
                <a:cubicBezTo>
                  <a:pt x="10438" y="14872"/>
                  <a:pt x="10439" y="14884"/>
                  <a:pt x="10445" y="14894"/>
                </a:cubicBezTo>
                <a:cubicBezTo>
                  <a:pt x="10459" y="14918"/>
                  <a:pt x="10489" y="14925"/>
                  <a:pt x="10512" y="14911"/>
                </a:cubicBezTo>
                <a:cubicBezTo>
                  <a:pt x="10532" y="14898"/>
                  <a:pt x="10539" y="14872"/>
                  <a:pt x="10531" y="14850"/>
                </a:cubicBezTo>
                <a:lnTo>
                  <a:pt x="11679" y="14057"/>
                </a:lnTo>
                <a:lnTo>
                  <a:pt x="13262" y="14821"/>
                </a:lnTo>
                <a:cubicBezTo>
                  <a:pt x="13259" y="14833"/>
                  <a:pt x="13260" y="14847"/>
                  <a:pt x="13267" y="14858"/>
                </a:cubicBezTo>
                <a:cubicBezTo>
                  <a:pt x="13281" y="14882"/>
                  <a:pt x="13311" y="14890"/>
                  <a:pt x="13334" y="14875"/>
                </a:cubicBezTo>
                <a:cubicBezTo>
                  <a:pt x="13357" y="14861"/>
                  <a:pt x="13364" y="14829"/>
                  <a:pt x="13350" y="14805"/>
                </a:cubicBezTo>
                <a:cubicBezTo>
                  <a:pt x="13344" y="14795"/>
                  <a:pt x="13335" y="14788"/>
                  <a:pt x="13324" y="14785"/>
                </a:cubicBezTo>
                <a:lnTo>
                  <a:pt x="13685" y="12708"/>
                </a:lnTo>
                <a:cubicBezTo>
                  <a:pt x="13694" y="12708"/>
                  <a:pt x="13703" y="12707"/>
                  <a:pt x="13712" y="12701"/>
                </a:cubicBezTo>
                <a:cubicBezTo>
                  <a:pt x="13727" y="12691"/>
                  <a:pt x="13734" y="12674"/>
                  <a:pt x="13734" y="12657"/>
                </a:cubicBezTo>
                <a:lnTo>
                  <a:pt x="16970" y="11870"/>
                </a:lnTo>
                <a:cubicBezTo>
                  <a:pt x="16971" y="11871"/>
                  <a:pt x="16971" y="11873"/>
                  <a:pt x="16972" y="11875"/>
                </a:cubicBezTo>
                <a:cubicBezTo>
                  <a:pt x="16986" y="11899"/>
                  <a:pt x="17016" y="11906"/>
                  <a:pt x="17039" y="11892"/>
                </a:cubicBezTo>
                <a:cubicBezTo>
                  <a:pt x="17062" y="11877"/>
                  <a:pt x="17069" y="11846"/>
                  <a:pt x="17055" y="11822"/>
                </a:cubicBezTo>
                <a:cubicBezTo>
                  <a:pt x="17047" y="11809"/>
                  <a:pt x="17035" y="11801"/>
                  <a:pt x="17022" y="11799"/>
                </a:cubicBezTo>
                <a:lnTo>
                  <a:pt x="16822" y="7840"/>
                </a:lnTo>
                <a:cubicBezTo>
                  <a:pt x="16826" y="7839"/>
                  <a:pt x="16830" y="7838"/>
                  <a:pt x="16834" y="7836"/>
                </a:cubicBezTo>
                <a:cubicBezTo>
                  <a:pt x="16847" y="7827"/>
                  <a:pt x="16854" y="7812"/>
                  <a:pt x="16856" y="7797"/>
                </a:cubicBezTo>
                <a:lnTo>
                  <a:pt x="18147" y="7744"/>
                </a:lnTo>
                <a:cubicBezTo>
                  <a:pt x="18148" y="7751"/>
                  <a:pt x="18150" y="7757"/>
                  <a:pt x="18153" y="7763"/>
                </a:cubicBezTo>
                <a:cubicBezTo>
                  <a:pt x="18168" y="7787"/>
                  <a:pt x="18197" y="7794"/>
                  <a:pt x="18220" y="7780"/>
                </a:cubicBezTo>
                <a:cubicBezTo>
                  <a:pt x="18243" y="7765"/>
                  <a:pt x="18250" y="7734"/>
                  <a:pt x="18236" y="7710"/>
                </a:cubicBezTo>
                <a:cubicBezTo>
                  <a:pt x="18227" y="7694"/>
                  <a:pt x="18211" y="7686"/>
                  <a:pt x="18194" y="7686"/>
                </a:cubicBezTo>
                <a:lnTo>
                  <a:pt x="18078" y="7099"/>
                </a:lnTo>
                <a:lnTo>
                  <a:pt x="19422" y="6353"/>
                </a:lnTo>
                <a:cubicBezTo>
                  <a:pt x="19437" y="6372"/>
                  <a:pt x="19464" y="6378"/>
                  <a:pt x="19485" y="6365"/>
                </a:cubicBezTo>
                <a:cubicBezTo>
                  <a:pt x="19507" y="6350"/>
                  <a:pt x="19515" y="6319"/>
                  <a:pt x="19501" y="6295"/>
                </a:cubicBezTo>
                <a:cubicBezTo>
                  <a:pt x="19498" y="6291"/>
                  <a:pt x="19495" y="6288"/>
                  <a:pt x="19492" y="6285"/>
                </a:cubicBezTo>
                <a:lnTo>
                  <a:pt x="20812" y="4188"/>
                </a:lnTo>
                <a:cubicBezTo>
                  <a:pt x="20826" y="4195"/>
                  <a:pt x="20843" y="4195"/>
                  <a:pt x="20857" y="4186"/>
                </a:cubicBezTo>
                <a:cubicBezTo>
                  <a:pt x="20880" y="4171"/>
                  <a:pt x="20887" y="4140"/>
                  <a:pt x="20873" y="4116"/>
                </a:cubicBezTo>
                <a:cubicBezTo>
                  <a:pt x="20864" y="4101"/>
                  <a:pt x="20850" y="4094"/>
                  <a:pt x="20835" y="4093"/>
                </a:cubicBezTo>
                <a:lnTo>
                  <a:pt x="20619" y="1637"/>
                </a:lnTo>
                <a:cubicBezTo>
                  <a:pt x="20623" y="1636"/>
                  <a:pt x="20628" y="1635"/>
                  <a:pt x="20632" y="1632"/>
                </a:cubicBezTo>
                <a:cubicBezTo>
                  <a:pt x="20655" y="1618"/>
                  <a:pt x="20662" y="1586"/>
                  <a:pt x="20648" y="1562"/>
                </a:cubicBezTo>
                <a:cubicBezTo>
                  <a:pt x="20645" y="1558"/>
                  <a:pt x="20641" y="1554"/>
                  <a:pt x="20637" y="1551"/>
                </a:cubicBezTo>
                <a:lnTo>
                  <a:pt x="21518" y="96"/>
                </a:lnTo>
                <a:cubicBezTo>
                  <a:pt x="21532" y="103"/>
                  <a:pt x="21549" y="103"/>
                  <a:pt x="21563" y="94"/>
                </a:cubicBezTo>
                <a:cubicBezTo>
                  <a:pt x="21586" y="80"/>
                  <a:pt x="21593" y="48"/>
                  <a:pt x="21579" y="24"/>
                </a:cubicBezTo>
                <a:cubicBezTo>
                  <a:pt x="21565" y="0"/>
                  <a:pt x="21535" y="-7"/>
                  <a:pt x="21512" y="8"/>
                </a:cubicBezTo>
                <a:cubicBezTo>
                  <a:pt x="21495" y="19"/>
                  <a:pt x="21487" y="39"/>
                  <a:pt x="21490" y="59"/>
                </a:cubicBezTo>
                <a:lnTo>
                  <a:pt x="18167" y="1468"/>
                </a:lnTo>
                <a:cubicBezTo>
                  <a:pt x="18152" y="1446"/>
                  <a:pt x="18124" y="1439"/>
                  <a:pt x="18102" y="1453"/>
                </a:cubicBezTo>
                <a:cubicBezTo>
                  <a:pt x="18079" y="1468"/>
                  <a:pt x="18072" y="1499"/>
                  <a:pt x="18086" y="1523"/>
                </a:cubicBezTo>
                <a:cubicBezTo>
                  <a:pt x="18100" y="1547"/>
                  <a:pt x="18130" y="1554"/>
                  <a:pt x="18152" y="1540"/>
                </a:cubicBezTo>
                <a:cubicBezTo>
                  <a:pt x="18153" y="1539"/>
                  <a:pt x="18153" y="1538"/>
                  <a:pt x="18154" y="1538"/>
                </a:cubicBezTo>
                <a:lnTo>
                  <a:pt x="19244" y="2604"/>
                </a:lnTo>
                <a:lnTo>
                  <a:pt x="18631" y="3066"/>
                </a:lnTo>
                <a:cubicBezTo>
                  <a:pt x="18615" y="3050"/>
                  <a:pt x="18591" y="3045"/>
                  <a:pt x="18572" y="3058"/>
                </a:cubicBezTo>
                <a:cubicBezTo>
                  <a:pt x="18549" y="3073"/>
                  <a:pt x="18542" y="3104"/>
                  <a:pt x="18556" y="3128"/>
                </a:cubicBezTo>
                <a:cubicBezTo>
                  <a:pt x="18560" y="3136"/>
                  <a:pt x="18567" y="3141"/>
                  <a:pt x="18574" y="3145"/>
                </a:cubicBezTo>
                <a:lnTo>
                  <a:pt x="18134" y="4589"/>
                </a:lnTo>
                <a:lnTo>
                  <a:pt x="17637" y="4673"/>
                </a:lnTo>
                <a:cubicBezTo>
                  <a:pt x="17636" y="4670"/>
                  <a:pt x="17636" y="4667"/>
                  <a:pt x="17634" y="4664"/>
                </a:cubicBezTo>
                <a:cubicBezTo>
                  <a:pt x="17620" y="4640"/>
                  <a:pt x="17590" y="4633"/>
                  <a:pt x="17567" y="4647"/>
                </a:cubicBezTo>
                <a:cubicBezTo>
                  <a:pt x="17544" y="4662"/>
                  <a:pt x="17537" y="4693"/>
                  <a:pt x="17551" y="4717"/>
                </a:cubicBezTo>
                <a:cubicBezTo>
                  <a:pt x="17552" y="4719"/>
                  <a:pt x="17554" y="4720"/>
                  <a:pt x="17555" y="4722"/>
                </a:cubicBezTo>
                <a:lnTo>
                  <a:pt x="17146" y="5264"/>
                </a:lnTo>
                <a:lnTo>
                  <a:pt x="15930" y="4715"/>
                </a:lnTo>
                <a:cubicBezTo>
                  <a:pt x="15932" y="4703"/>
                  <a:pt x="15930" y="4690"/>
                  <a:pt x="15924" y="4679"/>
                </a:cubicBezTo>
                <a:cubicBezTo>
                  <a:pt x="15910" y="4655"/>
                  <a:pt x="15880" y="4648"/>
                  <a:pt x="15857" y="4662"/>
                </a:cubicBezTo>
                <a:cubicBezTo>
                  <a:pt x="15834" y="4677"/>
                  <a:pt x="15827" y="4708"/>
                  <a:pt x="15841" y="4732"/>
                </a:cubicBezTo>
                <a:cubicBezTo>
                  <a:pt x="15847" y="4742"/>
                  <a:pt x="15856" y="4748"/>
                  <a:pt x="15865" y="4752"/>
                </a:cubicBezTo>
                <a:lnTo>
                  <a:pt x="15358" y="7599"/>
                </a:lnTo>
                <a:cubicBezTo>
                  <a:pt x="15350" y="7599"/>
                  <a:pt x="15343" y="7600"/>
                  <a:pt x="15336" y="7604"/>
                </a:cubicBezTo>
                <a:lnTo>
                  <a:pt x="13415" y="5107"/>
                </a:lnTo>
                <a:cubicBezTo>
                  <a:pt x="13428" y="5090"/>
                  <a:pt x="13431" y="5067"/>
                  <a:pt x="13420" y="5048"/>
                </a:cubicBezTo>
                <a:cubicBezTo>
                  <a:pt x="13406" y="5024"/>
                  <a:pt x="13376" y="5017"/>
                  <a:pt x="13353" y="5031"/>
                </a:cubicBezTo>
                <a:cubicBezTo>
                  <a:pt x="13330" y="5046"/>
                  <a:pt x="13323" y="5077"/>
                  <a:pt x="13337" y="5101"/>
                </a:cubicBezTo>
                <a:cubicBezTo>
                  <a:pt x="13339" y="5105"/>
                  <a:pt x="13342" y="5107"/>
                  <a:pt x="13345" y="5110"/>
                </a:cubicBezTo>
                <a:lnTo>
                  <a:pt x="11618" y="7802"/>
                </a:lnTo>
                <a:cubicBezTo>
                  <a:pt x="11615" y="7801"/>
                  <a:pt x="11613" y="7799"/>
                  <a:pt x="11611" y="7799"/>
                </a:cubicBezTo>
                <a:lnTo>
                  <a:pt x="11764" y="5919"/>
                </a:lnTo>
                <a:cubicBezTo>
                  <a:pt x="11772" y="5919"/>
                  <a:pt x="11780" y="5917"/>
                  <a:pt x="11787" y="5912"/>
                </a:cubicBezTo>
                <a:cubicBezTo>
                  <a:pt x="11810" y="5898"/>
                  <a:pt x="11817" y="5866"/>
                  <a:pt x="11803" y="5842"/>
                </a:cubicBezTo>
                <a:cubicBezTo>
                  <a:pt x="11789" y="5819"/>
                  <a:pt x="11759" y="5811"/>
                  <a:pt x="11736" y="5826"/>
                </a:cubicBezTo>
                <a:cubicBezTo>
                  <a:pt x="11715" y="5839"/>
                  <a:pt x="11708" y="5866"/>
                  <a:pt x="11718" y="5889"/>
                </a:cubicBezTo>
                <a:lnTo>
                  <a:pt x="9842" y="7133"/>
                </a:lnTo>
                <a:cubicBezTo>
                  <a:pt x="9827" y="7115"/>
                  <a:pt x="9801" y="7110"/>
                  <a:pt x="9781" y="7123"/>
                </a:cubicBezTo>
                <a:cubicBezTo>
                  <a:pt x="9758" y="7137"/>
                  <a:pt x="9751" y="7169"/>
                  <a:pt x="9765" y="7193"/>
                </a:cubicBezTo>
                <a:cubicBezTo>
                  <a:pt x="9770" y="7201"/>
                  <a:pt x="9777" y="7206"/>
                  <a:pt x="9784" y="7210"/>
                </a:cubicBezTo>
                <a:lnTo>
                  <a:pt x="8877" y="10654"/>
                </a:lnTo>
                <a:cubicBezTo>
                  <a:pt x="8868" y="10653"/>
                  <a:pt x="8858" y="10655"/>
                  <a:pt x="8849" y="10660"/>
                </a:cubicBezTo>
                <a:cubicBezTo>
                  <a:pt x="8827" y="10675"/>
                  <a:pt x="8819" y="10706"/>
                  <a:pt x="8834" y="10730"/>
                </a:cubicBezTo>
                <a:cubicBezTo>
                  <a:pt x="8834" y="10731"/>
                  <a:pt x="8835" y="10732"/>
                  <a:pt x="8835" y="10732"/>
                </a:cubicBezTo>
                <a:lnTo>
                  <a:pt x="8380" y="11262"/>
                </a:lnTo>
                <a:lnTo>
                  <a:pt x="6761" y="10620"/>
                </a:lnTo>
                <a:cubicBezTo>
                  <a:pt x="6763" y="10608"/>
                  <a:pt x="6762" y="10595"/>
                  <a:pt x="6755" y="10584"/>
                </a:cubicBezTo>
                <a:cubicBezTo>
                  <a:pt x="6741" y="10561"/>
                  <a:pt x="6712" y="10553"/>
                  <a:pt x="6689" y="10568"/>
                </a:cubicBezTo>
                <a:cubicBezTo>
                  <a:pt x="6666" y="10583"/>
                  <a:pt x="6659" y="10614"/>
                  <a:pt x="6673" y="10638"/>
                </a:cubicBezTo>
                <a:cubicBezTo>
                  <a:pt x="6675" y="10643"/>
                  <a:pt x="6679" y="10646"/>
                  <a:pt x="6683" y="10650"/>
                </a:cubicBezTo>
                <a:lnTo>
                  <a:pt x="5328" y="13163"/>
                </a:lnTo>
                <a:cubicBezTo>
                  <a:pt x="5315" y="13158"/>
                  <a:pt x="5300" y="13159"/>
                  <a:pt x="5287" y="13167"/>
                </a:cubicBezTo>
                <a:cubicBezTo>
                  <a:pt x="5272" y="13177"/>
                  <a:pt x="5265" y="13193"/>
                  <a:pt x="5265" y="13209"/>
                </a:cubicBezTo>
                <a:lnTo>
                  <a:pt x="3011" y="13544"/>
                </a:lnTo>
                <a:cubicBezTo>
                  <a:pt x="3010" y="13540"/>
                  <a:pt x="3009" y="13536"/>
                  <a:pt x="3007" y="13532"/>
                </a:cubicBezTo>
                <a:cubicBezTo>
                  <a:pt x="2993" y="13508"/>
                  <a:pt x="2963" y="13501"/>
                  <a:pt x="2940" y="13516"/>
                </a:cubicBezTo>
                <a:cubicBezTo>
                  <a:pt x="2917" y="13530"/>
                  <a:pt x="2910" y="13561"/>
                  <a:pt x="2924" y="13585"/>
                </a:cubicBezTo>
                <a:cubicBezTo>
                  <a:pt x="2929" y="13593"/>
                  <a:pt x="2935" y="13598"/>
                  <a:pt x="2942" y="13603"/>
                </a:cubicBezTo>
                <a:lnTo>
                  <a:pt x="2437" y="15456"/>
                </a:lnTo>
                <a:lnTo>
                  <a:pt x="1592" y="15324"/>
                </a:lnTo>
                <a:cubicBezTo>
                  <a:pt x="1591" y="15316"/>
                  <a:pt x="1590" y="15308"/>
                  <a:pt x="1585" y="15301"/>
                </a:cubicBezTo>
                <a:cubicBezTo>
                  <a:pt x="1571" y="15277"/>
                  <a:pt x="1542" y="15269"/>
                  <a:pt x="1519" y="15284"/>
                </a:cubicBezTo>
                <a:cubicBezTo>
                  <a:pt x="1496" y="15299"/>
                  <a:pt x="1489" y="15330"/>
                  <a:pt x="1503" y="15354"/>
                </a:cubicBezTo>
                <a:cubicBezTo>
                  <a:pt x="1511" y="15368"/>
                  <a:pt x="1525" y="15376"/>
                  <a:pt x="1539" y="15377"/>
                </a:cubicBezTo>
                <a:lnTo>
                  <a:pt x="1774" y="17551"/>
                </a:lnTo>
                <a:lnTo>
                  <a:pt x="176" y="19964"/>
                </a:lnTo>
                <a:cubicBezTo>
                  <a:pt x="162" y="19957"/>
                  <a:pt x="146" y="19957"/>
                  <a:pt x="132" y="19966"/>
                </a:cubicBezTo>
                <a:cubicBezTo>
                  <a:pt x="109" y="19981"/>
                  <a:pt x="102" y="20012"/>
                  <a:pt x="116" y="20036"/>
                </a:cubicBezTo>
                <a:cubicBezTo>
                  <a:pt x="130" y="20060"/>
                  <a:pt x="160" y="20067"/>
                  <a:pt x="182" y="20053"/>
                </a:cubicBezTo>
                <a:cubicBezTo>
                  <a:pt x="203" y="20040"/>
                  <a:pt x="210" y="20013"/>
                  <a:pt x="201" y="19991"/>
                </a:cubicBezTo>
                <a:lnTo>
                  <a:pt x="946" y="19506"/>
                </a:lnTo>
                <a:lnTo>
                  <a:pt x="59" y="21486"/>
                </a:lnTo>
                <a:cubicBezTo>
                  <a:pt x="47" y="21483"/>
                  <a:pt x="34" y="21485"/>
                  <a:pt x="23" y="21492"/>
                </a:cubicBezTo>
                <a:cubicBezTo>
                  <a:pt x="0" y="21506"/>
                  <a:pt x="-7" y="21538"/>
                  <a:pt x="7" y="21562"/>
                </a:cubicBezTo>
                <a:close/>
              </a:path>
            </a:pathLst>
          </a:custGeom>
          <a:gradFill>
            <a:gsLst>
              <a:gs pos="31000">
                <a:schemeClr val="accent1"/>
              </a:gs>
              <a:gs pos="51000">
                <a:schemeClr val="accent4"/>
              </a:gs>
              <a:gs pos="73751">
                <a:schemeClr val="accent2"/>
              </a:gs>
            </a:gsLst>
          </a:gradFill>
          <a:ln w="12700">
            <a:miter lim="400000"/>
          </a:ln>
        </p:spPr>
        <p:txBody>
          <a:bodyPr lIns="38100" tIns="38100" rIns="38100" bIns="38100" anchor="ctr"/>
          <a:lstStyle/>
          <a:p>
            <a:pPr defTabSz="4572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dirty="0">
              <a:latin typeface="Calibri Regular"/>
              <a:ea typeface="Arial Regular" charset="0"/>
              <a:cs typeface="Arial Regular" charset="0"/>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DESIGN_ID_NEW_TEMPLATE8" val="vakFWLBE"/>
  <p:tag name="ARTICULATE_SLIDE_COUNT" val="13"/>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_rels/theme2.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New_Template8">
  <a:themeElements>
    <a:clrScheme name="Custom 249">
      <a:dk1>
        <a:srgbClr val="0D0D23"/>
      </a:dk1>
      <a:lt1>
        <a:srgbClr val="FFFFFF"/>
      </a:lt1>
      <a:dk2>
        <a:srgbClr val="0D0D23"/>
      </a:dk2>
      <a:lt2>
        <a:srgbClr val="FFFFFF"/>
      </a:lt2>
      <a:accent1>
        <a:srgbClr val="285FAC"/>
      </a:accent1>
      <a:accent2>
        <a:srgbClr val="69E3F7"/>
      </a:accent2>
      <a:accent3>
        <a:srgbClr val="F75137"/>
      </a:accent3>
      <a:accent4>
        <a:srgbClr val="37EDB9"/>
      </a:accent4>
      <a:accent5>
        <a:srgbClr val="F92471"/>
      </a:accent5>
      <a:accent6>
        <a:srgbClr val="9966CC"/>
      </a:accent6>
      <a:hlink>
        <a:srgbClr val="285FAC"/>
      </a:hlink>
      <a:folHlink>
        <a:srgbClr val="40444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New_Template8">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4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Helvetica Neue UltraLight"/>
            <a:ea typeface="Helvetica Neue UltraLight"/>
            <a:cs typeface="Helvetica Neue UltraLight"/>
            <a:sym typeface="Helvetica Neue Ultra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5">
              <a:alpha val="75000"/>
            </a:schemeClr>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t">
        <a:spAutoFit/>
      </a:bodyPr>
      <a:lstStyle>
        <a:defPPr marL="0" marR="0" indent="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Helvetica Neue UltraLight"/>
            <a:ea typeface="Helvetica Neue UltraLight"/>
            <a:cs typeface="Helvetica Neue UltraLight"/>
            <a:sym typeface="Helvetica Neue Ultra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CIS4204_ppt_template" id="{8A0FDE21-5E3A-1C42-8E42-F4EF10B2D54E}" vid="{E061921F-9E2A-484F-81D1-DDD2BAE36C14}"/>
    </a:ext>
  </a:extLst>
</a:theme>
</file>

<file path=ppt/theme/theme2.xml><?xml version="1.0" encoding="utf-8"?>
<a:theme xmlns:a="http://schemas.openxmlformats.org/drawingml/2006/main" name="New_Template8">
  <a:themeElements>
    <a:clrScheme name="New_Template8">
      <a:dk1>
        <a:srgbClr val="000000"/>
      </a:dk1>
      <a:lt1>
        <a:srgbClr val="FFFFFF"/>
      </a:lt1>
      <a:dk2>
        <a:srgbClr val="5B5854"/>
      </a:dk2>
      <a:lt2>
        <a:srgbClr val="C9C3BA"/>
      </a:lt2>
      <a:accent1>
        <a:srgbClr val="708CA5"/>
      </a:accent1>
      <a:accent2>
        <a:srgbClr val="80A7A7"/>
      </a:accent2>
      <a:accent3>
        <a:srgbClr val="98A66D"/>
      </a:accent3>
      <a:accent4>
        <a:srgbClr val="CF9E5B"/>
      </a:accent4>
      <a:accent5>
        <a:srgbClr val="C87C6D"/>
      </a:accent5>
      <a:accent6>
        <a:srgbClr val="837B9A"/>
      </a:accent6>
      <a:hlink>
        <a:srgbClr val="0000FF"/>
      </a:hlink>
      <a:folHlink>
        <a:srgbClr val="FF00FF"/>
      </a:folHlink>
    </a:clrScheme>
    <a:fontScheme name="New_Template8">
      <a:majorFont>
        <a:latin typeface="Futura"/>
        <a:ea typeface="Futura"/>
        <a:cs typeface="Futura"/>
      </a:majorFont>
      <a:minorFont>
        <a:latin typeface="Futura"/>
        <a:ea typeface="Futura"/>
        <a:cs typeface="Futura"/>
      </a:minorFont>
    </a:fontScheme>
    <a:fmtScheme name="New_Template8">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4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Helvetica Neue UltraLight"/>
            <a:ea typeface="Helvetica Neue UltraLight"/>
            <a:cs typeface="Helvetica Neue UltraLight"/>
            <a:sym typeface="Helvetica Neue Ultra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5">
              <a:alpha val="75000"/>
            </a:schemeClr>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t">
        <a:spAutoFit/>
      </a:bodyPr>
      <a:lstStyle>
        <a:defPPr marL="0" marR="0" indent="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Helvetica Neue UltraLight"/>
            <a:ea typeface="Helvetica Neue UltraLight"/>
            <a:cs typeface="Helvetica Neue UltraLight"/>
            <a:sym typeface="Helvetica Neue Ultra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emplate>CIS4204_ppt_template</Template>
  <TotalTime>214</TotalTime>
  <Words>1154</Words>
  <Application>Microsoft Macintosh PowerPoint</Application>
  <PresentationFormat>Custom</PresentationFormat>
  <Paragraphs>107</Paragraphs>
  <Slides>13</Slides>
  <Notes>11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13</vt:i4>
      </vt:variant>
    </vt:vector>
  </HeadingPairs>
  <TitlesOfParts>
    <vt:vector size="23" baseType="lpstr">
      <vt:lpstr>Arial</vt:lpstr>
      <vt:lpstr>Arial Regular</vt:lpstr>
      <vt:lpstr>Calibri Bold</vt:lpstr>
      <vt:lpstr>Calibri Regular</vt:lpstr>
      <vt:lpstr>Consolas</vt:lpstr>
      <vt:lpstr>Fira Code</vt:lpstr>
      <vt:lpstr>Helvetica Neue UltraLight</vt:lpstr>
      <vt:lpstr>Montserrat</vt:lpstr>
      <vt:lpstr>Montserrat Bold</vt:lpstr>
      <vt:lpstr>New_Template8</vt:lpstr>
      <vt:lpstr>VMS, KALI, LINUX, ETC.</vt:lpstr>
      <vt:lpstr>In this Video You will Discover:</vt:lpstr>
      <vt:lpstr>Virtual Machine (VM)</vt:lpstr>
      <vt:lpstr>Kali Linux</vt:lpstr>
      <vt:lpstr>What’s a Kali VM and Why Would I Use One?</vt:lpstr>
      <vt:lpstr>Why Should I Care About Linux?</vt:lpstr>
      <vt:lpstr>But What If I am Not a Linux Guru?</vt:lpstr>
      <vt:lpstr>What’s the Etc. Part?</vt:lpstr>
      <vt:lpstr>What About Logging In to Kali?</vt:lpstr>
      <vt:lpstr>What’s Up With This Plunder Server?</vt:lpstr>
      <vt:lpstr>Plunder Passwords</vt:lpstr>
      <vt:lpstr>Closing Thoughts</vt:lpstr>
      <vt:lpstr>You Have Reached the End Of This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Goughnour,Kellie</dc:creator>
  <cp:lastModifiedBy>Microsoft Office User</cp:lastModifiedBy>
  <cp:revision>22</cp:revision>
  <dcterms:created xsi:type="dcterms:W3CDTF">2020-01-30T19:33:22Z</dcterms:created>
  <dcterms:modified xsi:type="dcterms:W3CDTF">2022-08-28T13:40:56Z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5731C0A1-65C2-4E7F-9DD3-455A77E97BBE</vt:lpwstr>
  </property>
  <property fmtid="{D5CDD505-2E9C-101B-9397-08002B2CF9AE}" pid="3" name="ArticulatePath">
    <vt:lpwstr>Presentation2</vt:lpwstr>
  </property>
</Properties>
</file>