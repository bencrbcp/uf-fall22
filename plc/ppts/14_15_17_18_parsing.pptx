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27960" y="893880"/>
            <a:ext cx="755604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88288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43780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2796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88288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43780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327960" y="893880"/>
            <a:ext cx="755604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288288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543780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32796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288288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543780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2704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" name="Picture 1" descr="HWCOE-PPT---title-slide-2.png"/>
          <p:cNvPicPr/>
          <p:nvPr/>
        </p:nvPicPr>
        <p:blipFill>
          <a:blip r:embed="rId3"/>
          <a:stretch/>
        </p:blipFill>
        <p:spPr>
          <a:xfrm>
            <a:off x="0" y="0"/>
            <a:ext cx="9140760" cy="5143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71200" y="1676160"/>
            <a:ext cx="8272440" cy="1333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Presentation Title</a:t>
            </a:r>
            <a:br>
              <a:rPr sz="4800"/>
            </a:b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With Two Lines</a:t>
            </a:r>
            <a:endParaRPr b="0" lang="en-US" sz="4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71200" y="3095640"/>
            <a:ext cx="8681040" cy="580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Presentation Subtitle</a:t>
            </a:r>
            <a:endParaRPr b="0" lang="en-US" sz="24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2704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Click to edit Master text styles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Second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Third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Fourth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Fifth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71200" y="1676160"/>
            <a:ext cx="8272440" cy="1333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Parsing</a:t>
            </a:r>
            <a:endParaRPr b="0" lang="en-US" sz="4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71200" y="3095640"/>
            <a:ext cx="8681040" cy="11563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COP 4020</a:t>
            </a:r>
            <a:endParaRPr b="0" lang="en-US" sz="24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Language Translation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Step 1:  Lexical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Convert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sequence of characters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into a sequence of potential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tokens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structure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typically specified with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regular expressions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Step 2:  Parsing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Recognize legal phrases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[token order] using the rules of a grammar (CFG).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Construct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an Abstract Syntax Tree (AST).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Does not use</a:t>
            </a: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 regular expressions!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8156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Why Not Parse with Regular Expressions?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499824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Regular expressions are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not recursive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Thus, </a:t>
            </a:r>
            <a:r>
              <a:rPr b="0" lang="en-US" sz="2000" spc="-1" strike="noStrike" u="sng">
                <a:solidFill>
                  <a:schemeClr val="accent3"/>
                </a:solidFill>
                <a:uFillTx/>
                <a:latin typeface="Cambria"/>
                <a:ea typeface="MS PGothic"/>
              </a:rPr>
              <a:t>cannot specify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nested constructs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0000"/>
                </a:solidFill>
                <a:uFillTx/>
                <a:latin typeface="Cambria"/>
                <a:ea typeface="MS PGothic"/>
              </a:rPr>
              <a:t>Example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  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Is an expression with…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Two sub-expressions:  and 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Each with two more sub-expressions: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and</a:t>
            </a: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and</a:t>
            </a: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86" name="Cloud Callout 4"/>
          <p:cNvSpPr/>
          <p:nvPr/>
        </p:nvSpPr>
        <p:spPr>
          <a:xfrm>
            <a:off x="5158800" y="1195200"/>
            <a:ext cx="3656880" cy="3125880"/>
          </a:xfrm>
          <a:prstGeom prst="cloudCallout">
            <a:avLst>
              <a:gd name="adj1" fmla="val -20833"/>
              <a:gd name="adj2" fmla="val 62500"/>
            </a:avLst>
          </a:prstGeom>
          <a:gradFill rotWithShape="0">
            <a:gsLst>
              <a:gs pos="0">
                <a:srgbClr val="003768"/>
              </a:gs>
              <a:gs pos="100000">
                <a:srgbClr val="e17f35"/>
              </a:gs>
            </a:gsLst>
            <a:lin ang="5400000"/>
          </a:gra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The language of expressions cannot be specified 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with regular expressions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8156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Why Not Parse with Regular Expressions?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499824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Regular expressions are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not recursive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Thus,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cannot specify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nested constructs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0000"/>
                </a:solidFill>
                <a:uFillTx/>
                <a:latin typeface="Cambria"/>
                <a:ea typeface="MS PGothic"/>
              </a:rPr>
              <a:t>Example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  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Is an expression with…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Two sub-expressions:  and 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Each with two more sub-expressions: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and</a:t>
            </a: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and</a:t>
            </a:r>
            <a:r>
              <a:rPr b="0" lang="en-US" sz="1800" spc="-1" strike="noStrike">
                <a:solidFill>
                  <a:srgbClr val="000000"/>
                </a:solidFill>
                <a:latin typeface="Cambria Math"/>
                <a:ea typeface="MS PGothic"/>
              </a:rPr>
              <a:t> 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89" name="Oval 3"/>
          <p:cNvSpPr/>
          <p:nvPr/>
        </p:nvSpPr>
        <p:spPr>
          <a:xfrm>
            <a:off x="6693840" y="2122200"/>
            <a:ext cx="914040" cy="4878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e17f35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Rockwell"/>
                <a:ea typeface="MS PGothic"/>
              </a:rPr>
              <a:t>+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0" name="Oval 5"/>
          <p:cNvSpPr/>
          <p:nvPr/>
        </p:nvSpPr>
        <p:spPr>
          <a:xfrm>
            <a:off x="7454520" y="2960280"/>
            <a:ext cx="914040" cy="4878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e17f35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Rockwell"/>
                <a:ea typeface="MS PGothic"/>
              </a:rPr>
              <a:t>+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Oval 6"/>
          <p:cNvSpPr/>
          <p:nvPr/>
        </p:nvSpPr>
        <p:spPr>
          <a:xfrm>
            <a:off x="5933160" y="2960280"/>
            <a:ext cx="914040" cy="4878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e17f35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Rockwell"/>
                <a:ea typeface="MS PGothic"/>
              </a:rPr>
              <a:t>+</a:t>
            </a:r>
            <a:endParaRPr b="0" lang="en-US" sz="24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2" name="Rectangle 7"/>
              <p:cNvSpPr txBox="1"/>
              <p:nvPr/>
            </p:nvSpPr>
            <p:spPr>
              <a:xfrm>
                <a:off x="5846760" y="4103280"/>
                <a:ext cx="480240" cy="49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𝑥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93" name="Rectangle 9"/>
              <p:cNvSpPr txBox="1"/>
              <p:nvPr/>
            </p:nvSpPr>
            <p:spPr>
              <a:xfrm>
                <a:off x="7368120" y="4103280"/>
                <a:ext cx="480240" cy="49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𝑤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94" name="Rectangle 10"/>
              <p:cNvSpPr txBox="1"/>
              <p:nvPr/>
            </p:nvSpPr>
            <p:spPr>
              <a:xfrm>
                <a:off x="6607440" y="4103280"/>
                <a:ext cx="480240" cy="49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𝑦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95" name="Rectangle 11"/>
              <p:cNvSpPr txBox="1"/>
              <p:nvPr/>
            </p:nvSpPr>
            <p:spPr>
              <a:xfrm>
                <a:off x="8128800" y="4103280"/>
                <a:ext cx="480240" cy="49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𝑧</m:t>
                    </m:r>
                  </m:oMath>
                </a14:m>
              </a:p>
            </p:txBody>
          </p:sp>
        </mc:Choice>
        <mc:Fallback/>
      </mc:AlternateContent>
      <p:cxnSp>
        <p:nvCxnSpPr>
          <p:cNvPr id="96" name="Straight Connector 13"/>
          <p:cNvCxnSpPr>
            <a:stCxn id="89" idx="3"/>
            <a:endCxn id="91" idx="0"/>
          </p:cNvCxnSpPr>
          <p:nvPr/>
        </p:nvCxnSpPr>
        <p:spPr>
          <a:xfrm flipH="1">
            <a:off x="6390360" y="2538720"/>
            <a:ext cx="437400" cy="421920"/>
          </a:xfrm>
          <a:prstGeom prst="straightConnector1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</p:cxnSp>
      <p:cxnSp>
        <p:nvCxnSpPr>
          <p:cNvPr id="97" name="Straight Connector 14"/>
          <p:cNvCxnSpPr>
            <a:stCxn id="89" idx="5"/>
            <a:endCxn id="90" idx="0"/>
          </p:cNvCxnSpPr>
          <p:nvPr/>
        </p:nvCxnSpPr>
        <p:spPr>
          <a:xfrm>
            <a:off x="7474320" y="2538720"/>
            <a:ext cx="437760" cy="421920"/>
          </a:xfrm>
          <a:prstGeom prst="straightConnector1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</p:cxnSp>
      <p:cxnSp>
        <p:nvCxnSpPr>
          <p:cNvPr id="98" name="Straight Connector 17"/>
          <p:cNvCxnSpPr>
            <a:stCxn id="91" idx="4"/>
            <a:endCxn id="92" idx="0"/>
          </p:cNvCxnSpPr>
          <p:nvPr/>
        </p:nvCxnSpPr>
        <p:spPr>
          <a:xfrm flipH="1">
            <a:off x="6086880" y="3448080"/>
            <a:ext cx="303840" cy="655560"/>
          </a:xfrm>
          <a:prstGeom prst="straightConnector1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</p:cxnSp>
      <p:cxnSp>
        <p:nvCxnSpPr>
          <p:cNvPr id="99" name="Straight Connector 20"/>
          <p:cNvCxnSpPr>
            <a:stCxn id="91" idx="4"/>
            <a:endCxn id="94" idx="0"/>
          </p:cNvCxnSpPr>
          <p:nvPr/>
        </p:nvCxnSpPr>
        <p:spPr>
          <a:xfrm>
            <a:off x="6390360" y="3448080"/>
            <a:ext cx="457560" cy="655560"/>
          </a:xfrm>
          <a:prstGeom prst="straightConnector1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</p:cxnSp>
      <p:cxnSp>
        <p:nvCxnSpPr>
          <p:cNvPr id="100" name="Straight Connector 23"/>
          <p:cNvCxnSpPr/>
          <p:nvPr/>
        </p:nvCxnSpPr>
        <p:spPr>
          <a:xfrm flipH="1">
            <a:off x="7608240" y="3448080"/>
            <a:ext cx="303840" cy="655560"/>
          </a:xfrm>
          <a:prstGeom prst="straightConnector1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</p:cxnSp>
      <p:cxnSp>
        <p:nvCxnSpPr>
          <p:cNvPr id="101" name="Straight Connector 24"/>
          <p:cNvCxnSpPr/>
          <p:nvPr/>
        </p:nvCxnSpPr>
        <p:spPr>
          <a:xfrm>
            <a:off x="7911720" y="3448080"/>
            <a:ext cx="457560" cy="655560"/>
          </a:xfrm>
          <a:prstGeom prst="straightConnector1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</p:cxnSp>
      <p:sp>
        <p:nvSpPr>
          <p:cNvPr id="102" name="TextBox 25"/>
          <p:cNvSpPr/>
          <p:nvPr/>
        </p:nvSpPr>
        <p:spPr>
          <a:xfrm>
            <a:off x="6679440" y="1374840"/>
            <a:ext cx="94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AST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3" name="TextBox 26"/>
          <p:cNvSpPr/>
          <p:nvPr/>
        </p:nvSpPr>
        <p:spPr>
          <a:xfrm>
            <a:off x="3916800" y="1594080"/>
            <a:ext cx="2009160" cy="821160"/>
          </a:xfrm>
          <a:prstGeom prst="rect">
            <a:avLst/>
          </a:prstGeom>
          <a:solidFill>
            <a:srgbClr val="ffffe4"/>
          </a:solidFill>
          <a:ln w="0">
            <a:solidFill>
              <a:srgbClr val="000000">
                <a:lumMod val="75000"/>
                <a:lumOff val="2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Token Type:</a:t>
            </a:r>
            <a:br>
              <a:rPr sz="2400"/>
            </a:br>
            <a:r>
              <a:rPr b="0" lang="en-US" sz="2400" spc="-1" strike="noStrike">
                <a:solidFill>
                  <a:srgbClr val="1f4aff"/>
                </a:solidFill>
                <a:latin typeface="Rockwell"/>
                <a:ea typeface="MS PGothic"/>
              </a:rPr>
              <a:t>OPERATOR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4" name="TextBox 27"/>
          <p:cNvSpPr/>
          <p:nvPr/>
        </p:nvSpPr>
        <p:spPr>
          <a:xfrm>
            <a:off x="3344760" y="3033000"/>
            <a:ext cx="2009160" cy="821160"/>
          </a:xfrm>
          <a:prstGeom prst="rect">
            <a:avLst/>
          </a:prstGeom>
          <a:solidFill>
            <a:srgbClr val="ffffe4"/>
          </a:solidFill>
          <a:ln w="0">
            <a:solidFill>
              <a:srgbClr val="000000">
                <a:lumMod val="75000"/>
                <a:lumOff val="2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Token Type:  </a:t>
            </a:r>
            <a:r>
              <a:rPr b="0" lang="en-US" sz="2400" spc="-1" strike="noStrike">
                <a:solidFill>
                  <a:schemeClr val="accent3"/>
                </a:solidFill>
                <a:latin typeface="Rockwell"/>
                <a:ea typeface="MS PGothic"/>
              </a:rPr>
              <a:t>IDENTIFIER</a:t>
            </a:r>
            <a:endParaRPr b="0" lang="en-US" sz="2400" spc="-1" strike="noStrike">
              <a:latin typeface="Arial"/>
            </a:endParaRPr>
          </a:p>
        </p:txBody>
      </p:sp>
      <p:cxnSp>
        <p:nvCxnSpPr>
          <p:cNvPr id="105" name="Straight Arrow Connector 29"/>
          <p:cNvCxnSpPr/>
          <p:nvPr/>
        </p:nvCxnSpPr>
        <p:spPr>
          <a:xfrm>
            <a:off x="6019560" y="2043000"/>
            <a:ext cx="599760" cy="216720"/>
          </a:xfrm>
          <a:prstGeom prst="straightConnector1">
            <a:avLst/>
          </a:prstGeom>
          <a:ln>
            <a:solidFill>
              <a:srgbClr val="000c3e">
                <a:lumMod val="50000"/>
                <a:lumOff val="50000"/>
              </a:srgbClr>
            </a:solidFill>
            <a:round/>
            <a:tailEnd len="med" type="arrow" w="med"/>
          </a:ln>
        </p:spPr>
      </p:cxnSp>
      <p:cxnSp>
        <p:nvCxnSpPr>
          <p:cNvPr id="106" name="Straight Arrow Connector 33"/>
          <p:cNvCxnSpPr/>
          <p:nvPr/>
        </p:nvCxnSpPr>
        <p:spPr>
          <a:xfrm>
            <a:off x="5995440" y="2316600"/>
            <a:ext cx="1459440" cy="703800"/>
          </a:xfrm>
          <a:prstGeom prst="straightConnector1">
            <a:avLst/>
          </a:prstGeom>
          <a:ln>
            <a:solidFill>
              <a:srgbClr val="000c3e">
                <a:lumMod val="50000"/>
                <a:lumOff val="50000"/>
              </a:srgbClr>
            </a:solidFill>
            <a:round/>
            <a:tailEnd len="med" type="arrow" w="med"/>
          </a:ln>
        </p:spPr>
      </p:cxnSp>
      <p:cxnSp>
        <p:nvCxnSpPr>
          <p:cNvPr id="107" name="Straight Arrow Connector 34"/>
          <p:cNvCxnSpPr/>
          <p:nvPr/>
        </p:nvCxnSpPr>
        <p:spPr>
          <a:xfrm>
            <a:off x="5572440" y="2499480"/>
            <a:ext cx="447480" cy="400680"/>
          </a:xfrm>
          <a:prstGeom prst="straightConnector1">
            <a:avLst/>
          </a:prstGeom>
          <a:ln>
            <a:solidFill>
              <a:srgbClr val="000c3e">
                <a:lumMod val="50000"/>
                <a:lumOff val="50000"/>
              </a:srgbClr>
            </a:solidFill>
            <a:round/>
            <a:tailEnd len="med" type="arrow" w="med"/>
          </a:ln>
        </p:spPr>
      </p:cxnSp>
      <p:cxnSp>
        <p:nvCxnSpPr>
          <p:cNvPr id="108" name="Straight Arrow Connector 37"/>
          <p:cNvCxnSpPr/>
          <p:nvPr/>
        </p:nvCxnSpPr>
        <p:spPr>
          <a:xfrm>
            <a:off x="4764240" y="3977280"/>
            <a:ext cx="947880" cy="374400"/>
          </a:xfrm>
          <a:prstGeom prst="straightConnector1">
            <a:avLst/>
          </a:prstGeom>
          <a:ln>
            <a:solidFill>
              <a:srgbClr val="e17f35"/>
            </a:solidFill>
            <a:round/>
            <a:tailEnd len="med" type="arrow" w="med"/>
          </a:ln>
        </p:spPr>
      </p:cxnSp>
      <p:cxnSp>
        <p:nvCxnSpPr>
          <p:cNvPr id="109" name="Straight Arrow Connector 39"/>
          <p:cNvCxnSpPr/>
          <p:nvPr/>
        </p:nvCxnSpPr>
        <p:spPr>
          <a:xfrm>
            <a:off x="5417280" y="3344400"/>
            <a:ext cx="2648520" cy="733320"/>
          </a:xfrm>
          <a:prstGeom prst="straightConnector1">
            <a:avLst/>
          </a:prstGeom>
          <a:ln>
            <a:solidFill>
              <a:srgbClr val="e17f35"/>
            </a:solidFill>
            <a:round/>
            <a:tailEnd len="med" type="arrow" w="med"/>
          </a:ln>
        </p:spPr>
      </p:cxnSp>
      <p:cxnSp>
        <p:nvCxnSpPr>
          <p:cNvPr id="110" name="Straight Arrow Connector 42"/>
          <p:cNvCxnSpPr/>
          <p:nvPr/>
        </p:nvCxnSpPr>
        <p:spPr>
          <a:xfrm>
            <a:off x="5448960" y="3506760"/>
            <a:ext cx="1846440" cy="570960"/>
          </a:xfrm>
          <a:prstGeom prst="straightConnector1">
            <a:avLst/>
          </a:prstGeom>
          <a:ln>
            <a:solidFill>
              <a:srgbClr val="e17f35"/>
            </a:solidFill>
            <a:round/>
            <a:tailEnd len="med" type="arrow" w="med"/>
          </a:ln>
        </p:spPr>
      </p:cxnSp>
      <p:cxnSp>
        <p:nvCxnSpPr>
          <p:cNvPr id="111" name="Straight Arrow Connector 44"/>
          <p:cNvCxnSpPr/>
          <p:nvPr/>
        </p:nvCxnSpPr>
        <p:spPr>
          <a:xfrm>
            <a:off x="5408640" y="3745080"/>
            <a:ext cx="1115280" cy="343800"/>
          </a:xfrm>
          <a:prstGeom prst="straightConnector1">
            <a:avLst/>
          </a:prstGeom>
          <a:ln>
            <a:solidFill>
              <a:srgbClr val="e17f35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Grammars and Parsing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Grammars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Cambria Math"/>
              </a:rPr>
              <a:t>generate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, while Parsers </a:t>
            </a:r>
            <a:r>
              <a:rPr b="0" i="1" lang="en-US" sz="2000" spc="-1" strike="noStrike">
                <a:solidFill>
                  <a:srgbClr val="1f4aff"/>
                </a:solidFill>
                <a:latin typeface="Cambria"/>
                <a:ea typeface="Cambria Math"/>
              </a:rPr>
              <a:t>recognize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parsing algorithms exist for CFG, </a:t>
            </a:r>
            <a:r>
              <a:rPr b="0" i="1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linear time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 is preferred.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rgbClr val="000000"/>
                </a:solidFill>
                <a:uFillTx/>
                <a:latin typeface="Cambria"/>
                <a:ea typeface="Cambria Math"/>
              </a:rPr>
              <a:t>At each step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Cambria Math"/>
              </a:rPr>
              <a:t>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Lucida Grande Bold"/>
              <a:buChar char="↳"/>
            </a:pPr>
            <a:r>
              <a:rPr b="0" i="1" lang="en-US" sz="1800" spc="-1" strike="noStrike">
                <a:solidFill>
                  <a:srgbClr val="000000"/>
                </a:solidFill>
                <a:latin typeface="Cambria"/>
                <a:ea typeface="Cambria Math"/>
              </a:rPr>
              <a:t>Replace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Cambria Math"/>
              </a:rPr>
              <a:t> a non-terminal symbol with one of its productions, trying to match prefixes in the sentence.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Lucida Grande Bold"/>
              <a:buChar char="↳"/>
            </a:pPr>
            <a:r>
              <a:rPr b="0" i="1" lang="en-US" sz="1800" spc="-1" strike="noStrike">
                <a:solidFill>
                  <a:srgbClr val="000000"/>
                </a:solidFill>
                <a:latin typeface="Cambria"/>
                <a:ea typeface="Cambria Math"/>
              </a:rPr>
              <a:t>Remove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Cambria Math"/>
              </a:rPr>
              <a:t> matching prefixes.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Lucida Grande Bold"/>
              <a:buChar char="↳"/>
            </a:pPr>
            <a:r>
              <a:rPr b="0" i="1" lang="en-US" sz="1800" spc="-1" strike="noStrike">
                <a:solidFill>
                  <a:srgbClr val="1f4aff"/>
                </a:solidFill>
                <a:latin typeface="Cambria"/>
                <a:ea typeface="Cambria Math"/>
              </a:rPr>
              <a:t>Check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Cambria Math"/>
              </a:rPr>
              <a:t> if the resulting string is </a:t>
            </a:r>
            <a:r>
              <a:rPr b="0" lang="en-US" sz="1800" spc="-1" strike="noStrike">
                <a:solidFill>
                  <a:srgbClr val="1f4aff"/>
                </a:solidFill>
                <a:latin typeface="Cambria"/>
                <a:ea typeface="Cambria Math"/>
              </a:rPr>
              <a:t>empty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Cambria Math"/>
              </a:rPr>
              <a:t>, then the sentence is in the grammar.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Example:  Parsing a Grammar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Here is a sample grammar for parsing integer expressions.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16" name="Horizontal Scroll 3"/>
          <p:cNvSpPr/>
          <p:nvPr/>
        </p:nvSpPr>
        <p:spPr>
          <a:xfrm>
            <a:off x="663120" y="1916280"/>
            <a:ext cx="7619760" cy="232272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expr ::= term ( (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800" spc="-1" strike="noStrike">
                <a:solidFill>
                  <a:srgbClr val="0099ff"/>
                </a:solidFill>
                <a:latin typeface="Consolas"/>
                <a:ea typeface="MS PGothic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-</a:t>
            </a:r>
            <a:r>
              <a:rPr b="0" lang="en-US" sz="1800" spc="-1" strike="noStrike">
                <a:solidFill>
                  <a:srgbClr val="0099ff"/>
                </a:solidFill>
                <a:latin typeface="Consolas"/>
                <a:ea typeface="MS PGothic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)  term )*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term ::= factor ( (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/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 )  factor )*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factor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INT_LIT</a:t>
            </a:r>
            <a:r>
              <a:rPr b="0" lang="en-US" sz="1800" spc="-1" strike="noStrike">
                <a:solidFill>
                  <a:schemeClr val="accent2"/>
                </a:solidFill>
                <a:latin typeface="Consolas"/>
                <a:ea typeface="MS PGothic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| </a:t>
            </a:r>
            <a:r>
              <a:rPr b="1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(</a:t>
            </a:r>
            <a:r>
              <a:rPr b="1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expr </a:t>
            </a:r>
            <a:r>
              <a:rPr b="1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" name="Content Placeholder 2"/>
          <p:cNvSpPr/>
          <p:nvPr/>
        </p:nvSpPr>
        <p:spPr>
          <a:xfrm>
            <a:off x="327960" y="4430520"/>
            <a:ext cx="84880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In the following, we use existing classes Scanner and Token.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9" name="Horizontal Scroll 3"/>
          <p:cNvSpPr/>
          <p:nvPr/>
        </p:nvSpPr>
        <p:spPr>
          <a:xfrm>
            <a:off x="525960" y="936360"/>
            <a:ext cx="7991280" cy="401688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class SimpleParser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Scanner scanner;  // token producer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Token token;      // the next token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SimpleParser(Scanner scanner)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this.scanner = scanner;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token = scanner.nextToken();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1" name="Horizontal Scroll 3"/>
          <p:cNvSpPr/>
          <p:nvPr/>
        </p:nvSpPr>
        <p:spPr>
          <a:xfrm>
            <a:off x="525960" y="555480"/>
            <a:ext cx="7991280" cy="451980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… continued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Token consume()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token temp = token;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token = scanner.getNext();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return temp;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void process(Type type)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token.isType(type)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consume();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 else { // handle error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Horizontal Scroll 4"/>
          <p:cNvSpPr/>
          <p:nvPr/>
        </p:nvSpPr>
        <p:spPr>
          <a:xfrm>
            <a:off x="215640" y="555480"/>
            <a:ext cx="8742960" cy="478692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… continued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expr()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term();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token.isType(PLUS) || token.isType(MINUS)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token.isType(PLUS) ) {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process(PLUS);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if ( token.isType(MINUS)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process(MINUS);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term();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150560" y="4742280"/>
            <a:ext cx="5732640" cy="517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// expr ::= term ( (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|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-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)  term ) *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Horizontal Scroll 4"/>
          <p:cNvSpPr/>
          <p:nvPr/>
        </p:nvSpPr>
        <p:spPr>
          <a:xfrm>
            <a:off x="215640" y="555480"/>
            <a:ext cx="8722440" cy="475596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… continued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term()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token.isType(TIMES) || token.isType(DIV)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switch ( token.type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case TIMES:  process(TIMES);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     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break;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case DIV:  process(DIV);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   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break;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150560" y="4731840"/>
            <a:ext cx="6688080" cy="517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// term ::= factor ( (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|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/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)  factor ) *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Horizontal Scroll 4"/>
          <p:cNvSpPr/>
          <p:nvPr/>
        </p:nvSpPr>
        <p:spPr>
          <a:xfrm>
            <a:off x="215640" y="555480"/>
            <a:ext cx="8763480" cy="475596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… continued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term()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token.isType(TIMES) || token.isType(DIV)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switch ( token.type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case TIMES:  consume();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     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break;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case DIV:  consume();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   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break;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150560" y="4742280"/>
            <a:ext cx="6688080" cy="517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// term ::= factor ( (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|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/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)  factor ) *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Horizontal Scroll 4"/>
          <p:cNvSpPr/>
          <p:nvPr/>
        </p:nvSpPr>
        <p:spPr>
          <a:xfrm>
            <a:off x="215640" y="555480"/>
            <a:ext cx="8763480" cy="475596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… continued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term()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token.isType(TIMES) || token.isType(DIV)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consume();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150560" y="4742280"/>
            <a:ext cx="6688080" cy="517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// term ::= factor ( (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|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/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)  factor ) *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Horizontal Scroll 4"/>
          <p:cNvSpPr/>
          <p:nvPr/>
        </p:nvSpPr>
        <p:spPr>
          <a:xfrm>
            <a:off x="215640" y="493920"/>
            <a:ext cx="8732520" cy="470448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… continued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factor()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token.isType(INT_LIT) ) {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process(INT_LIT);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if ( token.isType(LPAREN)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process(LPAREN);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expr();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process(RPAREN);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// handle error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}// end of class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Class SimpleParser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150560" y="4701240"/>
            <a:ext cx="6811560" cy="517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// factor ::=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INT_LIT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 |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(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 expr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)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Sentence:  </a:t>
            </a:r>
            <a:r>
              <a:rPr b="0" lang="en-US" sz="3600" spc="-1" strike="noStrike">
                <a:solidFill>
                  <a:srgbClr val="000000"/>
                </a:solidFill>
                <a:latin typeface="Consolas"/>
                <a:ea typeface="MS PGothic"/>
              </a:rPr>
              <a:t>3 – (</a:t>
            </a:r>
            <a:r>
              <a:rPr b="0" lang="en-US" sz="36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3600" spc="-1" strike="noStrike">
                <a:solidFill>
                  <a:srgbClr val="000000"/>
                </a:solidFill>
                <a:latin typeface="Consolas"/>
                <a:ea typeface="MS PGothic"/>
              </a:rPr>
              <a:t>4 * 5 )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256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Tokens: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bfbfbf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INT_LIT(3)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bfbfbf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MINUS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bfbfbf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LPAREN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bfbfbf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INT_LIT(4)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TIMES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INT_LIT(5)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bfbfbf"/>
                </a:solidFill>
                <a:latin typeface="Consolas"/>
                <a:ea typeface="MS PGothic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RPAREN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Table 7"/>
          <p:cNvGraphicFramePr/>
          <p:nvPr/>
        </p:nvGraphicFramePr>
        <p:xfrm>
          <a:off x="133200" y="128160"/>
          <a:ext cx="8863200" cy="4078800"/>
        </p:xfrm>
        <a:graphic>
          <a:graphicData uri="http://schemas.openxmlformats.org/drawingml/2006/table">
            <a:tbl>
              <a:tblPr/>
              <a:tblGrid>
                <a:gridCol w="4507200"/>
                <a:gridCol w="1845360"/>
                <a:gridCol w="2510640"/>
              </a:tblGrid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Production Match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Token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Code Step(s)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expr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expr()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factor((*|/)factor)*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86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INT_LIT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if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INT_LIT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consume()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–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–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if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632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(+|-)</a:t>
                      </a:r>
                      <a:r>
                        <a:rPr b="0" i="1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–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setup more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terms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consume()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</a:t>
                      </a:r>
                      <a:r>
                        <a:rPr b="0" i="1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expr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</a:t>
                      </a:r>
                      <a:r>
                        <a:rPr b="0" i="1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if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consume()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Table 7"/>
          <p:cNvGraphicFramePr/>
          <p:nvPr/>
        </p:nvGraphicFramePr>
        <p:xfrm>
          <a:off x="133200" y="128160"/>
          <a:ext cx="8863200" cy="4078800"/>
        </p:xfrm>
        <a:graphic>
          <a:graphicData uri="http://schemas.openxmlformats.org/drawingml/2006/table">
            <a:tbl>
              <a:tblPr/>
              <a:tblGrid>
                <a:gridCol w="4507200"/>
                <a:gridCol w="1845360"/>
                <a:gridCol w="2510640"/>
              </a:tblGrid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Production Match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Token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Code Step(s)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expr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expr()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term((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factor((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)factor)*((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86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INT_LIT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)factor)*((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3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– 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if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INT_LIT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consume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()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)factor)*((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–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–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if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632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–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setup more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terms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consume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i="1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expr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4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if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consume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2"/>
          <p:cNvSpPr/>
          <p:nvPr/>
        </p:nvSpPr>
        <p:spPr>
          <a:xfrm>
            <a:off x="1477440" y="2994480"/>
            <a:ext cx="5202000" cy="1186920"/>
          </a:xfrm>
          <a:prstGeom prst="rect">
            <a:avLst/>
          </a:prstGeom>
          <a:solidFill>
            <a:srgbClr val="ffffe4"/>
          </a:solidFill>
          <a:ln w="0">
            <a:solidFill>
              <a:srgbClr val="000000">
                <a:lumMod val="75000"/>
                <a:lumOff val="2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Note the literal </a:t>
            </a:r>
            <a:r>
              <a:rPr b="0" lang="en-US" sz="2400" spc="-1" strike="noStrike">
                <a:solidFill>
                  <a:srgbClr val="1f4aff"/>
                </a:solidFill>
                <a:latin typeface="Consolas"/>
                <a:ea typeface="MS PGothic"/>
              </a:rPr>
              <a:t>(</a:t>
            </a:r>
            <a:r>
              <a:rPr b="0" lang="en-US" sz="2400" spc="-1" strike="noStrike">
                <a:solidFill>
                  <a:schemeClr val="accent3"/>
                </a:solidFill>
                <a:latin typeface="Consolas"/>
                <a:ea typeface="MS PGothic"/>
              </a:rPr>
              <a:t>)</a:t>
            </a: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’s enclosing </a:t>
            </a:r>
            <a:r>
              <a:rPr b="0" i="1" lang="en-US" sz="2400" spc="-1" strike="noStrike">
                <a:solidFill>
                  <a:srgbClr val="ff40ff"/>
                </a:solidFill>
                <a:latin typeface="Consolas"/>
                <a:ea typeface="MS PGothic"/>
              </a:rPr>
              <a:t>expr</a:t>
            </a: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f4aff"/>
              </a:buClr>
              <a:buFont typeface="Wingdings" charset="2"/>
              <a:buChar char=""/>
            </a:pPr>
            <a:r>
              <a:rPr b="0" i="1" lang="en-US" sz="2400" spc="-1" strike="noStrike">
                <a:solidFill>
                  <a:srgbClr val="1f4aff"/>
                </a:solidFill>
                <a:latin typeface="Rockwell"/>
                <a:ea typeface="MS PGothic"/>
              </a:rPr>
              <a:t>Consumed</a:t>
            </a: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 </a:t>
            </a:r>
            <a:r>
              <a:rPr b="0" i="1" lang="en-US" sz="2400" spc="-1" strike="noStrike">
                <a:solidFill>
                  <a:srgbClr val="1f4aff"/>
                </a:solidFill>
                <a:latin typeface="Rockwell"/>
                <a:ea typeface="MS PGothic"/>
              </a:rPr>
              <a:t>now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17f35"/>
              </a:buClr>
              <a:buFont typeface="Wingdings" charset="2"/>
              <a:buChar char=""/>
            </a:pPr>
            <a:r>
              <a:rPr b="0" i="1" lang="en-US" sz="2400" spc="-1" strike="noStrike">
                <a:solidFill>
                  <a:schemeClr val="accent3"/>
                </a:solidFill>
                <a:latin typeface="Rockwell"/>
                <a:ea typeface="MS PGothic"/>
              </a:rPr>
              <a:t>Processed</a:t>
            </a: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 after </a:t>
            </a:r>
            <a:r>
              <a:rPr b="0" lang="en-US" sz="2400" spc="-1" strike="noStrike">
                <a:solidFill>
                  <a:srgbClr val="ff40ff"/>
                </a:solidFill>
                <a:latin typeface="Consolas"/>
                <a:ea typeface="MS PGothic"/>
              </a:rPr>
              <a:t>expr</a:t>
            </a:r>
            <a:endParaRPr b="0" lang="en-US" sz="2400" spc="-1" strike="noStrike">
              <a:latin typeface="Arial"/>
            </a:endParaRPr>
          </a:p>
        </p:txBody>
      </p:sp>
      <p:cxnSp>
        <p:nvCxnSpPr>
          <p:cNvPr id="142" name="Straight Arrow Connector 4"/>
          <p:cNvCxnSpPr/>
          <p:nvPr/>
        </p:nvCxnSpPr>
        <p:spPr>
          <a:xfrm flipH="1">
            <a:off x="348480" y="3594240"/>
            <a:ext cx="1193760" cy="1101960"/>
          </a:xfrm>
          <a:prstGeom prst="straightConnector1">
            <a:avLst/>
          </a:prstGeom>
          <a:ln>
            <a:solidFill>
              <a:srgbClr val="000c3e">
                <a:lumMod val="50000"/>
                <a:lumOff val="50000"/>
              </a:srgbClr>
            </a:solidFill>
            <a:round/>
            <a:tailEnd len="med" type="arrow" w="med"/>
          </a:ln>
        </p:spPr>
      </p:cxnSp>
      <p:cxnSp>
        <p:nvCxnSpPr>
          <p:cNvPr id="143" name="Straight Arrow Connector 5"/>
          <p:cNvCxnSpPr/>
          <p:nvPr/>
        </p:nvCxnSpPr>
        <p:spPr>
          <a:xfrm flipH="1">
            <a:off x="916560" y="3944160"/>
            <a:ext cx="625680" cy="752040"/>
          </a:xfrm>
          <a:prstGeom prst="straightConnector1">
            <a:avLst/>
          </a:prstGeom>
          <a:ln>
            <a:solidFill>
              <a:srgbClr val="e17f35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Table 7"/>
          <p:cNvGraphicFramePr/>
          <p:nvPr/>
        </p:nvGraphicFramePr>
        <p:xfrm>
          <a:off x="133200" y="128160"/>
          <a:ext cx="8713080" cy="2595600"/>
        </p:xfrm>
        <a:graphic>
          <a:graphicData uri="http://schemas.openxmlformats.org/drawingml/2006/table">
            <a:tbl>
              <a:tblPr/>
              <a:tblGrid>
                <a:gridCol w="4857120"/>
                <a:gridCol w="1348200"/>
                <a:gridCol w="2507760"/>
              </a:tblGrid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Production Match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Token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Code Step(s)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expr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 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4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expr()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551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term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4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551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factor((*|/)factor)*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4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632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INT_LIT</a:t>
                      </a: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rgbClr val="3366ff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4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*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if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INT_LIT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consume()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632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while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551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</a:t>
                      </a: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5 )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consume()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Table 7"/>
          <p:cNvGraphicFramePr/>
          <p:nvPr/>
        </p:nvGraphicFramePr>
        <p:xfrm>
          <a:off x="287280" y="171000"/>
          <a:ext cx="8713080" cy="1854000"/>
        </p:xfrm>
        <a:graphic>
          <a:graphicData uri="http://schemas.openxmlformats.org/drawingml/2006/table">
            <a:tbl>
              <a:tblPr/>
              <a:tblGrid>
                <a:gridCol w="4889160"/>
                <a:gridCol w="1177560"/>
                <a:gridCol w="2646360"/>
              </a:tblGrid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Production Match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Token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Code Step(s)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51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factor((*|/)factor)*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5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862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INT_LIT</a:t>
                      </a: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)factor)*((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5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 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if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INT_LIT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consume()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10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not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</a:t>
                      </a:r>
                      <a:r>
                        <a:rPr b="0" lang="en-US" sz="1800" spc="-1" strike="noStrike">
                          <a:solidFill>
                            <a:srgbClr val="0066ff"/>
                          </a:solidFill>
                          <a:latin typeface="Rockwel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terminate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while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and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10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not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–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terminate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while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and 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expr()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Table 7"/>
          <p:cNvGraphicFramePr/>
          <p:nvPr/>
        </p:nvGraphicFramePr>
        <p:xfrm>
          <a:off x="287280" y="171000"/>
          <a:ext cx="8713080" cy="1854000"/>
        </p:xfrm>
        <a:graphic>
          <a:graphicData uri="http://schemas.openxmlformats.org/drawingml/2006/table">
            <a:tbl>
              <a:tblPr/>
              <a:tblGrid>
                <a:gridCol w="4734000"/>
                <a:gridCol w="1332720"/>
                <a:gridCol w="2646360"/>
              </a:tblGrid>
              <a:tr h="40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Production Match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Token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Code Step(s)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32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)</a:t>
                      </a: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process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)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factor()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10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40ff"/>
                          </a:solidFill>
                          <a:latin typeface="Consolas"/>
                        </a:rPr>
                        <a:t>((*|/)factor)*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EOF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not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*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</a:t>
                      </a:r>
                      <a:r>
                        <a:rPr b="0" lang="en-US" sz="1800" spc="-1" strike="noStrike">
                          <a:solidFill>
                            <a:srgbClr val="0066ff"/>
                          </a:solidFill>
                          <a:latin typeface="Rockwel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/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terminate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while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and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term()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10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((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|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-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)term)*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1f4a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EOF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1f4a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not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+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or </a:t>
                      </a:r>
                      <a:r>
                        <a:rPr b="0" lang="en-US" sz="1800" spc="-1" strike="noStrike">
                          <a:solidFill>
                            <a:schemeClr val="accent3"/>
                          </a:solidFill>
                          <a:latin typeface="Consolas"/>
                        </a:rPr>
                        <a:t>–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terminate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while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Rockwell"/>
                        </a:rPr>
                        <a:t> and return from </a:t>
                      </a:r>
                      <a:r>
                        <a:rPr b="0" i="1" lang="en-US" sz="1800" spc="-1" strike="noStrike">
                          <a:solidFill>
                            <a:srgbClr val="000000"/>
                          </a:solidFill>
                          <a:latin typeface="Consolas"/>
                        </a:rPr>
                        <a:t>expr()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1f4a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10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1f4aff"/>
                          </a:solidFill>
                          <a:latin typeface="Rockwell"/>
                          <a:ea typeface="Cambria Math"/>
                        </a:rPr>
                        <a:t> 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f4aff"/>
                      </a:solidFill>
                    </a:lnL>
                    <a:lnR w="12240">
                      <a:solidFill>
                        <a:srgbClr val="1f4aff"/>
                      </a:solidFill>
                    </a:lnR>
                    <a:lnT w="12240">
                      <a:solidFill>
                        <a:srgbClr val="1f4aff"/>
                      </a:solidFill>
                    </a:lnT>
                    <a:lnB w="12240">
                      <a:solidFill>
                        <a:srgbClr val="1f4a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Consolas"/>
                        </a:rPr>
                        <a:t>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f4aff"/>
                      </a:solidFill>
                    </a:lnL>
                    <a:lnR w="12240">
                      <a:solidFill>
                        <a:srgbClr val="1f4aff"/>
                      </a:solidFill>
                    </a:lnR>
                    <a:lnT w="12240">
                      <a:solidFill>
                        <a:srgbClr val="1f4aff"/>
                      </a:solidFill>
                    </a:lnT>
                    <a:lnB w="12240">
                      <a:solidFill>
                        <a:srgbClr val="1f4a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1f4aff"/>
                          </a:solidFill>
                          <a:latin typeface="Rockwell"/>
                        </a:rPr>
                        <a:t>This sentence (source code) is in our grammar!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f4aff"/>
                      </a:solidFill>
                    </a:lnL>
                    <a:lnR w="12240">
                      <a:solidFill>
                        <a:srgbClr val="1f4aff"/>
                      </a:solidFill>
                    </a:lnR>
                    <a:lnT w="12240">
                      <a:solidFill>
                        <a:srgbClr val="1f4aff"/>
                      </a:solidFill>
                    </a:lnT>
                    <a:lnB w="12240">
                      <a:solidFill>
                        <a:srgbClr val="1f4a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Syntax Errors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Halting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Error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detected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 stop and print message.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Easy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for </a:t>
            </a:r>
            <a:r>
              <a:rPr b="0" lang="en-US" sz="1800" spc="-1" strike="noStrike" u="sng">
                <a:solidFill>
                  <a:schemeClr val="accent1"/>
                </a:solidFill>
                <a:uFillTx/>
                <a:latin typeface="Cambria"/>
                <a:ea typeface="Cambria Math"/>
              </a:rPr>
              <a:t>compiler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implementer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Inconvenient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for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programmer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lang="en-US" sz="1800" spc="-1" strike="noStrike" u="sng">
                <a:solidFill>
                  <a:schemeClr val="accent1"/>
                </a:solidFill>
                <a:uFillTx/>
                <a:latin typeface="Cambria"/>
                <a:ea typeface="Cambria Math"/>
              </a:rPr>
              <a:t>using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the compiler.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Recovery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Compiler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continues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looking for errors.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High quality error recovery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is </a:t>
            </a:r>
            <a:r>
              <a:rPr b="0" lang="en-US" sz="1800" spc="-1" strike="noStrike" u="sng">
                <a:solidFill>
                  <a:schemeClr val="accent1"/>
                </a:solidFill>
                <a:uFillTx/>
                <a:latin typeface="Cambria"/>
                <a:ea typeface="Cambria Math"/>
              </a:rPr>
              <a:t>essential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for production compilers.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 u="sng">
                <a:solidFill>
                  <a:schemeClr val="accent3"/>
                </a:solidFill>
                <a:uFillTx/>
                <a:latin typeface="Cambria"/>
                <a:ea typeface="Cambria Math"/>
              </a:rPr>
              <a:t>Problem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:  how to 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Cambria Math"/>
              </a:rPr>
              <a:t>avoid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Cambria Math"/>
              </a:rPr>
              <a:t>cascading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errors?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Syntax Error Recovery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Panic Mode Recovery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Phrase Level Recovery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Context Specific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Cambria Math"/>
              </a:rPr>
              <a:t>Exception-based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Note:  for our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Cambria Math"/>
              </a:rPr>
              <a:t>project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, we are using limited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Cambria Math"/>
              </a:rPr>
              <a:t>Exception-based handling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, only throwing a ParseException and doing nothing more.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Panic Mode Recovery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Define small set of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safe symbols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that delimit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clean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points in the input.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When an error occurs,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discard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input tokens until a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safe symbol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is encountered.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Return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from subroutines until the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parser is in a context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where the new symbol might occur.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Tends to generate lots of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spurious errors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 most languages.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Phrase Level Recovery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Use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different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sets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of safe symbols in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different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context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When a parsing routine for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non-terminal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A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discovers an error at its beginning,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it deletes tokens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until finding the next token that is: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in FIRST(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A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) and proceeds, or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a member of FOLLOW(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A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) and returns.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55" name="Cloud Callout 3"/>
          <p:cNvSpPr/>
          <p:nvPr/>
        </p:nvSpPr>
        <p:spPr>
          <a:xfrm>
            <a:off x="952200" y="2448360"/>
            <a:ext cx="1185480" cy="549000"/>
          </a:xfrm>
          <a:prstGeom prst="cloudCallout">
            <a:avLst>
              <a:gd name="adj1" fmla="val 3111"/>
              <a:gd name="adj2" fmla="val 159293"/>
            </a:avLst>
          </a:prstGeom>
          <a:noFill/>
          <a:ln w="22225">
            <a:solidFill>
              <a:srgbClr val="e2853f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Cloud Callout 4"/>
          <p:cNvSpPr/>
          <p:nvPr/>
        </p:nvSpPr>
        <p:spPr>
          <a:xfrm>
            <a:off x="1960920" y="2786040"/>
            <a:ext cx="1410120" cy="651600"/>
          </a:xfrm>
          <a:prstGeom prst="cloudCallout">
            <a:avLst>
              <a:gd name="adj1" fmla="val 37900"/>
              <a:gd name="adj2" fmla="val 92829"/>
            </a:avLst>
          </a:prstGeom>
          <a:noFill/>
          <a:ln w="22225">
            <a:solidFill>
              <a:srgbClr val="e2853f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TextBox 5"/>
          <p:cNvSpPr/>
          <p:nvPr/>
        </p:nvSpPr>
        <p:spPr>
          <a:xfrm>
            <a:off x="837000" y="3776040"/>
            <a:ext cx="4243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3"/>
                </a:solidFill>
                <a:latin typeface="Rockwell"/>
                <a:ea typeface="MS PGothic"/>
              </a:rPr>
              <a:t>FIRST, FOLLOW, and PREDICT sets will be discussed in detail time permitting.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Horizontal Scroll 4"/>
          <p:cNvSpPr/>
          <p:nvPr/>
        </p:nvSpPr>
        <p:spPr>
          <a:xfrm>
            <a:off x="215640" y="493920"/>
            <a:ext cx="8732520" cy="470448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factor()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!(token.isType(INT_LIT) || token.isType(LPAREN)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report error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do { token = scanner.getNext();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while ( token not in FIRST(factor) &amp;&amp;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   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token not in FOLLOW(factor) 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token.isType(INT_LIT) ) { consume();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if ( token.isType(LPAREN) 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{ consume(); expr(); process(RPAREN);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//else error()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"/>
                <a:ea typeface="MS PGothic"/>
              </a:rPr>
              <a:t>//</a:t>
            </a:r>
            <a:r>
              <a:rPr b="0" lang="en-US" sz="2800" spc="-1" strike="noStrike">
                <a:solidFill>
                  <a:schemeClr val="accent1"/>
                </a:solidFill>
                <a:latin typeface="Consolas"/>
                <a:ea typeface="MS PGothic"/>
              </a:rPr>
              <a:t> factor ::= INT_LIT | ( expr )</a:t>
            </a:r>
            <a:endParaRPr b="0" lang="en-US" sz="2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150560" y="4701240"/>
            <a:ext cx="6811560" cy="517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// Skipping | Discarding tokens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Horizontal Scroll 4"/>
          <p:cNvSpPr/>
          <p:nvPr/>
        </p:nvSpPr>
        <p:spPr>
          <a:xfrm>
            <a:off x="215640" y="493920"/>
            <a:ext cx="8732520" cy="470448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factor()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!(token.isType(INT_LIT) || token.isType(LPAREN)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 report error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do { token = scanner.getNext();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 not in FIRST(factor) &amp;&amp;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token not in FOLLOW(factor) 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token.isType(INT_LIT) ) { consume();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if ( token.isType(LPAREN) 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{ consume(); expr();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process(RPAREN);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//else error()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accent1"/>
                </a:solidFill>
                <a:latin typeface="Arial"/>
                <a:ea typeface="MS PGothic"/>
              </a:rPr>
              <a:t>//</a:t>
            </a:r>
            <a:r>
              <a:rPr b="0" lang="en-US" sz="2800" spc="-1" strike="noStrike">
                <a:solidFill>
                  <a:schemeClr val="accent1"/>
                </a:solidFill>
                <a:latin typeface="Consolas"/>
                <a:ea typeface="MS PGothic"/>
              </a:rPr>
              <a:t> factor ::= INT_LIT | ( expr )</a:t>
            </a:r>
            <a:endParaRPr b="0" lang="en-US" sz="2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3" name="Rounded Rectangular Callout 8"/>
          <p:cNvSpPr/>
          <p:nvPr/>
        </p:nvSpPr>
        <p:spPr>
          <a:xfrm>
            <a:off x="3040560" y="1382400"/>
            <a:ext cx="5577120" cy="1448640"/>
          </a:xfrm>
          <a:prstGeom prst="wedgeRoundRectCallout">
            <a:avLst>
              <a:gd name="adj1" fmla="val -22783"/>
              <a:gd name="adj2" fmla="val 105649"/>
              <a:gd name="adj3" fmla="val 16667"/>
            </a:avLst>
          </a:prstGeom>
          <a:gradFill rotWithShape="0">
            <a:gsLst>
              <a:gs pos="0">
                <a:srgbClr val="71bcff"/>
              </a:gs>
              <a:gs pos="100000">
                <a:srgbClr val="00315d"/>
              </a:gs>
            </a:gsLst>
            <a:path path="circle">
              <a:fillToRect l="50000" t="100000" r="50000" b="0"/>
            </a:path>
          </a:gra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Rockwell"/>
                <a:ea typeface="MS PGothic"/>
              </a:rPr>
              <a:t>if not the expected token, process just reports the error and returns, effectively inserting the expected token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Context Specific look-ahead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Let the FOLLOW set be context-dependent.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Uses similar structure to phrase-level recovery.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More later time permitting.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Exception-based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Choose small sets of contexts to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back-out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to when an error occurs.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Attach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exception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handler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to blocks of code that should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implement recovery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When an error is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detected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,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raise an exception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[throw in Java].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system unwinds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execution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state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back to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the most recent block of code with a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handler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The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Cambria Math"/>
              </a:rPr>
              <a:t>handler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can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Cambria Math"/>
              </a:rPr>
              <a:t>continue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or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Cambria Math"/>
              </a:rPr>
              <a:t>re-throw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the exception.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Java Exceptions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Can extend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Exceptions hierarchy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Cambria Math"/>
              </a:rPr>
              <a:t>On occurrence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Current block exited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If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no handler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in calling block,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exception propagates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 to the next enclosing block.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Propagation continues until the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exception is caught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, or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If the exception reaches the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outermost block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, the program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terminates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Cambria Math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Horizontal Scroll 4"/>
          <p:cNvSpPr/>
          <p:nvPr/>
        </p:nvSpPr>
        <p:spPr>
          <a:xfrm>
            <a:off x="215640" y="555480"/>
            <a:ext cx="8712000" cy="451980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factor() throws SyntaxException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token.isType(INT_LIT) ) { consume();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if ( token.isType(LPAREN) 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{ consume(); expr(); process(RPAREN);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throw new SyntaxException(…);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accent1"/>
                </a:solidFill>
                <a:latin typeface="Arial"/>
                <a:ea typeface="MS PGothic"/>
              </a:rPr>
              <a:t>//</a:t>
            </a:r>
            <a:r>
              <a:rPr b="0" lang="en-US" sz="2800" spc="-1" strike="noStrike">
                <a:solidFill>
                  <a:schemeClr val="accent1"/>
                </a:solidFill>
                <a:latin typeface="Consolas"/>
                <a:ea typeface="MS PGothic"/>
              </a:rPr>
              <a:t> factor ::= INT_LIT | ( expr )</a:t>
            </a:r>
            <a:endParaRPr b="0" lang="en-US" sz="28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Horizontal Scroll 4"/>
          <p:cNvSpPr/>
          <p:nvPr/>
        </p:nvSpPr>
        <p:spPr>
          <a:xfrm>
            <a:off x="215640" y="555480"/>
            <a:ext cx="8712000" cy="451980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term() throws SyntaxException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token.isType(TIMES) || token.isType(DIV)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consume();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factor();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accent1"/>
                </a:solidFill>
                <a:latin typeface="Consolas"/>
                <a:ea typeface="MS PGothic"/>
              </a:rPr>
              <a:t>// term ::= factor ( ( * | / )  factor ) *</a:t>
            </a:r>
            <a:endParaRPr b="0" lang="en-US" sz="26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nip Single Corner Rectangle 1"/>
          <p:cNvSpPr/>
          <p:nvPr/>
        </p:nvSpPr>
        <p:spPr>
          <a:xfrm>
            <a:off x="735840" y="0"/>
            <a:ext cx="8124120" cy="5065560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9144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  <a:ea typeface="MS PGothic"/>
              </a:rPr>
              <a:t>// expr ::= term ( ( + | - )  term ) *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public void expr()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try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term();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token.isType(PLUS) || token.isType(MINUS)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consume();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term();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catch ( SyntaxException se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while ( token not EOF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token in FIRST(expr) ) { expr(); return; 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if ( token in FOLLOW(expr) ) return;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else token = scanner.getNext();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PNE Theme Slide Deck</Template>
  <TotalTime>10680</TotalTime>
  <Application>LibreOffice/7.4.1.2$Linux_X86_64 LibreOffice_project/40$Build-2</Application>
  <AppVersion>15.0000</AppVersion>
  <Words>2257</Words>
  <Paragraphs>402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2018-12-09T21:35:01Z</dcterms:created>
  <dc:creator>Taylor, Curtis</dc:creator>
  <dc:description/>
  <dc:language>en-US</dc:language>
  <cp:lastModifiedBy/>
  <cp:lastPrinted>2018-12-14T17:35:19Z</cp:lastPrinted>
  <dcterms:modified xsi:type="dcterms:W3CDTF">2022-10-07T20:56:27Z</dcterms:modified>
  <cp:revision>172</cp:revision>
  <dc:subject/>
  <dc:title>Commitment to Diversity and Inclusion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31</vt:i4>
  </property>
</Properties>
</file>