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2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2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7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17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9.xml.rels" ContentType="application/vnd.openxmlformats-package.relationships+xml"/>
  <Override PartName="/ppt/slides/_rels/slide3.xml.rels" ContentType="application/vnd.openxmlformats-package.relationships+xml"/>
  <Override PartName="/ppt/slides/_rels/slide28.xml.rels" ContentType="application/vnd.openxmlformats-package.relationships+xml"/>
  <Override PartName="/ppt/slides/_rels/slide22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31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3" descr=""/>
          <p:cNvPicPr/>
          <p:nvPr/>
        </p:nvPicPr>
        <p:blipFill>
          <a:blip r:embed="rId2"/>
          <a:stretch/>
        </p:blipFill>
        <p:spPr>
          <a:xfrm>
            <a:off x="0" y="0"/>
            <a:ext cx="9143280" cy="526680"/>
          </a:xfrm>
          <a:prstGeom prst="rect">
            <a:avLst/>
          </a:prstGeom>
          <a:ln w="0">
            <a:noFill/>
          </a:ln>
        </p:spPr>
      </p:pic>
      <p:sp>
        <p:nvSpPr>
          <p:cNvPr id="1" name="Rectangle 2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Picture 1" descr="HWCOE-PPT---title-slide-2.png"/>
          <p:cNvPicPr/>
          <p:nvPr/>
        </p:nvPicPr>
        <p:blipFill>
          <a:blip r:embed="rId3"/>
          <a:stretch/>
        </p:blipFill>
        <p:spPr>
          <a:xfrm>
            <a:off x="0" y="0"/>
            <a:ext cx="9140400" cy="51429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3" descr=""/>
          <p:cNvPicPr/>
          <p:nvPr/>
        </p:nvPicPr>
        <p:blipFill>
          <a:blip r:embed="rId2"/>
          <a:stretch/>
        </p:blipFill>
        <p:spPr>
          <a:xfrm>
            <a:off x="0" y="0"/>
            <a:ext cx="9143280" cy="526680"/>
          </a:xfrm>
          <a:prstGeom prst="rect">
            <a:avLst/>
          </a:prstGeom>
          <a:ln w="0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71200" y="1676160"/>
            <a:ext cx="8272080" cy="1333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4800" spc="-1" strike="noStrike">
                <a:solidFill>
                  <a:srgbClr val="ffffff"/>
                </a:solidFill>
                <a:latin typeface="Arial"/>
                <a:ea typeface="MS PGothic"/>
              </a:rPr>
              <a:t>Parsing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871200" y="3095640"/>
            <a:ext cx="8680680" cy="1155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2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COP 4020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Language Translation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2001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MS PGothic"/>
              </a:rPr>
              <a:t>Step 1:  Lexical Analysis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Convert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sequence of characters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into a sequence of potential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tokens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Lexical structure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typically specified with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regular expressions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MS PGothic"/>
              </a:rPr>
              <a:t>Step 2:  Parsing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Recognize legal phrases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[token order] using the rules of a grammar (CFG).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Construct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an Abstract Syntax Tree (AST).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MS PGothic"/>
              </a:rPr>
              <a:t>Does not use</a:t>
            </a:r>
            <a:r>
              <a:rPr b="0" lang="en-US" sz="2000" spc="-1" strike="noStrike">
                <a:solidFill>
                  <a:schemeClr val="accent3"/>
                </a:solidFill>
                <a:latin typeface="Cambria"/>
                <a:ea typeface="MS PGothic"/>
              </a:rPr>
              <a:t> regular expressions!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8153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Why Not Parse with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Regular Expressions?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499788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Regular expressions are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not recursive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Thus, </a:t>
            </a:r>
            <a:r>
              <a:rPr b="0" lang="en-US" sz="2000" spc="-1" strike="noStrike" u="sng">
                <a:solidFill>
                  <a:schemeClr val="accent3"/>
                </a:solidFill>
                <a:uFillTx/>
                <a:latin typeface="Cambria"/>
                <a:ea typeface="MS PGothic"/>
              </a:rPr>
              <a:t>cannot specify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nested constructs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Cambria"/>
                <a:ea typeface="MS PGothic"/>
              </a:rPr>
              <a:t>Example</a:t>
            </a: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: 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Is an expression with…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Two sub-expressions:  and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Each with two more sub-expressions: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MS PGothic"/>
              </a:rPr>
              <a:t>and</a:t>
            </a: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MS PGothic"/>
              </a:rPr>
              <a:t>and</a:t>
            </a: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Cloud Callout 4"/>
          <p:cNvSpPr/>
          <p:nvPr/>
        </p:nvSpPr>
        <p:spPr>
          <a:xfrm>
            <a:off x="5158800" y="1195200"/>
            <a:ext cx="3656520" cy="3125520"/>
          </a:xfrm>
          <a:prstGeom prst="cloudCallout">
            <a:avLst>
              <a:gd name="adj1" fmla="val -20833"/>
              <a:gd name="adj2" fmla="val 62500"/>
            </a:avLst>
          </a:prstGeom>
          <a:gradFill rotWithShape="0">
            <a:gsLst>
              <a:gs pos="0">
                <a:srgbClr val="003768"/>
              </a:gs>
              <a:gs pos="100000">
                <a:srgbClr val="e17f35"/>
              </a:gs>
            </a:gsLst>
            <a:lin ang="5400000"/>
          </a:gra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 anchorCtr="1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Rockwell"/>
                <a:ea typeface="MS PGothic"/>
              </a:rPr>
              <a:t>The language of expressions cannot be specified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Rockwell"/>
                <a:ea typeface="MS PGothic"/>
              </a:rPr>
              <a:t>with regular expressions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8153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Why Not Parse with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Regular Expressions?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499788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Regular expressions are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not recursive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Thus, </a:t>
            </a: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MS PGothic"/>
              </a:rPr>
              <a:t>cannot specify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nested constructs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Cambria"/>
                <a:ea typeface="MS PGothic"/>
              </a:rPr>
              <a:t>Example</a:t>
            </a: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: 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Is an expression with…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Two sub-expressions:  and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Each with two more sub-expressions: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MS PGothic"/>
              </a:rPr>
              <a:t>and</a:t>
            </a: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MS PGothic"/>
              </a:rPr>
              <a:t>and</a:t>
            </a:r>
            <a:r>
              <a:rPr b="0" lang="en-US" sz="1800" spc="-1" strike="noStrike">
                <a:solidFill>
                  <a:srgbClr val="000000"/>
                </a:solidFill>
                <a:latin typeface="Cambria Math"/>
                <a:ea typeface="MS PGothic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Oval 3"/>
          <p:cNvSpPr/>
          <p:nvPr/>
        </p:nvSpPr>
        <p:spPr>
          <a:xfrm>
            <a:off x="6693840" y="2122200"/>
            <a:ext cx="913680" cy="48744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e17f35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chemeClr val="lt1"/>
                </a:solidFill>
                <a:latin typeface="Rockwell"/>
                <a:ea typeface="MS PGothic"/>
              </a:rPr>
              <a:t>+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Oval 5"/>
          <p:cNvSpPr/>
          <p:nvPr/>
        </p:nvSpPr>
        <p:spPr>
          <a:xfrm>
            <a:off x="7454520" y="2960280"/>
            <a:ext cx="913680" cy="48744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e17f35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chemeClr val="lt1"/>
                </a:solidFill>
                <a:latin typeface="Rockwell"/>
                <a:ea typeface="MS PGothic"/>
              </a:rPr>
              <a:t>+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Oval 6"/>
          <p:cNvSpPr/>
          <p:nvPr/>
        </p:nvSpPr>
        <p:spPr>
          <a:xfrm>
            <a:off x="5933160" y="2960280"/>
            <a:ext cx="913680" cy="48744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rgbClr val="e17f35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chemeClr val="lt1"/>
                </a:solidFill>
                <a:latin typeface="Rockwell"/>
                <a:ea typeface="MS PGothic"/>
              </a:rPr>
              <a:t>+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92" name="Rectangle 7"/>
              <p:cNvSpPr txBox="1"/>
              <p:nvPr/>
            </p:nvSpPr>
            <p:spPr>
              <a:xfrm>
                <a:off x="5846760" y="4103280"/>
                <a:ext cx="479880" cy="49536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𝑥</m:t>
                    </m:r>
                  </m:oMath>
                </a14:m>
              </a:p>
            </p:txBody>
          </p:sp>
        </mc:Choice>
        <mc:Fallback/>
      </mc:AlternateContent>
      <mc:AlternateContent>
        <mc:Choice xmlns:a14="http://schemas.microsoft.com/office/drawing/2010/main" Requires="a14">
          <p:sp>
            <p:nvSpPr>
              <p:cNvPr id="93" name="Rectangle 9"/>
              <p:cNvSpPr txBox="1"/>
              <p:nvPr/>
            </p:nvSpPr>
            <p:spPr>
              <a:xfrm>
                <a:off x="7368120" y="4103280"/>
                <a:ext cx="479880" cy="49536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𝑤</m:t>
                    </m:r>
                  </m:oMath>
                </a14:m>
              </a:p>
            </p:txBody>
          </p:sp>
        </mc:Choice>
        <mc:Fallback/>
      </mc:AlternateContent>
      <mc:AlternateContent>
        <mc:Choice xmlns:a14="http://schemas.microsoft.com/office/drawing/2010/main" Requires="a14">
          <p:sp>
            <p:nvSpPr>
              <p:cNvPr id="94" name="Rectangle 10"/>
              <p:cNvSpPr txBox="1"/>
              <p:nvPr/>
            </p:nvSpPr>
            <p:spPr>
              <a:xfrm>
                <a:off x="6607440" y="4103280"/>
                <a:ext cx="479880" cy="49536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𝑦</m:t>
                    </m:r>
                  </m:oMath>
                </a14:m>
              </a:p>
            </p:txBody>
          </p:sp>
        </mc:Choice>
        <mc:Fallback/>
      </mc:AlternateContent>
      <mc:AlternateContent>
        <mc:Choice xmlns:a14="http://schemas.microsoft.com/office/drawing/2010/main" Requires="a14">
          <p:sp>
            <p:nvSpPr>
              <p:cNvPr id="95" name="Rectangle 11"/>
              <p:cNvSpPr txBox="1"/>
              <p:nvPr/>
            </p:nvSpPr>
            <p:spPr>
              <a:xfrm>
                <a:off x="8128800" y="4103280"/>
                <a:ext cx="479880" cy="49536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𝑧</m:t>
                    </m:r>
                  </m:oMath>
                </a14:m>
              </a:p>
            </p:txBody>
          </p:sp>
        </mc:Choice>
        <mc:Fallback/>
      </mc:AlternateContent>
      <p:cxnSp>
        <p:nvCxnSpPr>
          <p:cNvPr id="96" name="Straight Connector 13"/>
          <p:cNvCxnSpPr>
            <a:stCxn id="89" idx="3"/>
            <a:endCxn id="91" idx="0"/>
          </p:cNvCxnSpPr>
          <p:nvPr/>
        </p:nvCxnSpPr>
        <p:spPr>
          <a:xfrm flipH="1">
            <a:off x="6390000" y="2538360"/>
            <a:ext cx="437760" cy="422280"/>
          </a:xfrm>
          <a:prstGeom prst="straightConnector1">
            <a:avLst/>
          </a:prstGeom>
          <a:ln w="0">
            <a:solidFill>
              <a:srgbClr val="404040"/>
            </a:solidFill>
          </a:ln>
        </p:spPr>
      </p:cxnSp>
      <p:cxnSp>
        <p:nvCxnSpPr>
          <p:cNvPr id="97" name="Straight Connector 14"/>
          <p:cNvCxnSpPr>
            <a:stCxn id="89" idx="5"/>
            <a:endCxn id="90" idx="0"/>
          </p:cNvCxnSpPr>
          <p:nvPr/>
        </p:nvCxnSpPr>
        <p:spPr>
          <a:xfrm>
            <a:off x="7473960" y="2538360"/>
            <a:ext cx="437760" cy="422280"/>
          </a:xfrm>
          <a:prstGeom prst="straightConnector1">
            <a:avLst/>
          </a:prstGeom>
          <a:ln w="0">
            <a:solidFill>
              <a:srgbClr val="404040"/>
            </a:solidFill>
          </a:ln>
        </p:spPr>
      </p:cxnSp>
      <p:cxnSp>
        <p:nvCxnSpPr>
          <p:cNvPr id="98" name="Straight Connector 17"/>
          <p:cNvCxnSpPr>
            <a:stCxn id="91" idx="4"/>
            <a:endCxn id="92" idx="0"/>
          </p:cNvCxnSpPr>
          <p:nvPr/>
        </p:nvCxnSpPr>
        <p:spPr>
          <a:xfrm flipH="1">
            <a:off x="6086520" y="3447720"/>
            <a:ext cx="303840" cy="655920"/>
          </a:xfrm>
          <a:prstGeom prst="straightConnector1">
            <a:avLst/>
          </a:prstGeom>
          <a:ln w="0">
            <a:solidFill>
              <a:srgbClr val="404040"/>
            </a:solidFill>
          </a:ln>
        </p:spPr>
      </p:cxnSp>
      <p:cxnSp>
        <p:nvCxnSpPr>
          <p:cNvPr id="99" name="Straight Connector 20"/>
          <p:cNvCxnSpPr>
            <a:stCxn id="91" idx="4"/>
            <a:endCxn id="94" idx="0"/>
          </p:cNvCxnSpPr>
          <p:nvPr/>
        </p:nvCxnSpPr>
        <p:spPr>
          <a:xfrm>
            <a:off x="6390000" y="3447720"/>
            <a:ext cx="457560" cy="655920"/>
          </a:xfrm>
          <a:prstGeom prst="straightConnector1">
            <a:avLst/>
          </a:prstGeom>
          <a:ln w="0">
            <a:solidFill>
              <a:srgbClr val="404040"/>
            </a:solidFill>
          </a:ln>
        </p:spPr>
      </p:cxnSp>
      <p:cxnSp>
        <p:nvCxnSpPr>
          <p:cNvPr id="100" name="Straight Connector 23"/>
          <p:cNvCxnSpPr/>
          <p:nvPr/>
        </p:nvCxnSpPr>
        <p:spPr>
          <a:xfrm flipH="1">
            <a:off x="7608240" y="3448080"/>
            <a:ext cx="304200" cy="655920"/>
          </a:xfrm>
          <a:prstGeom prst="straightConnector1">
            <a:avLst/>
          </a:prstGeom>
          <a:ln w="0">
            <a:solidFill>
              <a:srgbClr val="404040"/>
            </a:solidFill>
          </a:ln>
        </p:spPr>
      </p:cxnSp>
      <p:cxnSp>
        <p:nvCxnSpPr>
          <p:cNvPr id="101" name="Straight Connector 24"/>
          <p:cNvCxnSpPr/>
          <p:nvPr/>
        </p:nvCxnSpPr>
        <p:spPr>
          <a:xfrm>
            <a:off x="7911720" y="3448080"/>
            <a:ext cx="457920" cy="655920"/>
          </a:xfrm>
          <a:prstGeom prst="straightConnector1">
            <a:avLst/>
          </a:prstGeom>
          <a:ln w="0">
            <a:solidFill>
              <a:srgbClr val="404040"/>
            </a:solidFill>
          </a:ln>
        </p:spPr>
      </p:cxnSp>
      <p:sp>
        <p:nvSpPr>
          <p:cNvPr id="102" name="TextBox 25"/>
          <p:cNvSpPr/>
          <p:nvPr/>
        </p:nvSpPr>
        <p:spPr>
          <a:xfrm>
            <a:off x="6679440" y="1374840"/>
            <a:ext cx="942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AST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26"/>
          <p:cNvSpPr/>
          <p:nvPr/>
        </p:nvSpPr>
        <p:spPr>
          <a:xfrm>
            <a:off x="3916800" y="1594080"/>
            <a:ext cx="2008800" cy="821160"/>
          </a:xfrm>
          <a:prstGeom prst="rect">
            <a:avLst/>
          </a:prstGeom>
          <a:solidFill>
            <a:srgbClr val="ffffe4"/>
          </a:solidFill>
          <a:ln w="0">
            <a:solidFill>
              <a:srgbClr val="40404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Token Type:</a:t>
            </a:r>
            <a:br>
              <a:rPr sz="2400"/>
            </a:br>
            <a:r>
              <a:rPr b="0" lang="en-US" sz="2400" spc="-1" strike="noStrike">
                <a:solidFill>
                  <a:srgbClr val="1f4aff"/>
                </a:solidFill>
                <a:latin typeface="Rockwell"/>
                <a:ea typeface="MS PGothic"/>
              </a:rPr>
              <a:t>OPERATOR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27"/>
          <p:cNvSpPr/>
          <p:nvPr/>
        </p:nvSpPr>
        <p:spPr>
          <a:xfrm>
            <a:off x="3344760" y="3033000"/>
            <a:ext cx="2008800" cy="821160"/>
          </a:xfrm>
          <a:prstGeom prst="rect">
            <a:avLst/>
          </a:prstGeom>
          <a:solidFill>
            <a:srgbClr val="ffffe4"/>
          </a:solidFill>
          <a:ln w="0">
            <a:solidFill>
              <a:srgbClr val="40404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Token Type:  </a:t>
            </a:r>
            <a:r>
              <a:rPr b="0" lang="en-US" sz="2400" spc="-1" strike="noStrike">
                <a:solidFill>
                  <a:schemeClr val="accent3"/>
                </a:solidFill>
                <a:latin typeface="Rockwell"/>
                <a:ea typeface="MS PGothic"/>
              </a:rPr>
              <a:t>IDENTIFIER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5" name="Straight Arrow Connector 29"/>
          <p:cNvCxnSpPr/>
          <p:nvPr/>
        </p:nvCxnSpPr>
        <p:spPr>
          <a:xfrm>
            <a:off x="6019560" y="2043000"/>
            <a:ext cx="600120" cy="217080"/>
          </a:xfrm>
          <a:prstGeom prst="straightConnector1">
            <a:avLst/>
          </a:prstGeom>
          <a:ln w="0">
            <a:solidFill>
              <a:srgbClr val="1f4aff"/>
            </a:solidFill>
            <a:tailEnd len="med" type="arrow" w="med"/>
          </a:ln>
        </p:spPr>
      </p:cxnSp>
      <p:cxnSp>
        <p:nvCxnSpPr>
          <p:cNvPr id="106" name="Straight Arrow Connector 33"/>
          <p:cNvCxnSpPr/>
          <p:nvPr/>
        </p:nvCxnSpPr>
        <p:spPr>
          <a:xfrm>
            <a:off x="5995440" y="2316600"/>
            <a:ext cx="1459800" cy="704160"/>
          </a:xfrm>
          <a:prstGeom prst="straightConnector1">
            <a:avLst/>
          </a:prstGeom>
          <a:ln w="0">
            <a:solidFill>
              <a:srgbClr val="1f4aff"/>
            </a:solidFill>
            <a:tailEnd len="med" type="arrow" w="med"/>
          </a:ln>
        </p:spPr>
      </p:cxnSp>
      <p:cxnSp>
        <p:nvCxnSpPr>
          <p:cNvPr id="107" name="Straight Arrow Connector 34"/>
          <p:cNvCxnSpPr/>
          <p:nvPr/>
        </p:nvCxnSpPr>
        <p:spPr>
          <a:xfrm>
            <a:off x="5572440" y="2499480"/>
            <a:ext cx="447840" cy="401040"/>
          </a:xfrm>
          <a:prstGeom prst="straightConnector1">
            <a:avLst/>
          </a:prstGeom>
          <a:ln w="0">
            <a:solidFill>
              <a:srgbClr val="1f4aff"/>
            </a:solidFill>
            <a:tailEnd len="med" type="arrow" w="med"/>
          </a:ln>
        </p:spPr>
      </p:cxnSp>
      <p:cxnSp>
        <p:nvCxnSpPr>
          <p:cNvPr id="108" name="Straight Arrow Connector 37"/>
          <p:cNvCxnSpPr/>
          <p:nvPr/>
        </p:nvCxnSpPr>
        <p:spPr>
          <a:xfrm>
            <a:off x="4764240" y="3977280"/>
            <a:ext cx="948240" cy="374760"/>
          </a:xfrm>
          <a:prstGeom prst="straightConnector1">
            <a:avLst/>
          </a:prstGeom>
          <a:ln w="0">
            <a:solidFill>
              <a:srgbClr val="e17f35"/>
            </a:solidFill>
            <a:tailEnd len="med" type="arrow" w="med"/>
          </a:ln>
        </p:spPr>
      </p:cxnSp>
      <p:cxnSp>
        <p:nvCxnSpPr>
          <p:cNvPr id="109" name="Straight Arrow Connector 39"/>
          <p:cNvCxnSpPr/>
          <p:nvPr/>
        </p:nvCxnSpPr>
        <p:spPr>
          <a:xfrm>
            <a:off x="5417280" y="3344400"/>
            <a:ext cx="2648880" cy="733680"/>
          </a:xfrm>
          <a:prstGeom prst="straightConnector1">
            <a:avLst/>
          </a:prstGeom>
          <a:ln w="0">
            <a:solidFill>
              <a:srgbClr val="e17f35"/>
            </a:solidFill>
            <a:tailEnd len="med" type="arrow" w="med"/>
          </a:ln>
        </p:spPr>
      </p:cxnSp>
      <p:cxnSp>
        <p:nvCxnSpPr>
          <p:cNvPr id="110" name="Straight Arrow Connector 42"/>
          <p:cNvCxnSpPr/>
          <p:nvPr/>
        </p:nvCxnSpPr>
        <p:spPr>
          <a:xfrm>
            <a:off x="5448960" y="3506760"/>
            <a:ext cx="1846800" cy="571320"/>
          </a:xfrm>
          <a:prstGeom prst="straightConnector1">
            <a:avLst/>
          </a:prstGeom>
          <a:ln w="0">
            <a:solidFill>
              <a:srgbClr val="e17f35"/>
            </a:solidFill>
            <a:tailEnd len="med" type="arrow" w="med"/>
          </a:ln>
        </p:spPr>
      </p:cxnSp>
      <p:cxnSp>
        <p:nvCxnSpPr>
          <p:cNvPr id="111" name="Straight Arrow Connector 44"/>
          <p:cNvCxnSpPr/>
          <p:nvPr/>
        </p:nvCxnSpPr>
        <p:spPr>
          <a:xfrm>
            <a:off x="5408640" y="3745080"/>
            <a:ext cx="1115640" cy="344160"/>
          </a:xfrm>
          <a:prstGeom prst="straightConnector1">
            <a:avLst/>
          </a:prstGeom>
          <a:ln w="0">
            <a:solidFill>
              <a:srgbClr val="e17f35"/>
            </a:solidFill>
            <a:tailEnd len="med" type="arrow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Grammars and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Parsing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Grammars </a:t>
            </a: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Cambria Math"/>
              </a:rPr>
              <a:t>generate</a:t>
            </a: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, while Parsers </a:t>
            </a:r>
            <a:r>
              <a:rPr b="0" i="1" lang="en-US" sz="2000" spc="-1" strike="noStrike">
                <a:solidFill>
                  <a:srgbClr val="1f4aff"/>
                </a:solidFill>
                <a:latin typeface="Cambria"/>
                <a:ea typeface="Cambria Math"/>
              </a:rPr>
              <a:t>recognize</a:t>
            </a: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parsing algorithms exist for CFG, </a:t>
            </a:r>
            <a:r>
              <a:rPr b="0" i="1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linear time</a:t>
            </a: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 is preferred.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Cambria"/>
                <a:ea typeface="Cambria Math"/>
              </a:rPr>
              <a:t>At each step</a:t>
            </a: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Cambria Math"/>
              </a:rPr>
              <a:t>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Lucida Grande Bold"/>
              <a:buChar char="↳"/>
            </a:pPr>
            <a:r>
              <a:rPr b="0" i="1" lang="en-US" sz="1800" spc="-1" strike="noStrike">
                <a:solidFill>
                  <a:srgbClr val="000000"/>
                </a:solidFill>
                <a:latin typeface="Cambria"/>
                <a:ea typeface="Cambria Math"/>
              </a:rPr>
              <a:t>Replace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Cambria Math"/>
              </a:rPr>
              <a:t> a non-terminal symbol with one of its productions, trying to match prefixes in the sentence.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Lucida Grande Bold"/>
              <a:buChar char="↳"/>
            </a:pPr>
            <a:r>
              <a:rPr b="0" i="1" lang="en-US" sz="1800" spc="-1" strike="noStrike">
                <a:solidFill>
                  <a:srgbClr val="000000"/>
                </a:solidFill>
                <a:latin typeface="Cambria"/>
                <a:ea typeface="Cambria Math"/>
              </a:rPr>
              <a:t>Remove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Cambria Math"/>
              </a:rPr>
              <a:t> matching prefixes.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Lucida Grande Bold"/>
              <a:buChar char="↳"/>
            </a:pPr>
            <a:r>
              <a:rPr b="0" i="1" lang="en-US" sz="1800" spc="-1" strike="noStrike">
                <a:solidFill>
                  <a:srgbClr val="1f4aff"/>
                </a:solidFill>
                <a:latin typeface="Cambria"/>
                <a:ea typeface="Cambria Math"/>
              </a:rPr>
              <a:t>Check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Cambria Math"/>
              </a:rPr>
              <a:t> if the resulting string is </a:t>
            </a:r>
            <a:r>
              <a:rPr b="0" lang="en-US" sz="1800" spc="-1" strike="noStrike">
                <a:solidFill>
                  <a:srgbClr val="1f4aff"/>
                </a:solidFill>
                <a:latin typeface="Cambria"/>
                <a:ea typeface="Cambria Math"/>
              </a:rPr>
              <a:t>empty</a:t>
            </a:r>
            <a:r>
              <a:rPr b="0" lang="en-US" sz="1800" spc="-1" strike="noStrike">
                <a:solidFill>
                  <a:srgbClr val="000000"/>
                </a:solidFill>
                <a:latin typeface="Cambria"/>
                <a:ea typeface="Cambria Math"/>
              </a:rPr>
              <a:t>, then the sentence is in the grammar.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Example:  Parsing a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Grammar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Here is a sample grammar for parsing integer expressions.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Horizontal Scroll 3"/>
          <p:cNvSpPr/>
          <p:nvPr/>
        </p:nvSpPr>
        <p:spPr>
          <a:xfrm>
            <a:off x="663120" y="1916280"/>
            <a:ext cx="7619400" cy="2322360"/>
          </a:xfrm>
          <a:prstGeom prst="horizontalScroll">
            <a:avLst>
              <a:gd name="adj" fmla="val 12500"/>
            </a:avLst>
          </a:prstGeom>
          <a:solidFill>
            <a:schemeClr val="accent6">
              <a:lumMod val="75000"/>
            </a:schemeClr>
          </a:solidFill>
          <a:ln>
            <a:solidFill>
              <a:srgbClr val="edb286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expr ::= term ( ( </a:t>
            </a:r>
            <a:r>
              <a:rPr b="0" lang="en-US" sz="1800" spc="-1" strike="noStrike">
                <a:solidFill>
                  <a:schemeClr val="accent3"/>
                </a:solidFill>
                <a:latin typeface="Consolas"/>
                <a:ea typeface="MS PGothic"/>
              </a:rPr>
              <a:t>+</a:t>
            </a:r>
            <a:r>
              <a:rPr b="0" lang="en-US" sz="1800" spc="-1" strike="noStrike">
                <a:solidFill>
                  <a:srgbClr val="0099ff"/>
                </a:solidFill>
                <a:latin typeface="Consolas"/>
                <a:ea typeface="MS PGothic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| </a:t>
            </a:r>
            <a:r>
              <a:rPr b="0" lang="en-US" sz="1800" spc="-1" strike="noStrike">
                <a:solidFill>
                  <a:schemeClr val="accent3"/>
                </a:solidFill>
                <a:latin typeface="Consolas"/>
                <a:ea typeface="MS PGothic"/>
              </a:rPr>
              <a:t>-</a:t>
            </a:r>
            <a:r>
              <a:rPr b="0" lang="en-US" sz="1800" spc="-1" strike="noStrike">
                <a:solidFill>
                  <a:srgbClr val="0099ff"/>
                </a:solidFill>
                <a:latin typeface="Consolas"/>
                <a:ea typeface="MS PGothic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)  term )*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term ::= factor ( ( </a:t>
            </a:r>
            <a:r>
              <a:rPr b="0" lang="en-US" sz="1800" spc="-1" strike="noStrike">
                <a:solidFill>
                  <a:schemeClr val="accent3"/>
                </a:solidFill>
                <a:latin typeface="Consolas"/>
                <a:ea typeface="MS PGothic"/>
              </a:rPr>
              <a:t>*</a:t>
            </a: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 | </a:t>
            </a:r>
            <a:r>
              <a:rPr b="0" lang="en-US" sz="1800" spc="-1" strike="noStrike">
                <a:solidFill>
                  <a:schemeClr val="accent3"/>
                </a:solidFill>
                <a:latin typeface="Consolas"/>
                <a:ea typeface="MS PGothic"/>
              </a:rPr>
              <a:t>/</a:t>
            </a: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 )  factor )*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factor ::= </a:t>
            </a:r>
            <a:r>
              <a:rPr b="0" lang="en-US" sz="1800" spc="-1" strike="noStrike">
                <a:solidFill>
                  <a:schemeClr val="accent3"/>
                </a:solidFill>
                <a:latin typeface="Consolas"/>
                <a:ea typeface="MS PGothic"/>
              </a:rPr>
              <a:t>INT_LIT</a:t>
            </a:r>
            <a:r>
              <a:rPr b="0" lang="en-US" sz="1800" spc="-1" strike="noStrike">
                <a:solidFill>
                  <a:schemeClr val="accent2"/>
                </a:solidFill>
                <a:latin typeface="Consolas"/>
                <a:ea typeface="MS PGothic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| </a:t>
            </a:r>
            <a:r>
              <a:rPr b="1" lang="en-US" sz="1800" spc="-1" strike="noStrike">
                <a:solidFill>
                  <a:schemeClr val="accent3"/>
                </a:solidFill>
                <a:latin typeface="Consolas"/>
                <a:ea typeface="MS PGothic"/>
              </a:rPr>
              <a:t>(</a:t>
            </a:r>
            <a:r>
              <a:rPr b="1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expr </a:t>
            </a:r>
            <a:r>
              <a:rPr b="1" lang="en-US" sz="1800" spc="-1" strike="noStrike">
                <a:solidFill>
                  <a:schemeClr val="accent3"/>
                </a:solidFill>
                <a:latin typeface="Consolas"/>
                <a:ea typeface="MS PGothic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Content Placeholder 2"/>
          <p:cNvSpPr/>
          <p:nvPr/>
        </p:nvSpPr>
        <p:spPr>
          <a:xfrm>
            <a:off x="327960" y="4430520"/>
            <a:ext cx="8487720" cy="4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In the following, we use existing classes Scanner and Token.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Class SimpleParser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Horizontal Scroll 3"/>
          <p:cNvSpPr/>
          <p:nvPr/>
        </p:nvSpPr>
        <p:spPr>
          <a:xfrm>
            <a:off x="525960" y="936360"/>
            <a:ext cx="7990920" cy="401652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class SimpleParser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Scanner scanner;  // token producer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Token token;      // the next token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SimpleParser(Scanner scanner)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this.scanner = scanner;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token = scanner.nextToken();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Class SimpleParser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Horizontal Scroll 3"/>
          <p:cNvSpPr/>
          <p:nvPr/>
        </p:nvSpPr>
        <p:spPr>
          <a:xfrm>
            <a:off x="525960" y="555480"/>
            <a:ext cx="7990920" cy="451944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… continued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Token consume()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token temp = token;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token = scanner.getNext();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return temp;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void process(Type type)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token.isType(type)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consume();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 else { // handle error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Horizontal Scroll 4"/>
          <p:cNvSpPr/>
          <p:nvPr/>
        </p:nvSpPr>
        <p:spPr>
          <a:xfrm>
            <a:off x="215640" y="555480"/>
            <a:ext cx="8742600" cy="478656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… continued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expr()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term();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token.isType(PLUS) || token.isType(MINUS)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token.isType(PLUS) ) {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process(PLUS);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if ( token.isType(MINUS)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process(MINUS);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term();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Class SimpleParser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1150560" y="4742280"/>
            <a:ext cx="5732280" cy="51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// expr ::= term ( (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+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|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-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)  term ) *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Horizontal Scroll 4"/>
          <p:cNvSpPr/>
          <p:nvPr/>
        </p:nvSpPr>
        <p:spPr>
          <a:xfrm>
            <a:off x="215640" y="555480"/>
            <a:ext cx="8722080" cy="475560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… continued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term()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token.isType(TIMES) || token.isType(DIV)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switch ( token.type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case TIMES:  process(TIMES);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     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break;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case DIV:  process(DIV);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   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break;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Class SimpleParser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150560" y="4731840"/>
            <a:ext cx="6687720" cy="51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// term ::= factor ( (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*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|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/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)  factor ) *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Horizontal Scroll 4"/>
          <p:cNvSpPr/>
          <p:nvPr/>
        </p:nvSpPr>
        <p:spPr>
          <a:xfrm>
            <a:off x="215640" y="555480"/>
            <a:ext cx="8763120" cy="475560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… continued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term()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token.isType(TIMES) || token.isType(DIV)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switch ( token.type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case TIMES:  consume();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     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break;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case DIV:  consume();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   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break;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Class SimpleParser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1150560" y="4742280"/>
            <a:ext cx="6687720" cy="51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// term ::= factor ( (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*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|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/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)  factor ) *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Horizontal Scroll 4"/>
          <p:cNvSpPr/>
          <p:nvPr/>
        </p:nvSpPr>
        <p:spPr>
          <a:xfrm>
            <a:off x="215640" y="555480"/>
            <a:ext cx="8763120" cy="475560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… continued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term()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token.isType(TIMES) || token.isType(DIV)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consume();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Class SimpleParser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1150560" y="4742280"/>
            <a:ext cx="6687720" cy="51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// term ::= factor ( (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*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|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/</a:t>
            </a:r>
            <a:r>
              <a:rPr b="0" lang="en-US" sz="20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)  factor ) *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Horizontal Scroll 4"/>
          <p:cNvSpPr/>
          <p:nvPr/>
        </p:nvSpPr>
        <p:spPr>
          <a:xfrm>
            <a:off x="215640" y="493920"/>
            <a:ext cx="8732160" cy="470412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… continued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factor()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token.isType(INT_LIT) ) {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process(INT_LIT);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if ( token.isType(LPAREN)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process(LPAREN);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expr();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process(RPAREN);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// handle error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}// end of class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Class SimpleParser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1150560" y="4701240"/>
            <a:ext cx="6811200" cy="51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// factor ::=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INT_LIT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 |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(</a:t>
            </a:r>
            <a:r>
              <a:rPr b="0" lang="en-US" sz="2000" spc="-1" strike="noStrike">
                <a:solidFill>
                  <a:srgbClr val="1f4aff"/>
                </a:solidFill>
                <a:latin typeface="Consolas"/>
                <a:ea typeface="MS PGothic"/>
              </a:rPr>
              <a:t> expr </a:t>
            </a:r>
            <a:r>
              <a:rPr b="0" lang="en-US" sz="2000" spc="-1" strike="noStrike">
                <a:solidFill>
                  <a:schemeClr val="accent3"/>
                </a:solidFill>
                <a:latin typeface="Consolas"/>
                <a:ea typeface="MS PGothic"/>
              </a:rPr>
              <a:t>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Sentence:  </a:t>
            </a:r>
            <a:r>
              <a:rPr b="0" lang="en-US" sz="3600" spc="-1" strike="noStrike">
                <a:solidFill>
                  <a:srgbClr val="000000"/>
                </a:solidFill>
                <a:latin typeface="Consolas"/>
                <a:ea typeface="MS PGothic"/>
              </a:rPr>
              <a:t>3 – (</a:t>
            </a:r>
            <a:r>
              <a:rPr b="0" lang="en-US" sz="3600" spc="-1" strike="noStrike">
                <a:solidFill>
                  <a:schemeClr val="accent1"/>
                </a:solidFill>
                <a:latin typeface="Consolas"/>
                <a:ea typeface="MS PGothic"/>
              </a:rPr>
              <a:t> </a:t>
            </a:r>
            <a:r>
              <a:rPr b="0" lang="en-US" sz="3600" spc="-1" strike="noStrike">
                <a:solidFill>
                  <a:srgbClr val="000000"/>
                </a:solidFill>
                <a:latin typeface="Consolas"/>
                <a:ea typeface="MS PGothic"/>
              </a:rPr>
              <a:t>4 * </a:t>
            </a:r>
            <a:r>
              <a:rPr b="0" lang="en-US" sz="3600" spc="-1" strike="noStrike">
                <a:solidFill>
                  <a:srgbClr val="000000"/>
                </a:solidFill>
                <a:latin typeface="Consolas"/>
                <a:ea typeface="MS PGothic"/>
              </a:rPr>
              <a:t>5 )</a:t>
            </a:r>
            <a:br>
              <a:rPr sz="3600"/>
            </a:b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256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mbria"/>
                <a:ea typeface="MS PGothic"/>
              </a:rPr>
              <a:t>Tokens: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bfbfbf"/>
                </a:solidFill>
                <a:latin typeface="Consolas"/>
                <a:ea typeface="MS PGothic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INT_LIT(3)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bfbfbf"/>
                </a:solidFill>
                <a:latin typeface="Consolas"/>
                <a:ea typeface="MS PGothic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MINUS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bfbfbf"/>
                </a:solidFill>
                <a:latin typeface="Consolas"/>
                <a:ea typeface="MS PGothic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LPAREN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bfbfbf"/>
                </a:solidFill>
                <a:latin typeface="Consolas"/>
                <a:ea typeface="MS PGothic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INT_LIT(4)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TIMES</a:t>
            </a:r>
            <a:br>
              <a:rPr sz="2000"/>
            </a:b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INT_LIT(5)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bfbfbf"/>
                </a:solidFill>
                <a:latin typeface="Consolas"/>
                <a:ea typeface="MS PGothic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RPAREN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" name="Table 7"/>
          <p:cNvGraphicFramePr/>
          <p:nvPr/>
        </p:nvGraphicFramePr>
        <p:xfrm>
          <a:off x="133200" y="128160"/>
          <a:ext cx="8862840" cy="4929120"/>
        </p:xfrm>
        <a:graphic>
          <a:graphicData uri="http://schemas.openxmlformats.org/drawingml/2006/table">
            <a:tbl>
              <a:tblPr/>
              <a:tblGrid>
                <a:gridCol w="4507200"/>
                <a:gridCol w="1845360"/>
                <a:gridCol w="2510640"/>
              </a:tblGrid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Production Match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Token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Code Step(s)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expr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expr()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factor((*|/)factor)*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862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INT_LIT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if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INT_LIT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consume()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–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–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if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or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63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(+|-)</a:t>
                      </a:r>
                      <a:r>
                        <a:rPr b="0" i="1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–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setup more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terms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consume()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factor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</a:t>
                      </a:r>
                      <a:r>
                        <a:rPr b="0" i="1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factor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expr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</a:t>
                      </a:r>
                      <a:r>
                        <a:rPr b="0" i="1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factor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if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consume()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" name="Table 7"/>
          <p:cNvGraphicFramePr/>
          <p:nvPr/>
        </p:nvGraphicFramePr>
        <p:xfrm>
          <a:off x="133200" y="128160"/>
          <a:ext cx="8862840" cy="4929120"/>
        </p:xfrm>
        <a:graphic>
          <a:graphicData uri="http://schemas.openxmlformats.org/drawingml/2006/table">
            <a:tbl>
              <a:tblPr/>
              <a:tblGrid>
                <a:gridCol w="4507200"/>
                <a:gridCol w="1845360"/>
                <a:gridCol w="2510640"/>
              </a:tblGrid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Production Match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Token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Code Step(s)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expr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expr()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term((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factor((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)factor)*((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862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INT_LIT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)factor)*((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– 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if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INT_LIT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consume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)factor)*((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–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chemeClr val="dk1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–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if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or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63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–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setup more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terms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consume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i="1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expr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4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if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consume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</a:tbl>
          </a:graphicData>
        </a:graphic>
      </p:graphicFrame>
      <p:sp>
        <p:nvSpPr>
          <p:cNvPr id="141" name="TextBox 2"/>
          <p:cNvSpPr/>
          <p:nvPr/>
        </p:nvSpPr>
        <p:spPr>
          <a:xfrm>
            <a:off x="1477440" y="2994480"/>
            <a:ext cx="5201640" cy="1186920"/>
          </a:xfrm>
          <a:prstGeom prst="rect">
            <a:avLst/>
          </a:prstGeom>
          <a:solidFill>
            <a:srgbClr val="ffffe4"/>
          </a:solidFill>
          <a:ln w="0">
            <a:solidFill>
              <a:srgbClr val="40404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Note the literal </a:t>
            </a:r>
            <a:r>
              <a:rPr b="0" lang="en-US" sz="2400" spc="-1" strike="noStrike">
                <a:solidFill>
                  <a:srgbClr val="1f4aff"/>
                </a:solidFill>
                <a:latin typeface="Consolas"/>
                <a:ea typeface="MS PGothic"/>
              </a:rPr>
              <a:t>(</a:t>
            </a:r>
            <a:r>
              <a:rPr b="0" lang="en-US" sz="2400" spc="-1" strike="noStrike">
                <a:solidFill>
                  <a:schemeClr val="accent3"/>
                </a:solidFill>
                <a:latin typeface="Consolas"/>
                <a:ea typeface="MS PGothic"/>
              </a:rPr>
              <a:t>)</a:t>
            </a: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’s enclosing </a:t>
            </a:r>
            <a:r>
              <a:rPr b="0" i="1" lang="en-US" sz="2400" spc="-1" strike="noStrike">
                <a:solidFill>
                  <a:srgbClr val="ff40ff"/>
                </a:solidFill>
                <a:latin typeface="Consolas"/>
                <a:ea typeface="MS PGothic"/>
              </a:rPr>
              <a:t>expr</a:t>
            </a: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1f4aff"/>
              </a:buClr>
              <a:buFont typeface="Wingdings" charset="2"/>
              <a:buChar char=""/>
            </a:pPr>
            <a:r>
              <a:rPr b="0" i="1" lang="en-US" sz="2400" spc="-1" strike="noStrike">
                <a:solidFill>
                  <a:srgbClr val="1f4aff"/>
                </a:solidFill>
                <a:latin typeface="Rockwell"/>
                <a:ea typeface="MS PGothic"/>
              </a:rPr>
              <a:t>Consumed</a:t>
            </a: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 </a:t>
            </a:r>
            <a:r>
              <a:rPr b="0" i="1" lang="en-US" sz="2400" spc="-1" strike="noStrike">
                <a:solidFill>
                  <a:srgbClr val="1f4aff"/>
                </a:solidFill>
                <a:latin typeface="Rockwell"/>
                <a:ea typeface="MS PGothic"/>
              </a:rPr>
              <a:t>now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17f35"/>
              </a:buClr>
              <a:buFont typeface="Wingdings" charset="2"/>
              <a:buChar char=""/>
            </a:pPr>
            <a:r>
              <a:rPr b="0" i="1" lang="en-US" sz="2400" spc="-1" strike="noStrike">
                <a:solidFill>
                  <a:schemeClr val="accent3"/>
                </a:solidFill>
                <a:latin typeface="Rockwell"/>
                <a:ea typeface="MS PGothic"/>
              </a:rPr>
              <a:t>Processed</a:t>
            </a:r>
            <a:r>
              <a:rPr b="0" lang="en-US" sz="2400" spc="-1" strike="noStrike">
                <a:solidFill>
                  <a:srgbClr val="000000"/>
                </a:solidFill>
                <a:latin typeface="Rockwell"/>
                <a:ea typeface="MS PGothic"/>
              </a:rPr>
              <a:t> after </a:t>
            </a:r>
            <a:r>
              <a:rPr b="0" lang="en-US" sz="2400" spc="-1" strike="noStrike">
                <a:solidFill>
                  <a:srgbClr val="ff40ff"/>
                </a:solidFill>
                <a:latin typeface="Consolas"/>
                <a:ea typeface="MS PGothic"/>
              </a:rPr>
              <a:t>expr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42" name="Straight Arrow Connector 4"/>
          <p:cNvCxnSpPr/>
          <p:nvPr/>
        </p:nvCxnSpPr>
        <p:spPr>
          <a:xfrm flipH="1">
            <a:off x="348480" y="3594240"/>
            <a:ext cx="1194120" cy="1102320"/>
          </a:xfrm>
          <a:prstGeom prst="straightConnector1">
            <a:avLst/>
          </a:prstGeom>
          <a:ln w="0">
            <a:solidFill>
              <a:srgbClr val="1f4aff"/>
            </a:solidFill>
            <a:tailEnd len="med" type="arrow" w="med"/>
          </a:ln>
        </p:spPr>
      </p:cxnSp>
      <p:cxnSp>
        <p:nvCxnSpPr>
          <p:cNvPr id="143" name="Straight Arrow Connector 5"/>
          <p:cNvCxnSpPr/>
          <p:nvPr/>
        </p:nvCxnSpPr>
        <p:spPr>
          <a:xfrm flipH="1">
            <a:off x="916560" y="3944160"/>
            <a:ext cx="626040" cy="752400"/>
          </a:xfrm>
          <a:prstGeom prst="straightConnector1">
            <a:avLst/>
          </a:prstGeom>
          <a:ln w="0">
            <a:solidFill>
              <a:srgbClr val="e17f35"/>
            </a:solidFill>
            <a:tailEnd len="med" type="arrow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" name="Table 7"/>
          <p:cNvGraphicFramePr/>
          <p:nvPr/>
        </p:nvGraphicFramePr>
        <p:xfrm>
          <a:off x="133200" y="128160"/>
          <a:ext cx="8712720" cy="3720960"/>
        </p:xfrm>
        <a:graphic>
          <a:graphicData uri="http://schemas.openxmlformats.org/drawingml/2006/table">
            <a:tbl>
              <a:tblPr/>
              <a:tblGrid>
                <a:gridCol w="4857120"/>
                <a:gridCol w="1348200"/>
                <a:gridCol w="2507760"/>
              </a:tblGrid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Production Match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Token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Code Step(s)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expr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 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4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expr()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551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term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4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551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factor((*|/)factor)*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4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63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INT_LIT</a:t>
                      </a: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rgbClr val="3366ff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4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*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if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INT_LIT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consume()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63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while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or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551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</a:t>
                      </a: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5 )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consume()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" name="Table 7"/>
          <p:cNvGraphicFramePr/>
          <p:nvPr/>
        </p:nvGraphicFramePr>
        <p:xfrm>
          <a:off x="287280" y="171000"/>
          <a:ext cx="8712720" cy="3867480"/>
        </p:xfrm>
        <a:graphic>
          <a:graphicData uri="http://schemas.openxmlformats.org/drawingml/2006/table">
            <a:tbl>
              <a:tblPr/>
              <a:tblGrid>
                <a:gridCol w="4889160"/>
                <a:gridCol w="1177560"/>
                <a:gridCol w="2646360"/>
              </a:tblGrid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Production Match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Token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Code Step(s)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51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factor((*|/)factor)*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5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862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INT_LIT</a:t>
                      </a: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)factor)*((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5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 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if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INT_LIT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consume()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10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ff0000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not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or</a:t>
                      </a:r>
                      <a:r>
                        <a:rPr b="0" lang="en-US" sz="1800" spc="-1" strike="noStrike">
                          <a:solidFill>
                            <a:srgbClr val="0066ff"/>
                          </a:solidFill>
                          <a:latin typeface="Rockwell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terminate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while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and 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10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not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or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terminate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while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and return from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expr()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6" name="Table 7"/>
          <p:cNvGraphicFramePr/>
          <p:nvPr/>
        </p:nvGraphicFramePr>
        <p:xfrm>
          <a:off x="287280" y="171000"/>
          <a:ext cx="8712720" cy="4110480"/>
        </p:xfrm>
        <a:graphic>
          <a:graphicData uri="http://schemas.openxmlformats.org/drawingml/2006/table">
            <a:tbl>
              <a:tblPr/>
              <a:tblGrid>
                <a:gridCol w="4734000"/>
                <a:gridCol w="1332720"/>
                <a:gridCol w="2646360"/>
              </a:tblGrid>
              <a:tr h="4028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Production Match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Token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Rockwell"/>
                        </a:rPr>
                        <a:t>Code Step(s)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3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)</a:t>
                      </a: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process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factor()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10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ff40ff"/>
                          </a:solidFill>
                          <a:latin typeface="Consolas"/>
                        </a:rPr>
                        <a:t>((*|/)factor)*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EOF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not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*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or</a:t>
                      </a:r>
                      <a:r>
                        <a:rPr b="0" lang="en-US" sz="1800" spc="-1" strike="noStrike">
                          <a:solidFill>
                            <a:srgbClr val="0066ff"/>
                          </a:solidFill>
                          <a:latin typeface="Rockwell"/>
                        </a:rPr>
                        <a:t>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/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terminate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while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and 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return from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term()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9ef"/>
                    </a:solidFill>
                  </a:tcPr>
                </a:tc>
              </a:tr>
              <a:tr h="10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((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|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-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)term)*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1f4a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EOF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1f4aff"/>
                      </a:solidFill>
                    </a:lnB>
                    <a:solidFill>
                      <a:srgbClr val="ccd0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not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+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or </a:t>
                      </a:r>
                      <a:r>
                        <a:rPr b="0" lang="en-US" sz="1800" spc="-1" strike="noStrike">
                          <a:solidFill>
                            <a:schemeClr val="accent3"/>
                          </a:solidFill>
                          <a:latin typeface="Consolas"/>
                        </a:rPr>
                        <a:t>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terminate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while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Rockwell"/>
                        </a:rPr>
                        <a:t> and return from </a:t>
                      </a: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Consolas"/>
                        </a:rPr>
                        <a:t>expr()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1f4aff"/>
                      </a:solidFill>
                    </a:lnB>
                    <a:solidFill>
                      <a:srgbClr val="ccd0de"/>
                    </a:solidFill>
                  </a:tcPr>
                </a:tc>
              </a:tr>
              <a:tr h="10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rgbClr val="1f4aff"/>
                          </a:solidFill>
                          <a:latin typeface="Rockwell"/>
                          <a:ea typeface="Cambria Math"/>
                        </a:rPr>
                        <a:t>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f4aff"/>
                      </a:solidFill>
                    </a:lnL>
                    <a:lnR w="12240">
                      <a:solidFill>
                        <a:srgbClr val="1f4aff"/>
                      </a:solidFill>
                    </a:lnR>
                    <a:lnT w="12240">
                      <a:solidFill>
                        <a:srgbClr val="1f4aff"/>
                      </a:solidFill>
                    </a:lnT>
                    <a:lnB w="12240">
                      <a:solidFill>
                        <a:srgbClr val="1f4a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Consolas"/>
                        </a:rPr>
                        <a:t> 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f4aff"/>
                      </a:solidFill>
                    </a:lnL>
                    <a:lnR w="12240">
                      <a:solidFill>
                        <a:srgbClr val="1f4aff"/>
                      </a:solidFill>
                    </a:lnR>
                    <a:lnT w="12240">
                      <a:solidFill>
                        <a:srgbClr val="1f4aff"/>
                      </a:solidFill>
                    </a:lnT>
                    <a:lnB w="12240">
                      <a:solidFill>
                        <a:srgbClr val="1f4a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1f4aff"/>
                          </a:solidFill>
                          <a:latin typeface="Rockwell"/>
                        </a:rPr>
                        <a:t>This sentence (source code) is in our grammar!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f4aff"/>
                      </a:solidFill>
                    </a:lnL>
                    <a:lnR w="12240">
                      <a:solidFill>
                        <a:srgbClr val="1f4aff"/>
                      </a:solidFill>
                    </a:lnR>
                    <a:lnT w="12240">
                      <a:solidFill>
                        <a:srgbClr val="1f4aff"/>
                      </a:solidFill>
                    </a:lnT>
                    <a:lnB w="12240">
                      <a:solidFill>
                        <a:srgbClr val="1f4a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Syntax Errors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Halting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201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Error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detected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 stop and print message.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201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Easy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for </a:t>
            </a:r>
            <a:r>
              <a:rPr b="0" lang="en-US" sz="1800" spc="-1" strike="noStrike" u="sng">
                <a:solidFill>
                  <a:schemeClr val="accent1"/>
                </a:solidFill>
                <a:uFillTx/>
                <a:latin typeface="Cambria"/>
                <a:ea typeface="Cambria Math"/>
              </a:rPr>
              <a:t>compiler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implementer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201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Inconvenient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for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programmer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</a:t>
            </a:r>
            <a:r>
              <a:rPr b="0" lang="en-US" sz="1800" spc="-1" strike="noStrike" u="sng">
                <a:solidFill>
                  <a:schemeClr val="accent1"/>
                </a:solidFill>
                <a:uFillTx/>
                <a:latin typeface="Cambria"/>
                <a:ea typeface="Cambria Math"/>
              </a:rPr>
              <a:t>using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the compiler.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Recovery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201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Compiler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continues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looking for errors.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201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High quality error recovery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is </a:t>
            </a:r>
            <a:r>
              <a:rPr b="0" lang="en-US" sz="1800" spc="-1" strike="noStrike" u="sng">
                <a:solidFill>
                  <a:schemeClr val="accent1"/>
                </a:solidFill>
                <a:uFillTx/>
                <a:latin typeface="Cambria"/>
                <a:ea typeface="Cambria Math"/>
              </a:rPr>
              <a:t>essential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for production compilers.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201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 u="sng">
                <a:solidFill>
                  <a:schemeClr val="accent3"/>
                </a:solidFill>
                <a:uFillTx/>
                <a:latin typeface="Cambria"/>
                <a:ea typeface="Cambria Math"/>
              </a:rPr>
              <a:t>Problem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:  how to </a:t>
            </a:r>
            <a:r>
              <a:rPr b="0" lang="en-US" sz="1800" spc="-1" strike="noStrike">
                <a:solidFill>
                  <a:schemeClr val="accent3"/>
                </a:solidFill>
                <a:latin typeface="Cambria"/>
                <a:ea typeface="Cambria Math"/>
              </a:rPr>
              <a:t>avoid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</a:t>
            </a:r>
            <a:r>
              <a:rPr b="0" i="1" lang="en-US" sz="1800" spc="-1" strike="noStrike">
                <a:solidFill>
                  <a:schemeClr val="accent3"/>
                </a:solidFill>
                <a:latin typeface="Cambria"/>
                <a:ea typeface="Cambria Math"/>
              </a:rPr>
              <a:t>cascading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errors?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Syntax Error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Recovery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Panic Mode Recovery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Phrase Level Recovery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Context Specific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Cambria Math"/>
              </a:rPr>
              <a:t>Exception-based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Note:  for our </a:t>
            </a: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Cambria Math"/>
              </a:rPr>
              <a:t>project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, we are using limited </a:t>
            </a: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Cambria Math"/>
              </a:rPr>
              <a:t>Exception-based handling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, only throwing a ParseException and doing nothing more.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Panic Mode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Recovery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Define small set of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safe symbols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that delimit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clean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points in the input.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When an error occurs,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discard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input tokens until a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safe symbol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is encountered.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Return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from subroutines until the </a:t>
            </a: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MS PGothic"/>
              </a:rPr>
              <a:t>parser is in a context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where the new symbol might occur.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Tends to generate lots of </a:t>
            </a: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MS PGothic"/>
              </a:rPr>
              <a:t>spurious errors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in most languages.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Phrase Level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Recovery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Use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different </a:t>
            </a: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MS PGothic"/>
              </a:rPr>
              <a:t>sets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of safe symbols in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different </a:t>
            </a: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MS PGothic"/>
              </a:rPr>
              <a:t>context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When a parsing routine for </a:t>
            </a: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MS PGothic"/>
              </a:rPr>
              <a:t>non-terminal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</a:t>
            </a:r>
            <a:r>
              <a:rPr b="1" lang="en-US" sz="2000" spc="-1" strike="noStrike">
                <a:solidFill>
                  <a:schemeClr val="accent3"/>
                </a:solidFill>
                <a:latin typeface="Cambria"/>
                <a:ea typeface="MS PGothic"/>
              </a:rPr>
              <a:t>A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 discovers an error at its beginning, </a:t>
            </a: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MS PGothic"/>
              </a:rPr>
              <a:t>it deletes tokens 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MS PGothic"/>
              </a:rPr>
              <a:t>until finding the next token that is: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MS PGothic"/>
              </a:rPr>
              <a:t>in FIRST(</a:t>
            </a:r>
            <a:r>
              <a:rPr b="0" lang="en-US" sz="1800" spc="-1" strike="noStrike">
                <a:solidFill>
                  <a:schemeClr val="accent3"/>
                </a:solidFill>
                <a:latin typeface="Cambria"/>
                <a:ea typeface="MS PGothic"/>
              </a:rPr>
              <a:t>A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MS PGothic"/>
              </a:rPr>
              <a:t>) and proceeds, 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MS PGothic"/>
              </a:rPr>
              <a:t>a member of FOLLOW(</a:t>
            </a:r>
            <a:r>
              <a:rPr b="0" lang="en-US" sz="1800" spc="-1" strike="noStrike">
                <a:solidFill>
                  <a:schemeClr val="accent3"/>
                </a:solidFill>
                <a:latin typeface="Cambria"/>
                <a:ea typeface="MS PGothic"/>
              </a:rPr>
              <a:t>A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MS PGothic"/>
              </a:rPr>
              <a:t>) and returns.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Cloud Callout 3"/>
          <p:cNvSpPr/>
          <p:nvPr/>
        </p:nvSpPr>
        <p:spPr>
          <a:xfrm>
            <a:off x="952200" y="2448360"/>
            <a:ext cx="1185120" cy="548640"/>
          </a:xfrm>
          <a:prstGeom prst="cloudCallout">
            <a:avLst>
              <a:gd name="adj1" fmla="val 3111"/>
              <a:gd name="adj2" fmla="val 159293"/>
            </a:avLst>
          </a:prstGeom>
          <a:noFill/>
          <a:ln w="22225">
            <a:solidFill>
              <a:srgbClr val="e2853f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Cloud Callout 4"/>
          <p:cNvSpPr/>
          <p:nvPr/>
        </p:nvSpPr>
        <p:spPr>
          <a:xfrm>
            <a:off x="1960920" y="2786040"/>
            <a:ext cx="1409760" cy="651240"/>
          </a:xfrm>
          <a:prstGeom prst="cloudCallout">
            <a:avLst>
              <a:gd name="adj1" fmla="val 37900"/>
              <a:gd name="adj2" fmla="val 92829"/>
            </a:avLst>
          </a:prstGeom>
          <a:noFill/>
          <a:ln w="22225">
            <a:solidFill>
              <a:srgbClr val="e2853f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837000" y="3776040"/>
            <a:ext cx="42433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accent3"/>
                </a:solidFill>
                <a:latin typeface="Rockwell"/>
                <a:ea typeface="MS PGothic"/>
              </a:rPr>
              <a:t>FIRST, FOLLOW, and PREDICT sets will be discussed in detail time permitting.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Horizontal Scroll 4"/>
          <p:cNvSpPr/>
          <p:nvPr/>
        </p:nvSpPr>
        <p:spPr>
          <a:xfrm>
            <a:off x="215640" y="493920"/>
            <a:ext cx="8732160" cy="470412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factor()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!(token.isType(INT_LIT) || token.isType(LPAREN)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report error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do { token = scanner.getNext();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while ( token not in FIRST(factor) &amp;&amp;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         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token not in FOLLOW(factor) 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token.isType(INT_LIT) ) { consume();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if ( token.isType(LPAREN) 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{ consume(); expr(); process(RPAREN);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//else error()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accent1"/>
                </a:solidFill>
                <a:latin typeface="Arial"/>
                <a:ea typeface="MS PGothic"/>
              </a:rPr>
              <a:t>//</a:t>
            </a:r>
            <a:r>
              <a:rPr b="0" lang="en-US" sz="2800" spc="-1" strike="noStrike">
                <a:solidFill>
                  <a:schemeClr val="accent1"/>
                </a:solidFill>
                <a:latin typeface="Consolas"/>
                <a:ea typeface="MS PGothic"/>
              </a:rPr>
              <a:t> factor ::= INT_LIT | </a:t>
            </a:r>
            <a:r>
              <a:rPr b="0" lang="en-US" sz="2800" spc="-1" strike="noStrike">
                <a:solidFill>
                  <a:schemeClr val="accent1"/>
                </a:solidFill>
                <a:latin typeface="Consolas"/>
                <a:ea typeface="MS PGothic"/>
              </a:rPr>
              <a:t>( expr 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1150560" y="4701240"/>
            <a:ext cx="6811200" cy="51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onsolas"/>
                <a:ea typeface="MS PGothic"/>
              </a:rPr>
              <a:t>// Skipping | Discarding tokens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Horizontal Scroll 4"/>
          <p:cNvSpPr/>
          <p:nvPr/>
        </p:nvSpPr>
        <p:spPr>
          <a:xfrm>
            <a:off x="215640" y="493920"/>
            <a:ext cx="8732160" cy="470412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factor()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!(token.isType(INT_LIT) || token.isType(LPAREN)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 report error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do { token = scanner.getNext();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 not in FIRST(factor) &amp;&amp;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token not in FOLLOW(factor) 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token.isType(INT_LIT) ) { consume();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if ( token.isType(LPAREN) 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{ consume(); expr();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MS PGothic"/>
              </a:rPr>
              <a:t>process(RPAREN);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//else error()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accent1"/>
                </a:solidFill>
                <a:latin typeface="Arial"/>
                <a:ea typeface="MS PGothic"/>
              </a:rPr>
              <a:t>//</a:t>
            </a:r>
            <a:r>
              <a:rPr b="0" lang="en-US" sz="2800" spc="-1" strike="noStrike">
                <a:solidFill>
                  <a:schemeClr val="accent1"/>
                </a:solidFill>
                <a:latin typeface="Consolas"/>
                <a:ea typeface="MS PGothic"/>
              </a:rPr>
              <a:t> factor ::= INT_LIT | </a:t>
            </a:r>
            <a:r>
              <a:rPr b="0" lang="en-US" sz="2800" spc="-1" strike="noStrike">
                <a:solidFill>
                  <a:schemeClr val="accent1"/>
                </a:solidFill>
                <a:latin typeface="Consolas"/>
                <a:ea typeface="MS PGothic"/>
              </a:rPr>
              <a:t>( expr 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ular Callout 8"/>
          <p:cNvSpPr/>
          <p:nvPr/>
        </p:nvSpPr>
        <p:spPr>
          <a:xfrm>
            <a:off x="3040560" y="1382400"/>
            <a:ext cx="5576760" cy="1448280"/>
          </a:xfrm>
          <a:prstGeom prst="wedgeRoundRectCallout">
            <a:avLst>
              <a:gd name="adj1" fmla="val -22783"/>
              <a:gd name="adj2" fmla="val 105649"/>
              <a:gd name="adj3" fmla="val 16667"/>
            </a:avLst>
          </a:prstGeom>
          <a:gradFill rotWithShape="0">
            <a:gsLst>
              <a:gs pos="0">
                <a:srgbClr val="71bcff"/>
              </a:gs>
              <a:gs pos="100000">
                <a:srgbClr val="00315d"/>
              </a:gs>
            </a:gsLst>
            <a:path path="circle">
              <a:fillToRect l="50000" t="100000" r="50000" b="0"/>
            </a:path>
          </a:gra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Rockwell"/>
                <a:ea typeface="MS PGothic"/>
              </a:rPr>
              <a:t>if not the expected token, process just reports the error and returns, effectively inserting the expected token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Context Specific </a:t>
            </a: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look-ahead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Let the FOLLOW set be context-dependent.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Uses similar structure to phrase-level recovery.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More later time permitting.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Exception-based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Choose small sets of contexts to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back-out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to when an error occurs.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Attach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exception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handler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to blocks of code that should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implement recovery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When an error is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detected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,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raise an exception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[throw in Java].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The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system unwinds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execution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state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back to 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the most recent block of code with a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handler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The </a:t>
            </a: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Cambria Math"/>
              </a:rPr>
              <a:t>handler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can </a:t>
            </a: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Cambria Math"/>
              </a:rPr>
              <a:t>continue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or </a:t>
            </a:r>
            <a:r>
              <a:rPr b="0" i="1" lang="en-US" sz="2000" spc="-1" strike="noStrike">
                <a:solidFill>
                  <a:schemeClr val="accent3"/>
                </a:solidFill>
                <a:latin typeface="Cambria"/>
                <a:ea typeface="Cambria Math"/>
              </a:rPr>
              <a:t>re-throw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 the exception.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chemeClr val="accent1"/>
                </a:solidFill>
                <a:latin typeface="Arial"/>
                <a:ea typeface="MS PGothic"/>
              </a:rPr>
              <a:t>Java Exceptions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327960" y="1361520"/>
            <a:ext cx="8487720" cy="3529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Can extend </a:t>
            </a:r>
            <a:r>
              <a:rPr b="0" i="1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Exceptions hierarchy</a:t>
            </a:r>
            <a:r>
              <a:rPr b="0" lang="en-US" sz="2000" spc="-1" strike="noStrike">
                <a:solidFill>
                  <a:schemeClr val="accent1"/>
                </a:solidFill>
                <a:latin typeface="Cambria"/>
                <a:ea typeface="Cambria Math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799"/>
              </a:spcBef>
              <a:buClr>
                <a:srgbClr val="edb286"/>
              </a:buClr>
              <a:buSzPct val="75000"/>
              <a:buFont typeface="Wingdings" charset="2"/>
              <a:buChar char=""/>
            </a:pPr>
            <a:r>
              <a:rPr b="0" lang="en-US" sz="2000" spc="-1" strike="noStrike" u="sng">
                <a:solidFill>
                  <a:schemeClr val="accent1"/>
                </a:solidFill>
                <a:uFillTx/>
                <a:latin typeface="Cambria"/>
                <a:ea typeface="Cambria Math"/>
              </a:rPr>
              <a:t>On occurrence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Current block exited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If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no handler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in calling block,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exception propagates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 to the next enclosing block.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Propagation continues until the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exception is caught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, 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spcBef>
                <a:spcPts val="799"/>
              </a:spcBef>
              <a:buClr>
                <a:srgbClr val="e17f35"/>
              </a:buClr>
              <a:buSzPct val="75000"/>
              <a:buFont typeface="Wingdings" charset="2"/>
              <a:buChar char=""/>
            </a:pP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If the exception reaches the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outermost block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, the program </a:t>
            </a:r>
            <a:r>
              <a:rPr b="0" i="1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terminates</a:t>
            </a:r>
            <a:r>
              <a:rPr b="0" lang="en-US" sz="1800" spc="-1" strike="noStrike">
                <a:solidFill>
                  <a:schemeClr val="accent1"/>
                </a:solidFill>
                <a:latin typeface="Cambria"/>
                <a:ea typeface="Cambria Math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Horizontal Scroll 4"/>
          <p:cNvSpPr/>
          <p:nvPr/>
        </p:nvSpPr>
        <p:spPr>
          <a:xfrm>
            <a:off x="215640" y="555480"/>
            <a:ext cx="8711640" cy="451944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factor() throws SyntaxException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token.isType(INT_LIT) ) { consume();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if ( token.isType(LPAREN) 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{ consume(); expr(); process(RPAREN);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throw new SyntaxException(…);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accent1"/>
                </a:solidFill>
                <a:latin typeface="Arial"/>
                <a:ea typeface="MS PGothic"/>
              </a:rPr>
              <a:t>//</a:t>
            </a:r>
            <a:r>
              <a:rPr b="0" lang="en-US" sz="2800" spc="-1" strike="noStrike">
                <a:solidFill>
                  <a:schemeClr val="accent1"/>
                </a:solidFill>
                <a:latin typeface="Consolas"/>
                <a:ea typeface="MS PGothic"/>
              </a:rPr>
              <a:t> factor ::= INT_LIT | </a:t>
            </a:r>
            <a:r>
              <a:rPr b="0" lang="en-US" sz="2800" spc="-1" strike="noStrike">
                <a:solidFill>
                  <a:schemeClr val="accent1"/>
                </a:solidFill>
                <a:latin typeface="Consolas"/>
                <a:ea typeface="MS PGothic"/>
              </a:rPr>
              <a:t>( expr 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Horizontal Scroll 4"/>
          <p:cNvSpPr/>
          <p:nvPr/>
        </p:nvSpPr>
        <p:spPr>
          <a:xfrm>
            <a:off x="215640" y="555480"/>
            <a:ext cx="8711640" cy="4519440"/>
          </a:xfrm>
          <a:prstGeom prst="horizontalScroll">
            <a:avLst>
              <a:gd name="adj" fmla="val 12500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term() throws SyntaxException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token.isType(TIMES) || token.isType(DIV)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consume();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factor();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327960" y="524520"/>
            <a:ext cx="8289720" cy="83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2600" spc="-1" strike="noStrike">
                <a:solidFill>
                  <a:schemeClr val="accent1"/>
                </a:solidFill>
                <a:latin typeface="Consolas"/>
                <a:ea typeface="MS PGothic"/>
              </a:rPr>
              <a:t>// term ::= factor ( ( * </a:t>
            </a:r>
            <a:r>
              <a:rPr b="0" lang="en-US" sz="2600" spc="-1" strike="noStrike">
                <a:solidFill>
                  <a:schemeClr val="accent1"/>
                </a:solidFill>
                <a:latin typeface="Consolas"/>
                <a:ea typeface="MS PGothic"/>
              </a:rPr>
              <a:t>| / )  factor ) *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nip Single Corner Rectangle 1"/>
          <p:cNvSpPr/>
          <p:nvPr/>
        </p:nvSpPr>
        <p:spPr>
          <a:xfrm>
            <a:off x="735840" y="0"/>
            <a:ext cx="8123760" cy="5065200"/>
          </a:xfrm>
          <a:prstGeom prst="snip1Rect">
            <a:avLst>
              <a:gd name="adj" fmla="val 16667"/>
            </a:avLst>
          </a:prstGeom>
          <a:solidFill>
            <a:schemeClr val="accent3"/>
          </a:solidFill>
          <a:ln>
            <a:solidFill>
              <a:srgbClr val="005097"/>
            </a:solidFill>
            <a:round/>
          </a:ln>
          <a:effectLst>
            <a:innerShdw blurRad="50800" dir="13500000" dist="25400">
              <a:srgbClr val="ffffff">
                <a:alpha val="75000"/>
              </a:srgbClr>
            </a:innerShdw>
            <a:outerShdw blurRad="63360" dir="5400000" dist="25560" rotWithShape="0">
              <a:srgbClr val="808080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0" bIns="9144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onsolas"/>
                <a:ea typeface="MS PGothic"/>
              </a:rPr>
              <a:t>// expr ::= term ( ( + | - )  term ) *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public void expr()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try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term();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token.isType(PLUS) || token.isType(MINUS)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consume();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term();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catch ( SyntaxException se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while ( token not EOF 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if ( token in FIRST(expr) ) { expr(); return; 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if ( token in FOLLOW(expr) ) return;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else token = scanner.getNext();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  </a:t>
            </a: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Consolas"/>
                <a:ea typeface="MS PGothic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PNE Theme Slide Deck">
  <a:themeElements>
    <a:clrScheme name="Custom 7">
      <a:dk1>
        <a:srgbClr val="000000"/>
      </a:dk1>
      <a:lt1>
        <a:srgbClr val="ffffff"/>
      </a:lt1>
      <a:dk2>
        <a:srgbClr val="000c3e"/>
      </a:dk2>
      <a:lt2>
        <a:srgbClr val="6c9ac3"/>
      </a:lt2>
      <a:accent1>
        <a:srgbClr val="00529b"/>
      </a:accent1>
      <a:accent2>
        <a:srgbClr val="00529b"/>
      </a:accent2>
      <a:accent3>
        <a:srgbClr val="e17f35"/>
      </a:accent3>
      <a:accent4>
        <a:srgbClr val="ff462c"/>
      </a:accent4>
      <a:accent5>
        <a:srgbClr val="ff462c"/>
      </a:accent5>
      <a:accent6>
        <a:srgbClr val="6c9ac3"/>
      </a:accent6>
      <a:hlink>
        <a:srgbClr val="ff462c"/>
      </a:hlink>
      <a:folHlink>
        <a:srgbClr val="ff7f3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PNE Theme Slide Deck">
  <a:themeElements>
    <a:clrScheme name="Custom 7">
      <a:dk1>
        <a:srgbClr val="000000"/>
      </a:dk1>
      <a:lt1>
        <a:srgbClr val="ffffff"/>
      </a:lt1>
      <a:dk2>
        <a:srgbClr val="000c3e"/>
      </a:dk2>
      <a:lt2>
        <a:srgbClr val="6c9ac3"/>
      </a:lt2>
      <a:accent1>
        <a:srgbClr val="00529b"/>
      </a:accent1>
      <a:accent2>
        <a:srgbClr val="00529b"/>
      </a:accent2>
      <a:accent3>
        <a:srgbClr val="e17f35"/>
      </a:accent3>
      <a:accent4>
        <a:srgbClr val="ff462c"/>
      </a:accent4>
      <a:accent5>
        <a:srgbClr val="ff462c"/>
      </a:accent5>
      <a:accent6>
        <a:srgbClr val="6c9ac3"/>
      </a:accent6>
      <a:hlink>
        <a:srgbClr val="ff462c"/>
      </a:hlink>
      <a:folHlink>
        <a:srgbClr val="ff7f3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PNE Theme Slide Deck</Template>
  <TotalTime>10680</TotalTime>
  <Application>LibreOffice/7.4.2.3$Linux_X86_64 LibreOffice_project/40$Build-3</Application>
  <AppVersion>15.0000</AppVersion>
  <Words>2257</Words>
  <Paragraphs>402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2018-12-09T21:35:01Z</dcterms:created>
  <dc:creator>Taylor, Curtis</dc:creator>
  <dc:description/>
  <dc:language>en-US</dc:language>
  <cp:lastModifiedBy/>
  <cp:lastPrinted>2018-12-14T17:35:19Z</cp:lastPrinted>
  <dcterms:modified xsi:type="dcterms:W3CDTF">2022-11-17T15:19:42Z</dcterms:modified>
  <cp:revision>173</cp:revision>
  <dc:subject/>
  <dc:title>Commitment to Diversity and Inclusion 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31</vt:i4>
  </property>
</Properties>
</file>