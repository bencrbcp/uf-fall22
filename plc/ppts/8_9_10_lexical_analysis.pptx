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3.jpeg" ContentType="image/jpeg"/>
  <Override PartName="/ppt/media/image2.png" ContentType="image/png"/>
  <Override PartName="/ppt/media/image4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6.xml.rels" ContentType="application/vnd.openxmlformats-package.relationships+xml"/>
  <Override PartName="/ppt/slides/_rels/slide30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2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10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27960" y="1730880"/>
            <a:ext cx="755604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755604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327960" y="893880"/>
            <a:ext cx="755604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1997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27960" y="33364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1997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88288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43780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2796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88288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43780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327960" y="1730880"/>
            <a:ext cx="755604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755604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327960" y="893880"/>
            <a:ext cx="7556040" cy="38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307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1997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327960" y="3336480"/>
            <a:ext cx="755604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199760" y="17308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3279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4199760" y="3336480"/>
            <a:ext cx="368712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2796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288288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5437800" y="17308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32796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288288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5437800" y="3336480"/>
            <a:ext cx="2432880" cy="14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2704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" name="Picture 1" descr="HWCOE-PPT---title-slide-2.png"/>
          <p:cNvPicPr/>
          <p:nvPr/>
        </p:nvPicPr>
        <p:blipFill>
          <a:blip r:embed="rId3"/>
          <a:stretch/>
        </p:blipFill>
        <p:spPr>
          <a:xfrm>
            <a:off x="0" y="0"/>
            <a:ext cx="9140760" cy="5143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71200" y="1676160"/>
            <a:ext cx="8272440" cy="13338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80000"/>
              </a:lnSpc>
              <a:buNone/>
            </a:pP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Pr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es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en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tat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io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n 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Tit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le</a:t>
            </a:r>
            <a:br>
              <a:rPr sz="4800"/>
            </a:b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Wi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th 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T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w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o 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Li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ne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s</a:t>
            </a:r>
            <a:endParaRPr b="0" lang="en-US" sz="4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71200" y="3095640"/>
            <a:ext cx="8681040" cy="580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Presentation Subtitle</a:t>
            </a:r>
            <a:endParaRPr b="0" lang="en-US" sz="24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3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27040"/>
          </a:xfrm>
          <a:prstGeom prst="rect">
            <a:avLst/>
          </a:prstGeom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27960" y="893880"/>
            <a:ext cx="755604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k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to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di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M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tit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yl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327960" y="1730880"/>
            <a:ext cx="7556040" cy="3073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Click to edit Master text styles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Second level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2" marL="6858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Third level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3" marL="9144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Fourth level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4" marL="11430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Fifth level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71200" y="1676160"/>
            <a:ext cx="8272440" cy="13338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80000"/>
              </a:lnSpc>
              <a:buNone/>
            </a:pP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L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e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x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i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c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a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l 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A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n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a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l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y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s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i</a:t>
            </a:r>
            <a:r>
              <a:rPr b="0" lang="en-US" sz="4800" spc="-1" strike="noStrike">
                <a:solidFill>
                  <a:srgbClr val="ffffff"/>
                </a:solidFill>
                <a:latin typeface="Arial"/>
                <a:ea typeface="MS PGothic"/>
              </a:rPr>
              <a:t>s</a:t>
            </a:r>
            <a:endParaRPr b="0" lang="en-US" sz="48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71200" y="3095640"/>
            <a:ext cx="8681040" cy="11865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COP 4020</a:t>
            </a:r>
            <a:endParaRPr b="0" lang="en-US" sz="24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v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v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w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f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g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u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g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Lexical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Parsing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Static Semantic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Code Generation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v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v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w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f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g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u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g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Lexical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Performed by a </a:t>
            </a:r>
            <a:r>
              <a:rPr b="0" i="1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Lexer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or Scanner.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i="1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Convert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sequence of </a:t>
            </a:r>
            <a:r>
              <a:rPr b="0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characters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into a sequence of potential </a:t>
            </a:r>
            <a:r>
              <a:rPr b="0" i="1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tokens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Lexical structure typically specified with </a:t>
            </a:r>
            <a:r>
              <a:rPr b="0" i="1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regular expressions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Parsing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Static Semantic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Code Generation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v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v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w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f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g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u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g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Lexical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Parsing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Performed by a </a:t>
            </a:r>
            <a:r>
              <a:rPr b="0" i="1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Parser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i="1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Recognizes legal phrases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[token order] using the rules of a grammar (</a:t>
            </a:r>
            <a:r>
              <a:rPr b="0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CFG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).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i="1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Converts token 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sequence into an Abstract Syntax Tree (</a:t>
            </a:r>
            <a:r>
              <a:rPr b="0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AST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).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Does </a:t>
            </a:r>
            <a:r>
              <a:rPr b="0" i="1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not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use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</a:t>
            </a:r>
            <a:r>
              <a:rPr b="0" lang="en-US" sz="1800" spc="-1" strike="noStrike">
                <a:solidFill>
                  <a:schemeClr val="accent3"/>
                </a:solidFill>
                <a:latin typeface="Cambria"/>
                <a:ea typeface="MS PGothic"/>
              </a:rPr>
              <a:t>regular expressions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Static Semantic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Code Generation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Overvie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w of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Langua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ge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Transla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tion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Lexical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Parsing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Static Semantic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Type checking is completed.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Code Generation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Over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view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of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Lang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uage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Trans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lation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Lexical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Parsing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Static Semantic Analysis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Code Generation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May involve several phases, depending up on how much optimization is included.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Sy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ax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vs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m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an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tic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298656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Syntax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describes the structure of a language.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Semantics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describe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meaning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that may be found in the language.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94" name="Folded Corner 9"/>
          <p:cNvSpPr/>
          <p:nvPr/>
        </p:nvSpPr>
        <p:spPr>
          <a:xfrm>
            <a:off x="4572000" y="1377000"/>
            <a:ext cx="2838960" cy="1423440"/>
          </a:xfrm>
          <a:prstGeom prst="foldedCorner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005097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tIns="22860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It is convenient to consider syntax and semantics separately.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" name="Wave 11"/>
          <p:cNvSpPr/>
          <p:nvPr/>
        </p:nvSpPr>
        <p:spPr>
          <a:xfrm>
            <a:off x="4919040" y="3108960"/>
            <a:ext cx="2109600" cy="1423440"/>
          </a:xfrm>
          <a:prstGeom prst="wave">
            <a:avLst>
              <a:gd name="adj1" fmla="val 12500"/>
              <a:gd name="adj2" fmla="val 0"/>
            </a:avLst>
          </a:prstGeom>
          <a:solidFill>
            <a:schemeClr val="accent1"/>
          </a:solidFill>
          <a:ln>
            <a:solidFill>
              <a:srgbClr val="000000">
                <a:lumMod val="65000"/>
                <a:lumOff val="3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Syntax is much easier to describe.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Sy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ax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Lexical Structure:  legal tokens [words]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Phrase Structure:  how tokens may be arranged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98" name="Horizontal Scroll 3"/>
          <p:cNvSpPr/>
          <p:nvPr/>
        </p:nvSpPr>
        <p:spPr>
          <a:xfrm>
            <a:off x="2302560" y="2295720"/>
            <a:ext cx="4538520" cy="232272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balance &lt; 0 )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return “Account Overdrawn”;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3267360" cy="12420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xi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</a:t>
            </a:r>
            <a:br>
              <a:rPr sz="3600"/>
            </a:b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ru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ur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38840" y="1874520"/>
            <a:ext cx="3045240" cy="10933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Defines how the character sequence is divided into a sequence of tokens.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graphicFrame>
        <p:nvGraphicFramePr>
          <p:cNvPr id="101" name="Table 5"/>
          <p:cNvGraphicFramePr/>
          <p:nvPr/>
        </p:nvGraphicFramePr>
        <p:xfrm>
          <a:off x="3941640" y="524520"/>
          <a:ext cx="4935600" cy="4371480"/>
        </p:xfrm>
        <a:graphic>
          <a:graphicData uri="http://schemas.openxmlformats.org/drawingml/2006/table">
            <a:tbl>
              <a:tblPr/>
              <a:tblGrid>
                <a:gridCol w="2730600"/>
                <a:gridCol w="2205000"/>
              </a:tblGrid>
              <a:tr h="36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Token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Rockwell"/>
                        </a:rPr>
                        <a:t>Kind | Type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if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keyword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(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left paren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balance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identifier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&lt;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operator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numerical literal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right paren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{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left brace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return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keyword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“</a:t>
                      </a: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Account Overdrawn”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string literal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;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semicolon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9ef"/>
                    </a:solidFill>
                  </a:tcPr>
                </a:tc>
              </a:tr>
              <a:tr h="36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onsolas"/>
                        </a:rPr>
                        <a:t>}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Rockwell"/>
                        </a:rPr>
                        <a:t>right brace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0de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P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hr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as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ru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ur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[br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ief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ly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for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w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…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]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15642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According to phrase structure, this is a legal statement: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the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if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keyword is followed by an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expression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enclosed in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parentheses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which is followed by a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block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enclosed in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braces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that contains a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statement</a:t>
            </a:r>
            <a:r>
              <a:rPr b="0" lang="en-US" sz="2000" spc="-1" strike="noStrike">
                <a:solidFill>
                  <a:srgbClr val="1f4aff"/>
                </a:solidFill>
                <a:latin typeface="Cambria"/>
                <a:ea typeface="MS PGothic"/>
              </a:rPr>
              <a:t>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terminated with a </a:t>
            </a:r>
            <a:r>
              <a:rPr b="1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;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04" name="Horizontal Scroll 3"/>
          <p:cNvSpPr/>
          <p:nvPr/>
        </p:nvSpPr>
        <p:spPr>
          <a:xfrm>
            <a:off x="2302560" y="2759040"/>
            <a:ext cx="4538520" cy="2322720"/>
          </a:xfrm>
          <a:prstGeom prst="horizontalScroll">
            <a:avLst>
              <a:gd name="adj" fmla="val 12500"/>
            </a:avLst>
          </a:prstGeom>
          <a:solidFill>
            <a:schemeClr val="accent3"/>
          </a:solidFill>
          <a:ln>
            <a:solidFill>
              <a:srgbClr val="00529b">
                <a:shade val="95000"/>
                <a:satMod val="10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if ( balance &lt; 0 ) {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return “Account Overdrawn”;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}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xi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ru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ur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Q:  Why do we use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formal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notation?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A: 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Precise definition ensures lexical rules are clear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07" name="Folded Corner 3"/>
          <p:cNvSpPr/>
          <p:nvPr/>
        </p:nvSpPr>
        <p:spPr>
          <a:xfrm>
            <a:off x="865800" y="2397960"/>
            <a:ext cx="2838960" cy="1423440"/>
          </a:xfrm>
          <a:prstGeom prst="foldedCorner">
            <a:avLst>
              <a:gd name="adj" fmla="val 1666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5097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tIns="22860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Rockwell"/>
                <a:ea typeface="MS PGothic"/>
              </a:rPr>
              <a:t>Rational Constants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Cambria Math"/>
              </a:rPr>
              <a:t>is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Cambria Math"/>
              </a:rPr>
              <a:t>.1</a:t>
            </a: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Cambria Math"/>
              </a:rPr>
              <a:t> allowed?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Cambria Math"/>
              </a:rPr>
              <a:t>is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Cambria Math"/>
              </a:rPr>
              <a:t>10.</a:t>
            </a: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Cambria Math"/>
              </a:rPr>
              <a:t> allowed?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Folded Corner 4"/>
          <p:cNvSpPr/>
          <p:nvPr/>
        </p:nvSpPr>
        <p:spPr>
          <a:xfrm>
            <a:off x="4572000" y="2397960"/>
            <a:ext cx="3596400" cy="1423440"/>
          </a:xfrm>
          <a:prstGeom prst="foldedCorner">
            <a:avLst>
              <a:gd name="adj" fmla="val 16667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5097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tIns="22860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Rockwell"/>
                <a:ea typeface="MS PGothic"/>
              </a:rPr>
              <a:t>Rational Constants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Cambria Math"/>
              </a:rPr>
              <a:t>1..15</a:t>
            </a: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Cambria Math"/>
              </a:rPr>
              <a:t> is a rang specifier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Cambria Math"/>
              </a:rPr>
              <a:t>Lexer might confuse 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Cambria Math"/>
              </a:rPr>
              <a:t>this with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Cambria Math"/>
              </a:rPr>
              <a:t>1.</a:t>
            </a: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Cambria Math"/>
              </a:rPr>
              <a:t> and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Cambria Math"/>
              </a:rPr>
              <a:t>.15</a:t>
            </a: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Cambria Math"/>
              </a:rPr>
              <a:t>!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9" name="Rounded Rectangular Callout 5"/>
          <p:cNvSpPr/>
          <p:nvPr/>
        </p:nvSpPr>
        <p:spPr>
          <a:xfrm>
            <a:off x="-12960" y="2467800"/>
            <a:ext cx="988200" cy="1353600"/>
          </a:xfrm>
          <a:prstGeom prst="wedgeRoundRectCallout">
            <a:avLst>
              <a:gd name="adj1" fmla="val 90079"/>
              <a:gd name="adj2" fmla="val 18381"/>
              <a:gd name="adj3" fmla="val 16667"/>
            </a:avLst>
          </a:prstGeom>
          <a:gradFill rotWithShape="0">
            <a:gsLst>
              <a:gs pos="0">
                <a:srgbClr val="71bcff"/>
              </a:gs>
              <a:gs pos="100000">
                <a:srgbClr val="00315d"/>
              </a:gs>
            </a:gsLst>
            <a:path path="circle">
              <a:fillToRect l="50000" t="100000" r="50000" b="0"/>
            </a:path>
          </a:gradFill>
          <a:ln>
            <a:solidFill>
              <a:srgbClr val="005097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Rockwell"/>
                <a:ea typeface="MS PGothic"/>
              </a:rPr>
              <a:t>Java, C, C++… </a:t>
            </a:r>
            <a:r>
              <a:rPr b="0" lang="en-US" sz="1800" spc="-1" strike="noStrike" u="sng">
                <a:solidFill>
                  <a:schemeClr val="lt1"/>
                </a:solidFill>
                <a:uFillTx/>
                <a:latin typeface="Rockwell"/>
                <a:ea typeface="MS PGothic"/>
              </a:rPr>
              <a:t>YES</a:t>
            </a:r>
            <a:r>
              <a:rPr b="0" lang="en-US" sz="1800" spc="-1" strike="noStrike">
                <a:solidFill>
                  <a:schemeClr val="lt1"/>
                </a:solidFill>
                <a:latin typeface="Rockwell"/>
                <a:ea typeface="MS PGothic"/>
              </a:rPr>
              <a:t>!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Rounded Rectangular Callout 6"/>
          <p:cNvSpPr/>
          <p:nvPr/>
        </p:nvSpPr>
        <p:spPr>
          <a:xfrm>
            <a:off x="1414440" y="4216320"/>
            <a:ext cx="2694240" cy="641880"/>
          </a:xfrm>
          <a:prstGeom prst="wedgeRoundRectCallout">
            <a:avLst>
              <a:gd name="adj1" fmla="val -28435"/>
              <a:gd name="adj2" fmla="val -130907"/>
              <a:gd name="adj3" fmla="val 16667"/>
            </a:avLst>
          </a:prstGeom>
          <a:gradFill rotWithShape="0">
            <a:gsLst>
              <a:gs pos="0">
                <a:srgbClr val="71bcff"/>
              </a:gs>
              <a:gs pos="100000">
                <a:srgbClr val="00315d"/>
              </a:gs>
            </a:gsLst>
            <a:path path="circle">
              <a:fillToRect l="50000" t="100000" r="50000" b="0"/>
            </a:path>
          </a:gradFill>
          <a:ln>
            <a:solidFill>
              <a:srgbClr val="005097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Rockwell"/>
                <a:ea typeface="MS PGothic"/>
              </a:rPr>
              <a:t>Pascal, Ada … </a:t>
            </a:r>
            <a:r>
              <a:rPr b="0" lang="en-US" sz="1800" spc="-1" strike="noStrike" u="sng">
                <a:solidFill>
                  <a:schemeClr val="lt1"/>
                </a:solidFill>
                <a:uFillTx/>
                <a:latin typeface="Rockwell"/>
                <a:ea typeface="MS PGothic"/>
              </a:rPr>
              <a:t>NO</a:t>
            </a:r>
            <a:r>
              <a:rPr b="0" lang="en-US" sz="1800" spc="-1" strike="noStrike">
                <a:solidFill>
                  <a:schemeClr val="lt1"/>
                </a:solidFill>
                <a:latin typeface="Rockwell"/>
                <a:ea typeface="MS PGothic"/>
              </a:rPr>
              <a:t>!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Ex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m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ple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: 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[si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m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ple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]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Nu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m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eri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Lit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als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We give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names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[labels] to regular expressions and use them in other regular expressions as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if they were symbols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13" name="Horizontal Scroll 3"/>
          <p:cNvSpPr/>
          <p:nvPr/>
        </p:nvSpPr>
        <p:spPr>
          <a:xfrm>
            <a:off x="663120" y="1916280"/>
            <a:ext cx="7619760" cy="2322720"/>
          </a:xfrm>
          <a:prstGeom prst="horizont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&lt;num lit&gt; ::= &lt;nonzero digit&gt; &lt;digit&gt;*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&lt;digit&gt; ::=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&lt;nonzero digit&gt;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&lt;nonzero digit&gt; ::=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1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2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3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4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5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6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7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8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9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4" name="Content Placeholder 2"/>
          <p:cNvSpPr/>
          <p:nvPr/>
        </p:nvSpPr>
        <p:spPr>
          <a:xfrm>
            <a:off x="327960" y="4430520"/>
            <a:ext cx="848808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Orange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denotes a </a:t>
            </a: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literal character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values.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Exa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mpl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e: 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Ide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ntifi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ers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6" name="Horizontal Scroll 3"/>
          <p:cNvSpPr/>
          <p:nvPr/>
        </p:nvSpPr>
        <p:spPr>
          <a:xfrm>
            <a:off x="648000" y="1561320"/>
            <a:ext cx="7847640" cy="2744640"/>
          </a:xfrm>
          <a:prstGeom prst="horizont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22860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&lt;identifier&gt; ::= &lt;identifier start&gt; &lt;identifier part&gt;*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start&gt; ::=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$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_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part&gt; ::= &lt;identifier start&gt; | &lt;digit&gt;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Ex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m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pl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e: 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pe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rat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or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8" name="Horizontal Scroll 3"/>
          <p:cNvSpPr/>
          <p:nvPr/>
        </p:nvSpPr>
        <p:spPr>
          <a:xfrm>
            <a:off x="648000" y="1148400"/>
            <a:ext cx="6477480" cy="2118240"/>
          </a:xfrm>
          <a:prstGeom prst="horizont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22860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&lt;input&gt; ::= &lt;token&gt;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*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&lt;token&gt; ::= &lt;identifier&gt; | &lt;num list&gt; | &lt;op&gt;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&lt;op&gt; ::=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==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27960" y="3363480"/>
            <a:ext cx="8488080" cy="12553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Implicitly:   = {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..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..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..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9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_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=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}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Note,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is used both as an element of  and as a 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Kleene star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[meta symbol].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cxnSp>
        <p:nvCxnSpPr>
          <p:cNvPr id="120" name="Straight Arrow Connector 5"/>
          <p:cNvCxnSpPr/>
          <p:nvPr/>
        </p:nvCxnSpPr>
        <p:spPr>
          <a:xfrm flipH="1" flipV="1">
            <a:off x="3523680" y="2698560"/>
            <a:ext cx="892440" cy="1479600"/>
          </a:xfrm>
          <a:prstGeom prst="straightConnector1">
            <a:avLst/>
          </a:prstGeom>
          <a:ln cap="rnd">
            <a:solidFill>
              <a:srgbClr val="e17f35"/>
            </a:solidFill>
            <a:round/>
            <a:tailEnd len="med" type="arrow" w="med"/>
          </a:ln>
        </p:spPr>
      </p:cxnSp>
      <p:cxnSp>
        <p:nvCxnSpPr>
          <p:cNvPr id="121" name="Straight Arrow Connector 7"/>
          <p:cNvCxnSpPr/>
          <p:nvPr/>
        </p:nvCxnSpPr>
        <p:spPr>
          <a:xfrm flipH="1" flipV="1">
            <a:off x="3690720" y="1802160"/>
            <a:ext cx="2498400" cy="2398320"/>
          </a:xfrm>
          <a:prstGeom prst="straightConnector1">
            <a:avLst/>
          </a:prstGeom>
          <a:ln cap="rnd">
            <a:solidFill>
              <a:srgbClr val="000000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Example: 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Inline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Comments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and Not()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3" name="Horizontal Scroll 3"/>
          <p:cNvSpPr/>
          <p:nvPr/>
        </p:nvSpPr>
        <p:spPr>
          <a:xfrm>
            <a:off x="648000" y="1148400"/>
            <a:ext cx="6477480" cy="1422720"/>
          </a:xfrm>
          <a:prstGeom prst="horizont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&lt;inline comment&gt; ::=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//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(Not(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EOL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))*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EOL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27960" y="2732040"/>
            <a:ext cx="8488080" cy="18864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Single line comment.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Within the sequence of characters making up the comment, the end-of-line (EOL) character is not allowed.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Not(element)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represents negation of the element listed.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Example: 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Block 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Comments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6" name="Horizontal Scroll 3"/>
          <p:cNvSpPr/>
          <p:nvPr/>
        </p:nvSpPr>
        <p:spPr>
          <a:xfrm>
            <a:off x="648000" y="1148400"/>
            <a:ext cx="6477480" cy="1422720"/>
          </a:xfrm>
          <a:prstGeom prst="horizont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22860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&lt;block comment&gt; ::=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##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 ((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# 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| ) Not(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#</a:t>
            </a: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))* </a:t>
            </a: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##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327960" y="2713680"/>
            <a:ext cx="4128120" cy="2324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Comment delimited by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##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What is the shortest legal string?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28" name="Content Placeholder 2"/>
          <p:cNvSpPr/>
          <p:nvPr/>
        </p:nvSpPr>
        <p:spPr>
          <a:xfrm>
            <a:off x="4572000" y="2713680"/>
            <a:ext cx="4407840" cy="232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Which of these are legal strings?</a:t>
            </a:r>
            <a:endParaRPr b="0" lang="en-US" sz="2000" spc="-1" strike="noStrike">
              <a:latin typeface="Arial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##abc##</a:t>
            </a:r>
            <a:endParaRPr b="0" lang="en-US" sz="2000" spc="-1" strike="noStrike">
              <a:latin typeface="Arial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##abc##abc##</a:t>
            </a:r>
            <a:endParaRPr b="0" lang="en-US" sz="2000" spc="-1" strike="noStrike">
              <a:latin typeface="Arial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##abc#abc##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Recognizing Tokens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REs specify or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generate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tokens.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We need to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recognize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tokens.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Deterministic Finite Automaton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(DFA|DFSM) is used to recognize the language that can be generated by a given RE.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We call this part of compilation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Lexical Analysis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The interpreter | compiler component that performs lexical analysis is called a </a:t>
            </a:r>
            <a:r>
              <a:rPr b="0" i="1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Lexer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or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Scanner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Lexers | Scanners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Responsible for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tokenizing source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as specified by RE.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Also: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Removing comments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[often] dealing with pragmas [significant comments]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Saving text of identifiers, numbers, strings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Saving source locations [file, line, column] for error message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Building Lexers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Ad-hoc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Semi-mechanical pure DFA [usually realized as nested case statements]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Table-driven DFA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Building Lexers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Ad-hoc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Semi-mechanical pure DFA [usually realized as nested case statements]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Table-driven DFA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37" name="Wave 3"/>
          <p:cNvSpPr/>
          <p:nvPr/>
        </p:nvSpPr>
        <p:spPr>
          <a:xfrm>
            <a:off x="1677600" y="2714040"/>
            <a:ext cx="5590440" cy="2177640"/>
          </a:xfrm>
          <a:prstGeom prst="wave">
            <a:avLst>
              <a:gd name="adj1" fmla="val 12500"/>
              <a:gd name="adj2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0000">
                <a:lumMod val="65000"/>
                <a:lumOff val="35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chemeClr val="accent3"/>
                </a:solidFill>
                <a:latin typeface="Rockwell"/>
                <a:ea typeface="MS PGothic"/>
              </a:rPr>
              <a:t>Ad-hoc</a:t>
            </a: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 generally yields the fastest, most compact code by performing lots of special purpose operations, though good automatically-generated scanners come close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097480" y="466920"/>
            <a:ext cx="660600" cy="451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accent1"/>
                </a:solidFill>
                <a:latin typeface="Consolas"/>
                <a:ea typeface="MS PGothic"/>
              </a:rPr>
              <a:t>LEXING</a:t>
            </a:r>
            <a:endParaRPr b="0" lang="en-US" sz="32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07840" y="4200480"/>
            <a:ext cx="694152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Given a sequence of characters, scan input from left to right, </a:t>
            </a: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extending a token as long as possible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40" name="Horizontal Scroll 3"/>
          <p:cNvSpPr/>
          <p:nvPr/>
        </p:nvSpPr>
        <p:spPr>
          <a:xfrm>
            <a:off x="129960" y="0"/>
            <a:ext cx="7619760" cy="4674600"/>
          </a:xfrm>
          <a:prstGeom prst="horizont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&lt;token&gt; ::= &lt;identifier&gt; | &lt;num lit&gt; | &lt;op&gt;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&lt;num lit&gt;       ::= &lt;nonzero digit&gt; &lt;digit&gt;*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&lt;digit&gt;         ::=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&lt;nonzero digit&gt;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&lt;nonzero digit&gt; ::=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1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2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3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4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5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6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7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8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9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&lt;identifier&gt; ::= &lt;identifier start&gt; &lt;identifier part&gt;*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start&gt; ::=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$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_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part&gt;  ::= &lt;identifier start&gt; | &lt;digit&gt;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&lt;op&gt; ::=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==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Lexing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abc0def12g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a single token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abc+45d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a=d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01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43" name="Vertical Scroll 5"/>
          <p:cNvSpPr/>
          <p:nvPr/>
        </p:nvSpPr>
        <p:spPr>
          <a:xfrm>
            <a:off x="2720160" y="64080"/>
            <a:ext cx="6550920" cy="2594880"/>
          </a:xfrm>
          <a:prstGeom prst="vertic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rIns="90000" tIns="9144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&lt;token&gt; ::= &lt;identifier&gt; | &lt;num lit&gt; | &lt;op&gt;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&lt;num lit&gt; ::= &lt;nonzero digit&gt; &lt;digit&gt;*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&lt;digit&gt;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&lt;nonzero digit&gt;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&lt;nonzero digit&gt;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1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2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3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4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5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6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7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8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9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&lt;identifier&gt; ::= &lt;identifier start&gt; &lt;identifier part&gt;*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start&gt;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$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_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part&gt; ::= &lt;identifier start&gt; | &lt;digit&gt;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&lt;op&gt;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==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Lexing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abc0def12g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abc+45d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 4 tokens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identifier:  </a:t>
            </a: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abc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op:  </a:t>
            </a: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+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num lit:  </a:t>
            </a: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45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identifier:  </a:t>
            </a: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d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a=d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01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a==b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46" name="Vertical Scroll 8"/>
          <p:cNvSpPr/>
          <p:nvPr/>
        </p:nvSpPr>
        <p:spPr>
          <a:xfrm>
            <a:off x="2720160" y="64080"/>
            <a:ext cx="6550920" cy="2594880"/>
          </a:xfrm>
          <a:prstGeom prst="vertic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rIns="90000" tIns="9144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&lt;token&gt; ::= &lt;identifier&gt; | &lt;num lit&gt; | &lt;op&gt;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&lt;num lit&gt; ::= &lt;nonzero digit&gt; &lt;digit&gt;*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&lt;digit&gt;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&lt;nonzero digit&gt;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&lt;nonzero digit&gt;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1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2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3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4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5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6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7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8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9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&lt;identifier&gt; ::= &lt;identifier start&gt; &lt;identifier start&gt;*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start&gt;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$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_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part&gt; ::= &lt;identifier start&gt; | &lt;digit&gt;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&lt;op&gt;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==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Lexing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abc0def12g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abc+45d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a=d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identifier:  </a:t>
            </a: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a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Followed by an illegal token [single equal is invalid]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01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a==b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49" name="Vertical Scroll 6"/>
          <p:cNvSpPr/>
          <p:nvPr/>
        </p:nvSpPr>
        <p:spPr>
          <a:xfrm>
            <a:off x="2720160" y="64080"/>
            <a:ext cx="6550920" cy="2594880"/>
          </a:xfrm>
          <a:prstGeom prst="vertic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rIns="90000" tIns="9144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&lt;token&gt; ::= &lt;identifier&gt; | &lt;num lit&gt; | &lt;op&gt;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&lt;num lit&gt; ::= &lt;nonzero digit&gt; &lt;digit&gt;*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&lt;digit&gt;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&lt;nonzero digit&gt;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&lt;nonzero digit&gt;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1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2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3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4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5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6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7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8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9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&lt;identifier&gt; ::= &lt;identifier start&gt; &lt;identifier start&gt;*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start&gt;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$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_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part&gt; ::= &lt;identifier start&gt; | &lt;digit&gt;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&lt;op&gt;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==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Lexing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abc0def12g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abc+45d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a=d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01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2 tokens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num lit:  </a:t>
            </a: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0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num lit:  </a:t>
            </a: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1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a==b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52" name="Vertical Scroll 4"/>
          <p:cNvSpPr/>
          <p:nvPr/>
        </p:nvSpPr>
        <p:spPr>
          <a:xfrm>
            <a:off x="2720160" y="64080"/>
            <a:ext cx="6550920" cy="2594880"/>
          </a:xfrm>
          <a:prstGeom prst="vertic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rIns="90000" tIns="9144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&lt;token&gt; ::= &lt;identifier&gt; | &lt;num lit&gt; | &lt;op&gt;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&lt;num lit&gt; ::= &lt;nonzero digit&gt; &lt;digit&gt;*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&lt;digit&gt;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&lt;nonzero digit&gt;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&lt;nonzero digit&gt;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1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2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3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4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5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6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7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8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9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&lt;identifier&gt; ::= &lt;identifier start&gt; &lt;identifier start&gt;*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start&gt;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$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_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part&gt; ::= &lt;identifier start&gt; | &lt;digit&gt;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&lt;op&gt;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==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Lexing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abc0def12g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abc+45d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a=d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01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a==b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Cambria Math"/>
              </a:rPr>
              <a:t>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3 tokens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identifier:  </a:t>
            </a: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a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op:  </a:t>
            </a: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==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identifier:  </a:t>
            </a: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b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55" name="Vertical Scroll 4"/>
          <p:cNvSpPr/>
          <p:nvPr/>
        </p:nvSpPr>
        <p:spPr>
          <a:xfrm>
            <a:off x="2720160" y="64080"/>
            <a:ext cx="6550920" cy="2594880"/>
          </a:xfrm>
          <a:prstGeom prst="vertic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rIns="90000" tIns="9144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&lt;token&gt; ::= &lt;identifier&gt; | &lt;num lit&gt; | &lt;op&gt;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&lt;num lit&gt; ::= &lt;nonzero digit&gt; &lt;digit&gt;*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&lt;digit&gt;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&lt;nonzero digit&gt;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&lt;nonzero digit&gt;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1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2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3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4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5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6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7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8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9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&lt;identifier&gt; ::= &lt;identifier start&gt; &lt;identifier start&gt;*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start&gt;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$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_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part&gt; ::= &lt;identifier start&gt; | &lt;digit&gt;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&lt;op&gt; ::=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==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4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accent1"/>
                </a:solidFill>
                <a:latin typeface="Arial"/>
                <a:ea typeface="MS PGothic"/>
              </a:rPr>
              <a:t>Implementing Ad-hoc [hand-written] Lexer</a:t>
            </a:r>
            <a:endParaRPr b="0" lang="en-US" sz="32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One at time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examine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characters using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class CharStream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If there is a one-character token, {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+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*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}, </a:t>
            </a:r>
            <a:r>
              <a:rPr b="1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emit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[announce] that token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If the character is </a:t>
            </a:r>
            <a:r>
              <a:rPr b="1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=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then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look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at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next character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If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another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</a:t>
            </a:r>
            <a:r>
              <a:rPr b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=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follows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1" lang="en-US" sz="18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emit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the token </a:t>
            </a:r>
            <a:r>
              <a:rPr b="1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==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Otherwise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throw an exception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[announce an error]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If the character is a non-zero digit,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continue reading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until a non-digit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If the character is a letter, $, or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_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continue reading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until the next character is not a letter, digit, $, or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_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...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and so on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Finite State Automata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:  a finite set of  states 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:  a finite input alphabet of symbols.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:  start state.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:  the set of final states.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transition function given state  and input symbol 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returns the next [new] state 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The </a:t>
            </a:r>
            <a:r>
              <a:rPr b="0" i="1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Sheep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 Machine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pic>
        <p:nvPicPr>
          <p:cNvPr id="161" name="Picture 6" descr="A close up of a logo&#10;&#10;Description automatically generated"/>
          <p:cNvPicPr/>
          <p:nvPr/>
        </p:nvPicPr>
        <p:blipFill>
          <a:blip r:embed="rId1"/>
          <a:stretch/>
        </p:blipFill>
        <p:spPr>
          <a:xfrm>
            <a:off x="1630440" y="1136880"/>
            <a:ext cx="5882400" cy="379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The </a:t>
            </a:r>
            <a:r>
              <a:rPr b="0" i="1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Sheep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 Machine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272484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 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pic>
        <p:nvPicPr>
          <p:cNvPr id="164" name="Picture 5" descr="A picture containing drawing&#10;&#10;Description automatically generated"/>
          <p:cNvPicPr/>
          <p:nvPr/>
        </p:nvPicPr>
        <p:blipFill>
          <a:blip r:embed="rId1"/>
          <a:stretch/>
        </p:blipFill>
        <p:spPr>
          <a:xfrm>
            <a:off x="5076720" y="1063800"/>
            <a:ext cx="3540960" cy="3540960"/>
          </a:xfrm>
          <a:prstGeom prst="rect">
            <a:avLst/>
          </a:prstGeom>
          <a:ln w="0">
            <a:noFill/>
          </a:ln>
        </p:spPr>
      </p:pic>
      <p:sp>
        <p:nvSpPr>
          <p:cNvPr id="165" name="Folded Corner 13"/>
          <p:cNvSpPr/>
          <p:nvPr/>
        </p:nvSpPr>
        <p:spPr>
          <a:xfrm>
            <a:off x="895680" y="2486160"/>
            <a:ext cx="3020760" cy="695880"/>
          </a:xfrm>
          <a:prstGeom prst="foldedCorner">
            <a:avLst>
              <a:gd name="adj" fmla="val 16667"/>
            </a:avLst>
          </a:prstGeom>
          <a:solidFill>
            <a:schemeClr val="accent3"/>
          </a:solidFill>
          <a:ln>
            <a:solidFill>
              <a:srgbClr val="00529b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0" anchor="ctr" anchorCtr="1">
            <a:noAutofit/>
          </a:bodyPr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onsolas"/>
                <a:ea typeface="MS PGothic"/>
              </a:rPr>
              <a:t>&lt;sheep&gt; ::= ba+!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The </a:t>
            </a:r>
            <a:r>
              <a:rPr b="0" i="1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Sheep</a:t>
            </a: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 Machine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262044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Start State:  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  <p:pic>
        <p:nvPicPr>
          <p:cNvPr id="168" name="Picture 5" descr="A picture containing drawing&#10;&#10;Description automatically generated"/>
          <p:cNvPicPr/>
          <p:nvPr/>
        </p:nvPicPr>
        <p:blipFill>
          <a:blip r:embed="rId1"/>
          <a:stretch/>
        </p:blipFill>
        <p:spPr>
          <a:xfrm>
            <a:off x="7198560" y="524520"/>
            <a:ext cx="1617120" cy="1617120"/>
          </a:xfrm>
          <a:prstGeom prst="rect">
            <a:avLst/>
          </a:prstGeom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169" name="Oval 3"/>
              <p:cNvSpPr txBox="1"/>
              <p:nvPr/>
            </p:nvSpPr>
            <p:spPr>
              <a:xfrm>
                <a:off x="3204000" y="2646360"/>
                <a:ext cx="685440" cy="685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𝑞</m:t>
                        </m:r>
                      </m:e>
                      <m:sub>
                        <m:r>
                          <m:t xml:space="preserve">0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70" name="Oval 4"/>
              <p:cNvSpPr txBox="1"/>
              <p:nvPr/>
            </p:nvSpPr>
            <p:spPr>
              <a:xfrm>
                <a:off x="7981920" y="2646360"/>
                <a:ext cx="685440" cy="685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𝑞</m:t>
                        </m:r>
                      </m:e>
                      <m:sub>
                        <m:r>
                          <m:t xml:space="preserve">3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71" name="Oval 10"/>
              <p:cNvSpPr txBox="1"/>
              <p:nvPr/>
            </p:nvSpPr>
            <p:spPr>
              <a:xfrm>
                <a:off x="4796640" y="2646360"/>
                <a:ext cx="685440" cy="685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𝑞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72" name="Oval 10"/>
              <p:cNvSpPr txBox="1"/>
              <p:nvPr/>
            </p:nvSpPr>
            <p:spPr>
              <a:xfrm>
                <a:off x="6389280" y="2646360"/>
                <a:ext cx="685440" cy="685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𝑞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p:cxnSp>
        <p:nvCxnSpPr>
          <p:cNvPr id="173" name="Straight Arrow Connector 11"/>
          <p:cNvCxnSpPr>
            <a:stCxn id="169" idx="1"/>
            <a:endCxn id="171" idx="2"/>
          </p:cNvCxnSpPr>
          <p:nvPr/>
        </p:nvCxnSpPr>
        <p:spPr>
          <a:xfrm>
            <a:off x="3889440" y="2989080"/>
            <a:ext cx="1250280" cy="34308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174" name="Straight Arrow Connector 12"/>
          <p:cNvCxnSpPr/>
          <p:nvPr/>
        </p:nvCxnSpPr>
        <p:spPr>
          <a:xfrm>
            <a:off x="5482080" y="2989800"/>
            <a:ext cx="90720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175" name="Straight Arrow Connector 13"/>
          <p:cNvCxnSpPr/>
          <p:nvPr/>
        </p:nvCxnSpPr>
        <p:spPr>
          <a:xfrm>
            <a:off x="7074720" y="2989080"/>
            <a:ext cx="90720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mc:AlternateContent>
        <mc:Choice xmlns:a14="http://schemas.microsoft.com/office/drawing/2010/main" Requires="a14">
          <p:sp>
            <p:nvSpPr>
              <p:cNvPr id="176" name="TextBox 14"/>
              <p:cNvSpPr txBox="1"/>
              <p:nvPr/>
            </p:nvSpPr>
            <p:spPr>
              <a:xfrm>
                <a:off x="4145040" y="2397240"/>
                <a:ext cx="361440" cy="461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𝑏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77" name="TextBox 15"/>
              <p:cNvSpPr txBox="1"/>
              <p:nvPr/>
            </p:nvSpPr>
            <p:spPr>
              <a:xfrm>
                <a:off x="7347600" y="2397240"/>
                <a:ext cx="361440" cy="461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!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78" name="TextBox 16"/>
              <p:cNvSpPr txBox="1"/>
              <p:nvPr/>
            </p:nvSpPr>
            <p:spPr>
              <a:xfrm>
                <a:off x="5749200" y="2397240"/>
                <a:ext cx="361440" cy="461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𝑎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79" name="Freeform 17"/>
          <p:cNvSpPr/>
          <p:nvPr/>
        </p:nvSpPr>
        <p:spPr>
          <a:xfrm rot="21364200">
            <a:off x="6126120" y="3324240"/>
            <a:ext cx="1036440" cy="1062360"/>
          </a:xfrm>
          <a:custGeom>
            <a:avLst/>
            <a:gdLst>
              <a:gd name="textAreaLeft" fmla="*/ 0 w 1036440"/>
              <a:gd name="textAreaRight" fmla="*/ 1036800 w 1036440"/>
              <a:gd name="textAreaTop" fmla="*/ 0 h 1062360"/>
              <a:gd name="textAreaBottom" fmla="*/ 1062720 h 1062360"/>
            </a:gdLst>
            <a:ahLst/>
            <a:rect l="textAreaLeft" t="textAreaTop" r="textAreaRight" b="textAreaBottom"/>
            <a:pathLst>
              <a:path w="752" h="632">
                <a:moveTo>
                  <a:pt x="384" y="0"/>
                </a:moveTo>
                <a:cubicBezTo>
                  <a:pt x="192" y="120"/>
                  <a:pt x="0" y="240"/>
                  <a:pt x="48" y="336"/>
                </a:cubicBezTo>
                <a:cubicBezTo>
                  <a:pt x="96" y="432"/>
                  <a:pt x="592" y="632"/>
                  <a:pt x="672" y="576"/>
                </a:cubicBezTo>
                <a:cubicBezTo>
                  <a:pt x="752" y="520"/>
                  <a:pt x="552" y="96"/>
                  <a:pt x="528" y="0"/>
                </a:cubicBezTo>
              </a:path>
            </a:pathLst>
          </a:custGeom>
          <a:noFill/>
          <a:ln w="2540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mc:AlternateContent>
        <mc:Choice xmlns:a14="http://schemas.microsoft.com/office/drawing/2010/main" Requires="a14">
          <p:sp>
            <p:nvSpPr>
              <p:cNvPr id="180" name="TextBox 19"/>
              <p:cNvSpPr txBox="1"/>
              <p:nvPr/>
            </p:nvSpPr>
            <p:spPr>
              <a:xfrm>
                <a:off x="6551280" y="3646080"/>
                <a:ext cx="361440" cy="461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𝑎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81" name="Folded Corner 3"/>
          <p:cNvSpPr/>
          <p:nvPr/>
        </p:nvSpPr>
        <p:spPr>
          <a:xfrm>
            <a:off x="3710880" y="1410120"/>
            <a:ext cx="3020760" cy="695880"/>
          </a:xfrm>
          <a:prstGeom prst="foldedCorner">
            <a:avLst>
              <a:gd name="adj" fmla="val 16667"/>
            </a:avLst>
          </a:prstGeom>
          <a:solidFill>
            <a:schemeClr val="accent3"/>
          </a:solidFill>
          <a:ln>
            <a:solidFill>
              <a:srgbClr val="00529b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0" anchor="ctr" anchorCtr="1">
            <a:noAutofit/>
          </a:bodyPr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onsolas"/>
                <a:ea typeface="MS PGothic"/>
              </a:rPr>
              <a:t>&lt;sheep&gt; ::= ba+!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097480" y="466920"/>
            <a:ext cx="660600" cy="4512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accent1"/>
                </a:solidFill>
                <a:latin typeface="Consolas"/>
                <a:ea typeface="MS PGothic"/>
              </a:rPr>
              <a:t>LEXING</a:t>
            </a:r>
            <a:endParaRPr b="0" lang="en-US" sz="32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07840" y="4200480"/>
            <a:ext cx="694152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Recall our grammar.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The following slides provide the </a:t>
            </a:r>
            <a:r>
              <a:rPr b="0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DFA for this grammar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184" name="Horizontal Scroll 3"/>
          <p:cNvSpPr/>
          <p:nvPr/>
        </p:nvSpPr>
        <p:spPr>
          <a:xfrm>
            <a:off x="129960" y="0"/>
            <a:ext cx="7619760" cy="4674600"/>
          </a:xfrm>
          <a:prstGeom prst="horizontalScroll">
            <a:avLst>
              <a:gd name="adj" fmla="val 125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e17f35">
                <a:lumMod val="60000"/>
                <a:lumOff val="40000"/>
              </a:srgbClr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  <a:ea typeface="MS PGothic"/>
              </a:rPr>
              <a:t>&lt;token&gt; ::= &lt;identifier&gt; | &lt;num lit&gt; | &lt;op&gt;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&lt;num lit&gt;       ::= &lt;nonzero digit&gt; &lt;digit&gt;*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&lt;digit&gt;         ::=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0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&lt;nonzero digit&gt;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&lt;nonzero digit&gt; ::=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1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2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3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4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5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6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7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8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9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&lt;identifier&gt; ::= &lt;identifier start&gt; &lt;identifier part&gt;*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start&gt; ::=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a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..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z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$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_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&lt;identifier part&gt;  ::= &lt;identifier start&gt; | &lt;digit&gt;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&lt;op&gt; ::=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+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==</a:t>
            </a:r>
            <a:r>
              <a:rPr b="0" lang="en-US" sz="1600" spc="-1" strike="noStrike">
                <a:solidFill>
                  <a:srgbClr val="ffffff"/>
                </a:solidFill>
                <a:latin typeface="Consolas"/>
                <a:ea typeface="MS PGothic"/>
              </a:rPr>
              <a:t> | </a:t>
            </a:r>
            <a:r>
              <a:rPr b="0" lang="en-US" sz="1600" spc="-1" strike="noStrike">
                <a:solidFill>
                  <a:schemeClr val="accent3"/>
                </a:solidFill>
                <a:latin typeface="Consolas"/>
                <a:ea typeface="MS PGothic"/>
              </a:rPr>
              <a:t>*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Freeform 15"/>
          <p:cNvSpPr/>
          <p:nvPr/>
        </p:nvSpPr>
        <p:spPr>
          <a:xfrm>
            <a:off x="2211480" y="1619280"/>
            <a:ext cx="2916360" cy="1861920"/>
          </a:xfrm>
          <a:custGeom>
            <a:avLst/>
            <a:gdLst>
              <a:gd name="textAreaLeft" fmla="*/ 0 w 2916360"/>
              <a:gd name="textAreaRight" fmla="*/ 2916720 w 2916360"/>
              <a:gd name="textAreaTop" fmla="*/ 0 h 1861920"/>
              <a:gd name="textAreaBottom" fmla="*/ 1862280 h 1861920"/>
            </a:gdLst>
            <a:ahLst/>
            <a:rect l="textAreaLeft" t="textAreaTop" r="textAreaRight" b="textAreaBottom"/>
            <a:pathLst>
              <a:path w="1920" h="1200">
                <a:moveTo>
                  <a:pt x="0" y="0"/>
                </a:moveTo>
                <a:cubicBezTo>
                  <a:pt x="560" y="20"/>
                  <a:pt x="1120" y="40"/>
                  <a:pt x="1440" y="240"/>
                </a:cubicBezTo>
                <a:cubicBezTo>
                  <a:pt x="1760" y="440"/>
                  <a:pt x="1840" y="1040"/>
                  <a:pt x="1920" y="120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425720" y="524520"/>
            <a:ext cx="119232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accent1"/>
                </a:solidFill>
                <a:latin typeface="Arial"/>
                <a:ea typeface="MS PGothic"/>
              </a:rPr>
              <a:t>DFA</a:t>
            </a:r>
            <a:endParaRPr b="0" lang="en-US" sz="32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7" name="Oval 3"/>
          <p:cNvSpPr/>
          <p:nvPr/>
        </p:nvSpPr>
        <p:spPr>
          <a:xfrm>
            <a:off x="1516320" y="1390680"/>
            <a:ext cx="761760" cy="761760"/>
          </a:xfrm>
          <a:prstGeom prst="ellipse">
            <a:avLst/>
          </a:prstGeom>
          <a:solidFill>
            <a:schemeClr val="accent1"/>
          </a:solidFill>
          <a:ln cap="rnd" w="9525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Start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8" name="Oval 4"/>
          <p:cNvSpPr/>
          <p:nvPr/>
        </p:nvSpPr>
        <p:spPr>
          <a:xfrm>
            <a:off x="3269160" y="360036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Double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Equal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9" name="Oval 5"/>
          <p:cNvSpPr/>
          <p:nvPr/>
        </p:nvSpPr>
        <p:spPr>
          <a:xfrm>
            <a:off x="906840" y="306720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Digits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0" name="Oval 6"/>
          <p:cNvSpPr/>
          <p:nvPr/>
        </p:nvSpPr>
        <p:spPr>
          <a:xfrm>
            <a:off x="2049840" y="367668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Zero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1" name="Oval 7"/>
          <p:cNvSpPr/>
          <p:nvPr/>
        </p:nvSpPr>
        <p:spPr>
          <a:xfrm>
            <a:off x="4829760" y="349596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*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2" name="Oval 8"/>
          <p:cNvSpPr/>
          <p:nvPr/>
        </p:nvSpPr>
        <p:spPr>
          <a:xfrm>
            <a:off x="5793120" y="272448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+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3" name="Oval 9"/>
          <p:cNvSpPr/>
          <p:nvPr/>
        </p:nvSpPr>
        <p:spPr>
          <a:xfrm>
            <a:off x="6393240" y="161928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Ident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4" name="Oval 10"/>
          <p:cNvSpPr/>
          <p:nvPr/>
        </p:nvSpPr>
        <p:spPr>
          <a:xfrm>
            <a:off x="2811960" y="2305080"/>
            <a:ext cx="761760" cy="761760"/>
          </a:xfrm>
          <a:prstGeom prst="ellipse">
            <a:avLst/>
          </a:prstGeom>
          <a:solidFill>
            <a:schemeClr val="accent1"/>
          </a:solidFill>
          <a:ln cap="rnd" w="9525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Equal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5" name="Line 11"/>
          <p:cNvSpPr/>
          <p:nvPr/>
        </p:nvSpPr>
        <p:spPr>
          <a:xfrm flipH="1">
            <a:off x="1363680" y="2152440"/>
            <a:ext cx="381240" cy="914400"/>
          </a:xfrm>
          <a:prstGeom prst="line">
            <a:avLst/>
          </a:prstGeom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Line 12"/>
          <p:cNvSpPr/>
          <p:nvPr/>
        </p:nvSpPr>
        <p:spPr>
          <a:xfrm>
            <a:off x="2049480" y="2152440"/>
            <a:ext cx="307080" cy="1523880"/>
          </a:xfrm>
          <a:prstGeom prst="line">
            <a:avLst/>
          </a:prstGeom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Line 13"/>
          <p:cNvSpPr/>
          <p:nvPr/>
        </p:nvSpPr>
        <p:spPr>
          <a:xfrm>
            <a:off x="2278080" y="1923840"/>
            <a:ext cx="609840" cy="533520"/>
          </a:xfrm>
          <a:prstGeom prst="line">
            <a:avLst/>
          </a:prstGeom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Line 14"/>
          <p:cNvSpPr/>
          <p:nvPr/>
        </p:nvSpPr>
        <p:spPr>
          <a:xfrm>
            <a:off x="3345120" y="3066840"/>
            <a:ext cx="152280" cy="533520"/>
          </a:xfrm>
          <a:prstGeom prst="line">
            <a:avLst/>
          </a:prstGeom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Freeform 16"/>
          <p:cNvSpPr/>
          <p:nvPr/>
        </p:nvSpPr>
        <p:spPr>
          <a:xfrm>
            <a:off x="525960" y="3828960"/>
            <a:ext cx="1193400" cy="1002960"/>
          </a:xfrm>
          <a:custGeom>
            <a:avLst/>
            <a:gdLst>
              <a:gd name="textAreaLeft" fmla="*/ 0 w 1193400"/>
              <a:gd name="textAreaRight" fmla="*/ 1193760 w 1193400"/>
              <a:gd name="textAreaTop" fmla="*/ 0 h 1002960"/>
              <a:gd name="textAreaBottom" fmla="*/ 1003320 h 1002960"/>
            </a:gdLst>
            <a:ahLst/>
            <a:rect l="textAreaLeft" t="textAreaTop" r="textAreaRight" b="textAreaBottom"/>
            <a:pathLst>
              <a:path w="752" h="632">
                <a:moveTo>
                  <a:pt x="384" y="0"/>
                </a:moveTo>
                <a:cubicBezTo>
                  <a:pt x="192" y="120"/>
                  <a:pt x="0" y="240"/>
                  <a:pt x="48" y="336"/>
                </a:cubicBezTo>
                <a:cubicBezTo>
                  <a:pt x="96" y="432"/>
                  <a:pt x="592" y="632"/>
                  <a:pt x="672" y="576"/>
                </a:cubicBezTo>
                <a:cubicBezTo>
                  <a:pt x="752" y="520"/>
                  <a:pt x="552" y="96"/>
                  <a:pt x="528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Freeform 17"/>
          <p:cNvSpPr/>
          <p:nvPr/>
        </p:nvSpPr>
        <p:spPr>
          <a:xfrm>
            <a:off x="2211480" y="1492200"/>
            <a:ext cx="3733560" cy="1269720"/>
          </a:xfrm>
          <a:custGeom>
            <a:avLst/>
            <a:gdLst>
              <a:gd name="textAreaLeft" fmla="*/ 0 w 3733560"/>
              <a:gd name="textAreaRight" fmla="*/ 3733920 w 3733560"/>
              <a:gd name="textAreaTop" fmla="*/ 0 h 1269720"/>
              <a:gd name="textAreaBottom" fmla="*/ 1270080 h 1269720"/>
            </a:gdLst>
            <a:ahLst/>
            <a:rect l="textAreaLeft" t="textAreaTop" r="textAreaRight" b="textAreaBottom"/>
            <a:pathLst>
              <a:path w="2352" h="800">
                <a:moveTo>
                  <a:pt x="0" y="32"/>
                </a:moveTo>
                <a:cubicBezTo>
                  <a:pt x="572" y="16"/>
                  <a:pt x="1144" y="0"/>
                  <a:pt x="1536" y="128"/>
                </a:cubicBezTo>
                <a:cubicBezTo>
                  <a:pt x="1928" y="256"/>
                  <a:pt x="2140" y="528"/>
                  <a:pt x="2352" y="80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Freeform 18"/>
          <p:cNvSpPr/>
          <p:nvPr/>
        </p:nvSpPr>
        <p:spPr>
          <a:xfrm>
            <a:off x="2126160" y="1047600"/>
            <a:ext cx="4343040" cy="647280"/>
          </a:xfrm>
          <a:custGeom>
            <a:avLst/>
            <a:gdLst>
              <a:gd name="textAreaLeft" fmla="*/ 0 w 4343040"/>
              <a:gd name="textAreaRight" fmla="*/ 4343400 w 4343040"/>
              <a:gd name="textAreaTop" fmla="*/ 0 h 647280"/>
              <a:gd name="textAreaBottom" fmla="*/ 647640 h 647280"/>
            </a:gdLst>
            <a:ahLst/>
            <a:rect l="textAreaLeft" t="textAreaTop" r="textAreaRight" b="textAreaBottom"/>
            <a:pathLst>
              <a:path w="2736" h="408">
                <a:moveTo>
                  <a:pt x="0" y="264"/>
                </a:moveTo>
                <a:cubicBezTo>
                  <a:pt x="588" y="132"/>
                  <a:pt x="1176" y="0"/>
                  <a:pt x="1632" y="24"/>
                </a:cubicBezTo>
                <a:cubicBezTo>
                  <a:pt x="2088" y="48"/>
                  <a:pt x="2552" y="344"/>
                  <a:pt x="2736" y="40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Freeform 19"/>
          <p:cNvSpPr/>
          <p:nvPr/>
        </p:nvSpPr>
        <p:spPr>
          <a:xfrm>
            <a:off x="7002720" y="1682640"/>
            <a:ext cx="1028520" cy="1015560"/>
          </a:xfrm>
          <a:custGeom>
            <a:avLst/>
            <a:gdLst>
              <a:gd name="textAreaLeft" fmla="*/ 0 w 1028520"/>
              <a:gd name="textAreaRight" fmla="*/ 1028880 w 1028520"/>
              <a:gd name="textAreaTop" fmla="*/ 0 h 1015560"/>
              <a:gd name="textAreaBottom" fmla="*/ 1015920 h 1015560"/>
            </a:gdLst>
            <a:ahLst/>
            <a:rect l="textAreaLeft" t="textAreaTop" r="textAreaRight" b="textAreaBottom"/>
            <a:pathLst>
              <a:path w="648" h="640">
                <a:moveTo>
                  <a:pt x="96" y="248"/>
                </a:moveTo>
                <a:cubicBezTo>
                  <a:pt x="224" y="124"/>
                  <a:pt x="352" y="0"/>
                  <a:pt x="432" y="56"/>
                </a:cubicBezTo>
                <a:cubicBezTo>
                  <a:pt x="512" y="112"/>
                  <a:pt x="648" y="528"/>
                  <a:pt x="576" y="584"/>
                </a:cubicBezTo>
                <a:cubicBezTo>
                  <a:pt x="504" y="640"/>
                  <a:pt x="96" y="424"/>
                  <a:pt x="0" y="392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Box 20"/>
          <p:cNvSpPr/>
          <p:nvPr/>
        </p:nvSpPr>
        <p:spPr>
          <a:xfrm>
            <a:off x="3756600" y="704880"/>
            <a:ext cx="135468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a..z,A..Z,$,_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4" name="Text Box 21"/>
          <p:cNvSpPr/>
          <p:nvPr/>
        </p:nvSpPr>
        <p:spPr>
          <a:xfrm>
            <a:off x="7245720" y="2646360"/>
            <a:ext cx="17996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a..z,A..Z,$,_,0..9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5" name="Text Box 22"/>
          <p:cNvSpPr/>
          <p:nvPr/>
        </p:nvSpPr>
        <p:spPr>
          <a:xfrm>
            <a:off x="4566960" y="1314360"/>
            <a:ext cx="31212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+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6" name="Text Box 23"/>
          <p:cNvSpPr/>
          <p:nvPr/>
        </p:nvSpPr>
        <p:spPr>
          <a:xfrm>
            <a:off x="4775760" y="2235960"/>
            <a:ext cx="30600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*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7" name="Text Box 24"/>
          <p:cNvSpPr/>
          <p:nvPr/>
        </p:nvSpPr>
        <p:spPr>
          <a:xfrm>
            <a:off x="2433240" y="1771560"/>
            <a:ext cx="31212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=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8" name="Text Box 26"/>
          <p:cNvSpPr/>
          <p:nvPr/>
        </p:nvSpPr>
        <p:spPr>
          <a:xfrm>
            <a:off x="2186280" y="2494080"/>
            <a:ext cx="31068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9" name="Text Box 28"/>
          <p:cNvSpPr/>
          <p:nvPr/>
        </p:nvSpPr>
        <p:spPr>
          <a:xfrm>
            <a:off x="814680" y="4703760"/>
            <a:ext cx="5648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0..9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0" name="Line 14"/>
          <p:cNvSpPr/>
          <p:nvPr/>
        </p:nvSpPr>
        <p:spPr>
          <a:xfrm flipV="1">
            <a:off x="2004480" y="1047600"/>
            <a:ext cx="238680" cy="351000"/>
          </a:xfrm>
          <a:prstGeom prst="line">
            <a:avLst/>
          </a:prstGeom>
          <a:ln w="19050">
            <a:solidFill>
              <a:srgbClr val="ff40ff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Oval 31"/>
          <p:cNvSpPr/>
          <p:nvPr/>
        </p:nvSpPr>
        <p:spPr>
          <a:xfrm>
            <a:off x="2008080" y="307800"/>
            <a:ext cx="761760" cy="761760"/>
          </a:xfrm>
          <a:prstGeom prst="ellipse">
            <a:avLst/>
          </a:prstGeom>
          <a:solidFill>
            <a:srgbClr val="ff40ff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Error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2" name="Line 14"/>
          <p:cNvSpPr/>
          <p:nvPr/>
        </p:nvSpPr>
        <p:spPr>
          <a:xfrm>
            <a:off x="3519000" y="2869920"/>
            <a:ext cx="946080" cy="1387800"/>
          </a:xfrm>
          <a:prstGeom prst="line">
            <a:avLst/>
          </a:prstGeom>
          <a:ln w="19050">
            <a:solidFill>
              <a:srgbClr val="ff40ff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Box 34"/>
          <p:cNvSpPr/>
          <p:nvPr/>
        </p:nvSpPr>
        <p:spPr>
          <a:xfrm>
            <a:off x="3871080" y="3138480"/>
            <a:ext cx="901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40ff"/>
                </a:solidFill>
                <a:latin typeface="Rockwell"/>
                <a:ea typeface="MS PGothic"/>
              </a:rPr>
              <a:t>Not(=)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4" name="Text Box 25"/>
          <p:cNvSpPr/>
          <p:nvPr/>
        </p:nvSpPr>
        <p:spPr>
          <a:xfrm>
            <a:off x="3097080" y="3130920"/>
            <a:ext cx="31212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=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5" name="Oval 31"/>
          <p:cNvSpPr/>
          <p:nvPr/>
        </p:nvSpPr>
        <p:spPr>
          <a:xfrm>
            <a:off x="4238280" y="4253760"/>
            <a:ext cx="761760" cy="761760"/>
          </a:xfrm>
          <a:prstGeom prst="ellipse">
            <a:avLst/>
          </a:prstGeom>
          <a:solidFill>
            <a:srgbClr val="ff40ff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Error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6" name="TextBox 37"/>
          <p:cNvSpPr/>
          <p:nvPr/>
        </p:nvSpPr>
        <p:spPr>
          <a:xfrm>
            <a:off x="217080" y="761760"/>
            <a:ext cx="1873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40ff"/>
                </a:solidFill>
                <a:latin typeface="Rockwell"/>
                <a:ea typeface="MS PGothic"/>
              </a:rPr>
              <a:t>Not(a..z,A..Z,$,_,0..9, +,*,=)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7" name="Text Box 27"/>
          <p:cNvSpPr/>
          <p:nvPr/>
        </p:nvSpPr>
        <p:spPr>
          <a:xfrm>
            <a:off x="906840" y="2492640"/>
            <a:ext cx="5648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1..9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Whitespace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In many languages, </a:t>
            </a:r>
            <a:r>
              <a:rPr b="0" i="1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whitespace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 characters (space, CR, LF, tab, etc.) serve to </a:t>
            </a:r>
            <a:r>
              <a:rPr b="0" i="1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separate tokens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, but are otherwise ignored.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Example:  </a:t>
            </a:r>
            <a:r>
              <a:rPr b="0" lang="en-US" sz="2000" spc="-1" strike="noStrike">
                <a:solidFill>
                  <a:schemeClr val="accent3"/>
                </a:solidFill>
                <a:latin typeface="Consolas"/>
                <a:ea typeface="MS PGothic"/>
              </a:rPr>
              <a:t>12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 </a:t>
            </a:r>
            <a:r>
              <a:rPr b="0" lang="en-US" sz="2000" spc="-1" strike="noStrike">
                <a:solidFill>
                  <a:srgbClr val="1f4aff"/>
                </a:solidFill>
                <a:latin typeface="Consolas"/>
                <a:ea typeface="MS PGothic"/>
              </a:rPr>
              <a:t>34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The </a:t>
            </a:r>
            <a:r>
              <a:rPr b="0" i="1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lexer</a:t>
            </a: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 returns </a:t>
            </a:r>
            <a:r>
              <a:rPr b="0" i="1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2 tokens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3"/>
                </a:solidFill>
                <a:latin typeface="Consolas"/>
                <a:ea typeface="MS PGothic"/>
              </a:rPr>
              <a:t>12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1f4aff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rgbClr val="1f4aff"/>
                </a:solidFill>
                <a:latin typeface="Consolas"/>
                <a:ea typeface="MS PGothic"/>
              </a:rPr>
              <a:t>34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The space provides </a:t>
            </a:r>
            <a:r>
              <a:rPr b="0" lang="en-US" sz="1800" spc="-1" strike="noStrike" u="sng">
                <a:solidFill>
                  <a:srgbClr val="000000"/>
                </a:solidFill>
                <a:uFillTx/>
                <a:latin typeface="Cambria"/>
                <a:ea typeface="MS PGothic"/>
              </a:rPr>
              <a:t>token separation</a:t>
            </a:r>
            <a:r>
              <a:rPr b="0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 and then is </a:t>
            </a:r>
            <a:r>
              <a:rPr b="0" i="1" lang="en-US" sz="1800" spc="-1" strike="noStrike">
                <a:solidFill>
                  <a:srgbClr val="000000"/>
                </a:solidFill>
                <a:latin typeface="Cambria"/>
                <a:ea typeface="MS PGothic"/>
              </a:rPr>
              <a:t>ignored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20" name="Rectangle 4"/>
          <p:cNvSpPr/>
          <p:nvPr/>
        </p:nvSpPr>
        <p:spPr>
          <a:xfrm>
            <a:off x="2036160" y="2130480"/>
            <a:ext cx="145800" cy="292320"/>
          </a:xfrm>
          <a:prstGeom prst="rect">
            <a:avLst/>
          </a:prstGeom>
          <a:noFill/>
          <a:ln w="19050">
            <a:solidFill>
              <a:srgbClr val="000000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Scanning Whitespace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Skip over whitespace characters before the beginning token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Stop building a token when any character (including whitespace) cannot further extend the current token.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May need to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look ahead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 To see if the next character is from a set of delimiters.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&lt;whitespace&gt; :== ‘ ’ | \t | \n | \r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Freeform 15"/>
          <p:cNvSpPr/>
          <p:nvPr/>
        </p:nvSpPr>
        <p:spPr>
          <a:xfrm>
            <a:off x="2211480" y="1619280"/>
            <a:ext cx="2916360" cy="1861920"/>
          </a:xfrm>
          <a:custGeom>
            <a:avLst/>
            <a:gdLst>
              <a:gd name="textAreaLeft" fmla="*/ 0 w 2916360"/>
              <a:gd name="textAreaRight" fmla="*/ 2916720 w 2916360"/>
              <a:gd name="textAreaTop" fmla="*/ 0 h 1861920"/>
              <a:gd name="textAreaBottom" fmla="*/ 1862280 h 1861920"/>
            </a:gdLst>
            <a:ahLst/>
            <a:rect l="textAreaLeft" t="textAreaTop" r="textAreaRight" b="textAreaBottom"/>
            <a:pathLst>
              <a:path w="1920" h="1200">
                <a:moveTo>
                  <a:pt x="0" y="0"/>
                </a:moveTo>
                <a:cubicBezTo>
                  <a:pt x="560" y="20"/>
                  <a:pt x="1120" y="40"/>
                  <a:pt x="1440" y="240"/>
                </a:cubicBezTo>
                <a:cubicBezTo>
                  <a:pt x="1760" y="440"/>
                  <a:pt x="1840" y="1040"/>
                  <a:pt x="1920" y="120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7425720" y="524520"/>
            <a:ext cx="119232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accent1"/>
                </a:solidFill>
                <a:latin typeface="Arial"/>
                <a:ea typeface="MS PGothic"/>
              </a:rPr>
              <a:t>DFA</a:t>
            </a:r>
            <a:endParaRPr b="0" lang="en-US" sz="32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25" name="Oval 3"/>
          <p:cNvSpPr/>
          <p:nvPr/>
        </p:nvSpPr>
        <p:spPr>
          <a:xfrm>
            <a:off x="1516320" y="1390680"/>
            <a:ext cx="761760" cy="761760"/>
          </a:xfrm>
          <a:prstGeom prst="ellipse">
            <a:avLst/>
          </a:prstGeom>
          <a:gradFill rotWithShape="0">
            <a:gsLst>
              <a:gs pos="50000">
                <a:srgbClr val="00529b"/>
              </a:gs>
              <a:gs pos="100000">
                <a:srgbClr val="e17f35"/>
              </a:gs>
            </a:gsLst>
            <a:lin ang="10800000"/>
          </a:gradFill>
          <a:ln cap="rnd" w="9525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Start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6" name="Oval 4"/>
          <p:cNvSpPr/>
          <p:nvPr/>
        </p:nvSpPr>
        <p:spPr>
          <a:xfrm>
            <a:off x="3269160" y="360036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Double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Equal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7" name="Oval 5"/>
          <p:cNvSpPr/>
          <p:nvPr/>
        </p:nvSpPr>
        <p:spPr>
          <a:xfrm>
            <a:off x="906840" y="306720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Digits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8" name="Oval 6"/>
          <p:cNvSpPr/>
          <p:nvPr/>
        </p:nvSpPr>
        <p:spPr>
          <a:xfrm>
            <a:off x="2049840" y="367668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Zero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9" name="Oval 7"/>
          <p:cNvSpPr/>
          <p:nvPr/>
        </p:nvSpPr>
        <p:spPr>
          <a:xfrm>
            <a:off x="4829760" y="349596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*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0" name="Oval 8"/>
          <p:cNvSpPr/>
          <p:nvPr/>
        </p:nvSpPr>
        <p:spPr>
          <a:xfrm>
            <a:off x="5793120" y="272448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+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1" name="Oval 9"/>
          <p:cNvSpPr/>
          <p:nvPr/>
        </p:nvSpPr>
        <p:spPr>
          <a:xfrm>
            <a:off x="6393240" y="1619280"/>
            <a:ext cx="761760" cy="76176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Ident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2" name="Oval 10"/>
          <p:cNvSpPr/>
          <p:nvPr/>
        </p:nvSpPr>
        <p:spPr>
          <a:xfrm>
            <a:off x="2811960" y="2305080"/>
            <a:ext cx="761760" cy="761760"/>
          </a:xfrm>
          <a:prstGeom prst="ellipse">
            <a:avLst/>
          </a:prstGeom>
          <a:solidFill>
            <a:schemeClr val="accent1"/>
          </a:solidFill>
          <a:ln cap="rnd" w="9525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Equal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3" name="Line 11"/>
          <p:cNvSpPr/>
          <p:nvPr/>
        </p:nvSpPr>
        <p:spPr>
          <a:xfrm flipH="1">
            <a:off x="1363680" y="2152440"/>
            <a:ext cx="381240" cy="914400"/>
          </a:xfrm>
          <a:prstGeom prst="line">
            <a:avLst/>
          </a:prstGeom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Line 12"/>
          <p:cNvSpPr/>
          <p:nvPr/>
        </p:nvSpPr>
        <p:spPr>
          <a:xfrm>
            <a:off x="2049480" y="2152440"/>
            <a:ext cx="307080" cy="1523880"/>
          </a:xfrm>
          <a:prstGeom prst="line">
            <a:avLst/>
          </a:prstGeom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Line 13"/>
          <p:cNvSpPr/>
          <p:nvPr/>
        </p:nvSpPr>
        <p:spPr>
          <a:xfrm>
            <a:off x="2278080" y="1923840"/>
            <a:ext cx="609840" cy="533520"/>
          </a:xfrm>
          <a:prstGeom prst="line">
            <a:avLst/>
          </a:prstGeom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Line 14"/>
          <p:cNvSpPr/>
          <p:nvPr/>
        </p:nvSpPr>
        <p:spPr>
          <a:xfrm>
            <a:off x="3345120" y="3066840"/>
            <a:ext cx="152280" cy="533520"/>
          </a:xfrm>
          <a:prstGeom prst="line">
            <a:avLst/>
          </a:prstGeom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Freeform 16"/>
          <p:cNvSpPr/>
          <p:nvPr/>
        </p:nvSpPr>
        <p:spPr>
          <a:xfrm>
            <a:off x="525960" y="3828960"/>
            <a:ext cx="1193400" cy="1002960"/>
          </a:xfrm>
          <a:custGeom>
            <a:avLst/>
            <a:gdLst>
              <a:gd name="textAreaLeft" fmla="*/ 0 w 1193400"/>
              <a:gd name="textAreaRight" fmla="*/ 1193760 w 1193400"/>
              <a:gd name="textAreaTop" fmla="*/ 0 h 1002960"/>
              <a:gd name="textAreaBottom" fmla="*/ 1003320 h 1002960"/>
            </a:gdLst>
            <a:ahLst/>
            <a:rect l="textAreaLeft" t="textAreaTop" r="textAreaRight" b="textAreaBottom"/>
            <a:pathLst>
              <a:path w="752" h="632">
                <a:moveTo>
                  <a:pt x="384" y="0"/>
                </a:moveTo>
                <a:cubicBezTo>
                  <a:pt x="192" y="120"/>
                  <a:pt x="0" y="240"/>
                  <a:pt x="48" y="336"/>
                </a:cubicBezTo>
                <a:cubicBezTo>
                  <a:pt x="96" y="432"/>
                  <a:pt x="592" y="632"/>
                  <a:pt x="672" y="576"/>
                </a:cubicBezTo>
                <a:cubicBezTo>
                  <a:pt x="752" y="520"/>
                  <a:pt x="552" y="96"/>
                  <a:pt x="528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Freeform 17"/>
          <p:cNvSpPr/>
          <p:nvPr/>
        </p:nvSpPr>
        <p:spPr>
          <a:xfrm>
            <a:off x="2211480" y="1492200"/>
            <a:ext cx="3733560" cy="1269720"/>
          </a:xfrm>
          <a:custGeom>
            <a:avLst/>
            <a:gdLst>
              <a:gd name="textAreaLeft" fmla="*/ 0 w 3733560"/>
              <a:gd name="textAreaRight" fmla="*/ 3733920 w 3733560"/>
              <a:gd name="textAreaTop" fmla="*/ 0 h 1269720"/>
              <a:gd name="textAreaBottom" fmla="*/ 1270080 h 1269720"/>
            </a:gdLst>
            <a:ahLst/>
            <a:rect l="textAreaLeft" t="textAreaTop" r="textAreaRight" b="textAreaBottom"/>
            <a:pathLst>
              <a:path w="2352" h="800">
                <a:moveTo>
                  <a:pt x="0" y="32"/>
                </a:moveTo>
                <a:cubicBezTo>
                  <a:pt x="572" y="16"/>
                  <a:pt x="1144" y="0"/>
                  <a:pt x="1536" y="128"/>
                </a:cubicBezTo>
                <a:cubicBezTo>
                  <a:pt x="1928" y="256"/>
                  <a:pt x="2140" y="528"/>
                  <a:pt x="2352" y="80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Freeform 18"/>
          <p:cNvSpPr/>
          <p:nvPr/>
        </p:nvSpPr>
        <p:spPr>
          <a:xfrm>
            <a:off x="2126160" y="1047600"/>
            <a:ext cx="4343040" cy="647280"/>
          </a:xfrm>
          <a:custGeom>
            <a:avLst/>
            <a:gdLst>
              <a:gd name="textAreaLeft" fmla="*/ 0 w 4343040"/>
              <a:gd name="textAreaRight" fmla="*/ 4343400 w 4343040"/>
              <a:gd name="textAreaTop" fmla="*/ 0 h 647280"/>
              <a:gd name="textAreaBottom" fmla="*/ 647640 h 647280"/>
            </a:gdLst>
            <a:ahLst/>
            <a:rect l="textAreaLeft" t="textAreaTop" r="textAreaRight" b="textAreaBottom"/>
            <a:pathLst>
              <a:path w="2736" h="408">
                <a:moveTo>
                  <a:pt x="0" y="264"/>
                </a:moveTo>
                <a:cubicBezTo>
                  <a:pt x="588" y="132"/>
                  <a:pt x="1176" y="0"/>
                  <a:pt x="1632" y="24"/>
                </a:cubicBezTo>
                <a:cubicBezTo>
                  <a:pt x="2088" y="48"/>
                  <a:pt x="2552" y="344"/>
                  <a:pt x="2736" y="40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Freeform 19"/>
          <p:cNvSpPr/>
          <p:nvPr/>
        </p:nvSpPr>
        <p:spPr>
          <a:xfrm>
            <a:off x="7002720" y="1682640"/>
            <a:ext cx="1028520" cy="1015560"/>
          </a:xfrm>
          <a:custGeom>
            <a:avLst/>
            <a:gdLst>
              <a:gd name="textAreaLeft" fmla="*/ 0 w 1028520"/>
              <a:gd name="textAreaRight" fmla="*/ 1028880 w 1028520"/>
              <a:gd name="textAreaTop" fmla="*/ 0 h 1015560"/>
              <a:gd name="textAreaBottom" fmla="*/ 1015920 h 1015560"/>
            </a:gdLst>
            <a:ahLst/>
            <a:rect l="textAreaLeft" t="textAreaTop" r="textAreaRight" b="textAreaBottom"/>
            <a:pathLst>
              <a:path w="648" h="640">
                <a:moveTo>
                  <a:pt x="96" y="248"/>
                </a:moveTo>
                <a:cubicBezTo>
                  <a:pt x="224" y="124"/>
                  <a:pt x="352" y="0"/>
                  <a:pt x="432" y="56"/>
                </a:cubicBezTo>
                <a:cubicBezTo>
                  <a:pt x="512" y="112"/>
                  <a:pt x="648" y="528"/>
                  <a:pt x="576" y="584"/>
                </a:cubicBezTo>
                <a:cubicBezTo>
                  <a:pt x="504" y="640"/>
                  <a:pt x="96" y="424"/>
                  <a:pt x="0" y="392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Box 20"/>
          <p:cNvSpPr/>
          <p:nvPr/>
        </p:nvSpPr>
        <p:spPr>
          <a:xfrm>
            <a:off x="3756600" y="704880"/>
            <a:ext cx="135468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a..z,A..Z,$,_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2" name="Text Box 21"/>
          <p:cNvSpPr/>
          <p:nvPr/>
        </p:nvSpPr>
        <p:spPr>
          <a:xfrm>
            <a:off x="7245720" y="2646360"/>
            <a:ext cx="17996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a..z,A..Z,$,_,0..9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3" name="Text Box 22"/>
          <p:cNvSpPr/>
          <p:nvPr/>
        </p:nvSpPr>
        <p:spPr>
          <a:xfrm>
            <a:off x="4566960" y="1314360"/>
            <a:ext cx="31212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+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4" name="Text Box 23"/>
          <p:cNvSpPr/>
          <p:nvPr/>
        </p:nvSpPr>
        <p:spPr>
          <a:xfrm>
            <a:off x="4775760" y="2235960"/>
            <a:ext cx="30600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*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5" name="Text Box 24"/>
          <p:cNvSpPr/>
          <p:nvPr/>
        </p:nvSpPr>
        <p:spPr>
          <a:xfrm>
            <a:off x="2433240" y="1771560"/>
            <a:ext cx="31212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=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6" name="Text Box 26"/>
          <p:cNvSpPr/>
          <p:nvPr/>
        </p:nvSpPr>
        <p:spPr>
          <a:xfrm>
            <a:off x="2186280" y="2494080"/>
            <a:ext cx="31068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7" name="Text Box 28"/>
          <p:cNvSpPr/>
          <p:nvPr/>
        </p:nvSpPr>
        <p:spPr>
          <a:xfrm>
            <a:off x="814680" y="4703760"/>
            <a:ext cx="5648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0..9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8" name="Line 14"/>
          <p:cNvSpPr/>
          <p:nvPr/>
        </p:nvSpPr>
        <p:spPr>
          <a:xfrm flipV="1">
            <a:off x="2004480" y="1047600"/>
            <a:ext cx="238680" cy="351000"/>
          </a:xfrm>
          <a:prstGeom prst="line">
            <a:avLst/>
          </a:prstGeom>
          <a:ln w="19050">
            <a:solidFill>
              <a:srgbClr val="ff40ff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Oval 31"/>
          <p:cNvSpPr/>
          <p:nvPr/>
        </p:nvSpPr>
        <p:spPr>
          <a:xfrm>
            <a:off x="2008080" y="307800"/>
            <a:ext cx="761760" cy="761760"/>
          </a:xfrm>
          <a:prstGeom prst="ellipse">
            <a:avLst/>
          </a:prstGeom>
          <a:solidFill>
            <a:srgbClr val="ff40ff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Error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0" name="Line 14"/>
          <p:cNvSpPr/>
          <p:nvPr/>
        </p:nvSpPr>
        <p:spPr>
          <a:xfrm>
            <a:off x="3519000" y="2869920"/>
            <a:ext cx="946080" cy="1387800"/>
          </a:xfrm>
          <a:prstGeom prst="line">
            <a:avLst/>
          </a:prstGeom>
          <a:ln w="19050">
            <a:solidFill>
              <a:srgbClr val="ff40ff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Box 34"/>
          <p:cNvSpPr/>
          <p:nvPr/>
        </p:nvSpPr>
        <p:spPr>
          <a:xfrm>
            <a:off x="3871080" y="3138480"/>
            <a:ext cx="901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40ff"/>
                </a:solidFill>
                <a:latin typeface="Rockwell"/>
                <a:ea typeface="MS PGothic"/>
              </a:rPr>
              <a:t>Not(=)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2" name="Text Box 25"/>
          <p:cNvSpPr/>
          <p:nvPr/>
        </p:nvSpPr>
        <p:spPr>
          <a:xfrm>
            <a:off x="3097080" y="3130920"/>
            <a:ext cx="31212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=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3" name="Oval 31"/>
          <p:cNvSpPr/>
          <p:nvPr/>
        </p:nvSpPr>
        <p:spPr>
          <a:xfrm>
            <a:off x="4238280" y="4253760"/>
            <a:ext cx="761760" cy="761760"/>
          </a:xfrm>
          <a:prstGeom prst="ellipse">
            <a:avLst/>
          </a:prstGeom>
          <a:solidFill>
            <a:srgbClr val="ff40ff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Error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4" name="TextBox 37"/>
          <p:cNvSpPr/>
          <p:nvPr/>
        </p:nvSpPr>
        <p:spPr>
          <a:xfrm>
            <a:off x="217080" y="761760"/>
            <a:ext cx="1873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40ff"/>
                </a:solidFill>
                <a:latin typeface="Rockwell"/>
                <a:ea typeface="MS PGothic"/>
              </a:rPr>
              <a:t>Not(a..z,A..Z,$,_,0..9, +,*,=)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5" name="Text Box 27"/>
          <p:cNvSpPr/>
          <p:nvPr/>
        </p:nvSpPr>
        <p:spPr>
          <a:xfrm>
            <a:off x="906840" y="2492640"/>
            <a:ext cx="564840" cy="36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Rockwell"/>
                <a:ea typeface="MS PGothic"/>
              </a:rPr>
              <a:t>1..9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Freeform 17"/>
          <p:cNvSpPr/>
          <p:nvPr/>
        </p:nvSpPr>
        <p:spPr>
          <a:xfrm rot="4072800">
            <a:off x="472680" y="1439640"/>
            <a:ext cx="1036440" cy="1062360"/>
          </a:xfrm>
          <a:custGeom>
            <a:avLst/>
            <a:gdLst>
              <a:gd name="textAreaLeft" fmla="*/ 0 w 1036440"/>
              <a:gd name="textAreaRight" fmla="*/ 1036800 w 1036440"/>
              <a:gd name="textAreaTop" fmla="*/ 0 h 1062360"/>
              <a:gd name="textAreaBottom" fmla="*/ 1062720 h 1062360"/>
            </a:gdLst>
            <a:ahLst/>
            <a:rect l="textAreaLeft" t="textAreaTop" r="textAreaRight" b="textAreaBottom"/>
            <a:pathLst>
              <a:path w="752" h="632">
                <a:moveTo>
                  <a:pt x="384" y="0"/>
                </a:moveTo>
                <a:cubicBezTo>
                  <a:pt x="192" y="120"/>
                  <a:pt x="0" y="240"/>
                  <a:pt x="48" y="336"/>
                </a:cubicBezTo>
                <a:cubicBezTo>
                  <a:pt x="96" y="432"/>
                  <a:pt x="592" y="632"/>
                  <a:pt x="672" y="576"/>
                </a:cubicBezTo>
                <a:cubicBezTo>
                  <a:pt x="752" y="520"/>
                  <a:pt x="552" y="96"/>
                  <a:pt x="528" y="0"/>
                </a:cubicBezTo>
              </a:path>
            </a:pathLst>
          </a:custGeom>
          <a:noFill/>
          <a:ln w="38100">
            <a:solidFill>
              <a:srgbClr val="e17f3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Box 40"/>
          <p:cNvSpPr/>
          <p:nvPr/>
        </p:nvSpPr>
        <p:spPr>
          <a:xfrm>
            <a:off x="-18720" y="1713240"/>
            <a:ext cx="182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accent3"/>
                </a:solidFill>
                <a:latin typeface="Rockwell"/>
                <a:ea typeface="MS PGothic"/>
              </a:rPr>
              <a:t>&lt;whitespace&gt;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 Functional Process Sketch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processChars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processes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 sequence of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characters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getChar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gets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next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input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character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and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assigns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it to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nextChar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addChar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puts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nextChar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into the place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where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lexeme/token is being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accumulated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lexeme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addToken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adds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new token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to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list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of tokens.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Repeat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until reaching the end of the file.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Now, </a:t>
            </a:r>
            <a:r>
              <a:rPr b="0" i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construct DFA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that shows usage of these functions.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Straight Arrow Connector 59"/>
          <p:cNvCxnSpPr/>
          <p:nvPr/>
        </p:nvCxnSpPr>
        <p:spPr>
          <a:xfrm>
            <a:off x="7614360" y="3158640"/>
            <a:ext cx="100404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processChars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262" name="Oval 3"/>
              <p:cNvSpPr txBox="1"/>
              <p:nvPr/>
            </p:nvSpPr>
            <p:spPr>
              <a:xfrm>
                <a:off x="1147680" y="2805120"/>
                <a:ext cx="685440" cy="685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𝑞</m:t>
                        </m:r>
                      </m:e>
                      <m:sub>
                        <m:r>
                          <m:t xml:space="preserve">0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p:cxnSp>
        <p:nvCxnSpPr>
          <p:cNvPr id="263" name="Straight Arrow Connector 11"/>
          <p:cNvCxnSpPr/>
          <p:nvPr/>
        </p:nvCxnSpPr>
        <p:spPr>
          <a:xfrm flipV="1">
            <a:off x="1490400" y="2151360"/>
            <a:ext cx="360" cy="66348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cxnSp>
        <p:nvCxnSpPr>
          <p:cNvPr id="264" name="Straight Arrow Connector 12"/>
          <p:cNvCxnSpPr/>
          <p:nvPr/>
        </p:nvCxnSpPr>
        <p:spPr>
          <a:xfrm>
            <a:off x="4789080" y="2140920"/>
            <a:ext cx="2487600" cy="3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265" name="TextBox 14"/>
          <p:cNvSpPr/>
          <p:nvPr/>
        </p:nvSpPr>
        <p:spPr>
          <a:xfrm>
            <a:off x="5231880" y="730440"/>
            <a:ext cx="19173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Letter | Digit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6" name="Freeform 17"/>
          <p:cNvSpPr/>
          <p:nvPr/>
        </p:nvSpPr>
        <p:spPr>
          <a:xfrm rot="12598800">
            <a:off x="4564800" y="2913840"/>
            <a:ext cx="1036440" cy="1062360"/>
          </a:xfrm>
          <a:custGeom>
            <a:avLst/>
            <a:gdLst>
              <a:gd name="textAreaLeft" fmla="*/ 0 w 1036440"/>
              <a:gd name="textAreaRight" fmla="*/ 1036800 w 1036440"/>
              <a:gd name="textAreaTop" fmla="*/ 0 h 1062360"/>
              <a:gd name="textAreaBottom" fmla="*/ 1062720 h 1062360"/>
            </a:gdLst>
            <a:ahLst/>
            <a:rect l="textAreaLeft" t="textAreaTop" r="textAreaRight" b="textAreaBottom"/>
            <a:pathLst>
              <a:path w="752" h="632">
                <a:moveTo>
                  <a:pt x="384" y="0"/>
                </a:moveTo>
                <a:cubicBezTo>
                  <a:pt x="192" y="120"/>
                  <a:pt x="0" y="240"/>
                  <a:pt x="48" y="336"/>
                </a:cubicBezTo>
                <a:cubicBezTo>
                  <a:pt x="96" y="432"/>
                  <a:pt x="592" y="632"/>
                  <a:pt x="672" y="576"/>
                </a:cubicBezTo>
                <a:cubicBezTo>
                  <a:pt x="752" y="520"/>
                  <a:pt x="552" y="96"/>
                  <a:pt x="528" y="0"/>
                </a:cubicBezTo>
              </a:path>
            </a:pathLst>
          </a:custGeom>
          <a:noFill/>
          <a:ln w="2540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cxnSp>
        <p:nvCxnSpPr>
          <p:cNvPr id="267" name="Straight Arrow Connector 20"/>
          <p:cNvCxnSpPr>
            <a:endCxn id="268" idx="2"/>
          </p:cNvCxnSpPr>
          <p:nvPr/>
        </p:nvCxnSpPr>
        <p:spPr>
          <a:xfrm flipV="1">
            <a:off x="1490400" y="2148480"/>
            <a:ext cx="2611440" cy="900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269" name="TextBox 22"/>
          <p:cNvSpPr/>
          <p:nvPr/>
        </p:nvSpPr>
        <p:spPr>
          <a:xfrm>
            <a:off x="1872360" y="2152800"/>
            <a:ext cx="12693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addChar;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getChar;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8" name="Oval 4"/>
          <p:cNvSpPr/>
          <p:nvPr/>
        </p:nvSpPr>
        <p:spPr>
          <a:xfrm>
            <a:off x="4101480" y="1805760"/>
            <a:ext cx="685440" cy="68544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ckwell"/>
                <a:ea typeface="MS PGothic"/>
              </a:rPr>
              <a:t>id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0" name="Oval 4"/>
          <p:cNvSpPr/>
          <p:nvPr/>
        </p:nvSpPr>
        <p:spPr>
          <a:xfrm>
            <a:off x="4135680" y="3779280"/>
            <a:ext cx="685440" cy="68544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ckwell"/>
                <a:ea typeface="MS PGothic"/>
              </a:rPr>
              <a:t>int</a:t>
            </a:r>
            <a:endParaRPr b="0" lang="en-US" sz="2200" spc="-1" strike="noStrike">
              <a:latin typeface="Arial"/>
            </a:endParaRPr>
          </a:p>
        </p:txBody>
      </p:sp>
      <p:cxnSp>
        <p:nvCxnSpPr>
          <p:cNvPr id="271" name="Straight Arrow Connector 26"/>
          <p:cNvCxnSpPr/>
          <p:nvPr/>
        </p:nvCxnSpPr>
        <p:spPr>
          <a:xfrm flipV="1">
            <a:off x="1490400" y="3475440"/>
            <a:ext cx="360" cy="66384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cxnSp>
        <p:nvCxnSpPr>
          <p:cNvPr id="272" name="Straight Arrow Connector 27"/>
          <p:cNvCxnSpPr/>
          <p:nvPr/>
        </p:nvCxnSpPr>
        <p:spPr>
          <a:xfrm>
            <a:off x="1485720" y="4122000"/>
            <a:ext cx="265212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273" name="TextBox 28"/>
          <p:cNvSpPr/>
          <p:nvPr/>
        </p:nvSpPr>
        <p:spPr>
          <a:xfrm>
            <a:off x="1872360" y="3479760"/>
            <a:ext cx="12693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addChar;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getChar;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4" name="TextBox 30"/>
          <p:cNvSpPr/>
          <p:nvPr/>
        </p:nvSpPr>
        <p:spPr>
          <a:xfrm>
            <a:off x="1924920" y="4155120"/>
            <a:ext cx="11070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Digit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5" name="Freeform 17"/>
          <p:cNvSpPr/>
          <p:nvPr/>
        </p:nvSpPr>
        <p:spPr>
          <a:xfrm rot="12669600">
            <a:off x="4548600" y="952560"/>
            <a:ext cx="1036440" cy="1062360"/>
          </a:xfrm>
          <a:custGeom>
            <a:avLst/>
            <a:gdLst>
              <a:gd name="textAreaLeft" fmla="*/ 0 w 1036440"/>
              <a:gd name="textAreaRight" fmla="*/ 1036800 w 1036440"/>
              <a:gd name="textAreaTop" fmla="*/ 0 h 1062360"/>
              <a:gd name="textAreaBottom" fmla="*/ 1062720 h 1062360"/>
            </a:gdLst>
            <a:ahLst/>
            <a:rect l="textAreaLeft" t="textAreaTop" r="textAreaRight" b="textAreaBottom"/>
            <a:pathLst>
              <a:path w="752" h="632">
                <a:moveTo>
                  <a:pt x="384" y="0"/>
                </a:moveTo>
                <a:cubicBezTo>
                  <a:pt x="192" y="120"/>
                  <a:pt x="0" y="240"/>
                  <a:pt x="48" y="336"/>
                </a:cubicBezTo>
                <a:cubicBezTo>
                  <a:pt x="96" y="432"/>
                  <a:pt x="592" y="632"/>
                  <a:pt x="672" y="576"/>
                </a:cubicBezTo>
                <a:cubicBezTo>
                  <a:pt x="752" y="520"/>
                  <a:pt x="552" y="96"/>
                  <a:pt x="528" y="0"/>
                </a:cubicBezTo>
              </a:path>
            </a:pathLst>
          </a:custGeom>
          <a:noFill/>
          <a:ln w="2540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Box 32"/>
          <p:cNvSpPr/>
          <p:nvPr/>
        </p:nvSpPr>
        <p:spPr>
          <a:xfrm>
            <a:off x="3510000" y="950400"/>
            <a:ext cx="12693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addChar;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getChar;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7" name="TextBox 33"/>
          <p:cNvSpPr/>
          <p:nvPr/>
        </p:nvSpPr>
        <p:spPr>
          <a:xfrm>
            <a:off x="1924920" y="1712880"/>
            <a:ext cx="11070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Letter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8" name="TextBox 36"/>
          <p:cNvSpPr/>
          <p:nvPr/>
        </p:nvSpPr>
        <p:spPr>
          <a:xfrm>
            <a:off x="3517920" y="2877480"/>
            <a:ext cx="12693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addChar;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getChar;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9" name="TextBox 37"/>
          <p:cNvSpPr/>
          <p:nvPr/>
        </p:nvSpPr>
        <p:spPr>
          <a:xfrm>
            <a:off x="5293440" y="2827080"/>
            <a:ext cx="92988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Digit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0" name="TextBox 40"/>
          <p:cNvSpPr/>
          <p:nvPr/>
        </p:nvSpPr>
        <p:spPr>
          <a:xfrm>
            <a:off x="5432040" y="1705320"/>
            <a:ext cx="17514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id boundary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1" name="Oval 4"/>
          <p:cNvSpPr/>
          <p:nvPr/>
        </p:nvSpPr>
        <p:spPr>
          <a:xfrm>
            <a:off x="6928920" y="2805480"/>
            <a:ext cx="685440" cy="68544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token</a:t>
            </a:r>
            <a:endParaRPr b="0" lang="en-US" sz="1800" spc="-1" strike="noStrike">
              <a:latin typeface="Arial"/>
            </a:endParaRPr>
          </a:p>
        </p:txBody>
      </p:sp>
      <p:cxnSp>
        <p:nvCxnSpPr>
          <p:cNvPr id="282" name="Straight Arrow Connector 46"/>
          <p:cNvCxnSpPr/>
          <p:nvPr/>
        </p:nvCxnSpPr>
        <p:spPr>
          <a:xfrm>
            <a:off x="4838400" y="4113000"/>
            <a:ext cx="2441880" cy="3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cxnSp>
        <p:nvCxnSpPr>
          <p:cNvPr id="283" name="Straight Arrow Connector 47"/>
          <p:cNvCxnSpPr/>
          <p:nvPr/>
        </p:nvCxnSpPr>
        <p:spPr>
          <a:xfrm>
            <a:off x="7271640" y="2136960"/>
            <a:ext cx="360" cy="65880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284" name="Straight Arrow Connector 52"/>
          <p:cNvCxnSpPr>
            <a:endCxn id="281" idx="4"/>
          </p:cNvCxnSpPr>
          <p:nvPr/>
        </p:nvCxnSpPr>
        <p:spPr>
          <a:xfrm flipV="1">
            <a:off x="7271640" y="3490920"/>
            <a:ext cx="360" cy="62244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285" name="TextBox 57"/>
          <p:cNvSpPr/>
          <p:nvPr/>
        </p:nvSpPr>
        <p:spPr>
          <a:xfrm>
            <a:off x="5005440" y="4135680"/>
            <a:ext cx="190872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int boundary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6" name="TextBox 61"/>
          <p:cNvSpPr/>
          <p:nvPr/>
        </p:nvSpPr>
        <p:spPr>
          <a:xfrm>
            <a:off x="7582680" y="2754720"/>
            <a:ext cx="1473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c3e"/>
                </a:solidFill>
                <a:latin typeface="Consolas"/>
                <a:ea typeface="MS PGothic"/>
              </a:rPr>
              <a:t>addToken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7" name="TextBox 62"/>
          <p:cNvSpPr/>
          <p:nvPr/>
        </p:nvSpPr>
        <p:spPr>
          <a:xfrm>
            <a:off x="273600" y="2783880"/>
            <a:ext cx="938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chars</a:t>
            </a:r>
            <a:endParaRPr b="0" lang="en-US" sz="1800" spc="-1" strike="noStrike">
              <a:latin typeface="Arial"/>
            </a:endParaRPr>
          </a:p>
        </p:txBody>
      </p:sp>
      <p:cxnSp>
        <p:nvCxnSpPr>
          <p:cNvPr id="288" name="Straight Arrow Connector 63"/>
          <p:cNvCxnSpPr/>
          <p:nvPr/>
        </p:nvCxnSpPr>
        <p:spPr>
          <a:xfrm>
            <a:off x="366480" y="3171240"/>
            <a:ext cx="78156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289" name="TextBox 34"/>
          <p:cNvSpPr/>
          <p:nvPr/>
        </p:nvSpPr>
        <p:spPr>
          <a:xfrm>
            <a:off x="7754400" y="3257640"/>
            <a:ext cx="1092600" cy="363600"/>
          </a:xfrm>
          <a:prstGeom prst="rect">
            <a:avLst/>
          </a:prstGeom>
          <a:noFill/>
          <a:ln w="19050">
            <a:solidFill>
              <a:srgbClr val="000c3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c3e"/>
                </a:solidFill>
                <a:latin typeface="Consolas"/>
                <a:ea typeface="MS PGothic"/>
              </a:rPr>
              <a:t>repeat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Lexing Comments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Like whitespace, comments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might separate tokens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and are often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simply discarded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[ignored].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Pragmas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are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special comments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containing information useful to the compiler and other tools.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Hints to compiler | tools how for better code generation, turning run time checks on | off, and so on.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In Ada: 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unchecked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pragma turns off type checking.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201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OpenMP pragmas annotate C | C++ about generating parallel code.  Ignored by non-OpenMP aware compilers.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Lexing Comments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Similar to whitespace, comments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might separate tokens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and are often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simply discarded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[ignored].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Pragmas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are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special comments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containing information useful to the compiler and other tools.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If a language supports pragmas, then they must be handled, not ignored.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[Our project does not support pragmas.]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Reserved Words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Tokens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that follow the rules for identifiers but are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not allowed to be identifiers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Java Examples:  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class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int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public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instanceof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if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while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etc.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keyword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is a reserved word that has a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special meaning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in the program.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Java Example:  </a:t>
            </a:r>
            <a:r>
              <a:rPr b="0" lang="en-US" sz="2000" spc="-1" strike="noStrike">
                <a:solidFill>
                  <a:schemeClr val="accent1"/>
                </a:solidFill>
                <a:latin typeface="Consolas"/>
                <a:ea typeface="MS PGothic"/>
              </a:rPr>
              <a:t>goto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is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reserved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, but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not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 </a:t>
            </a: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ambria"/>
                <a:ea typeface="MS PGothic"/>
              </a:rPr>
              <a:t>keyword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In many languages, the set of keywords equals the reserved words.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Example:  Reserved Word </a:t>
            </a:r>
            <a:r>
              <a:rPr b="0" lang="en-US" sz="3600" spc="-1" strike="noStrike">
                <a:solidFill>
                  <a:schemeClr val="accent1"/>
                </a:solidFill>
                <a:latin typeface="Consolas"/>
                <a:ea typeface="MS PGothic"/>
              </a:rPr>
              <a:t>if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321300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Tokenize:  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ifa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One token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An </a:t>
            </a:r>
            <a:r>
              <a:rPr b="0" i="1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identifier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ifa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298" name="Content Placeholder 2"/>
          <p:cNvSpPr/>
          <p:nvPr/>
        </p:nvSpPr>
        <p:spPr>
          <a:xfrm>
            <a:off x="3540960" y="1361520"/>
            <a:ext cx="5400360" cy="35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Tokenize:  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if+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Two tokens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The </a:t>
            </a:r>
            <a:r>
              <a:rPr b="0" i="1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reserved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 word 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if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Followed by the </a:t>
            </a:r>
            <a:r>
              <a:rPr b="0" i="1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operator</a:t>
            </a:r>
            <a:r>
              <a:rPr b="0" lang="en-US" sz="2000" spc="-1" strike="noStrike">
                <a:solidFill>
                  <a:srgbClr val="000000"/>
                </a:solidFill>
                <a:latin typeface="Cambria"/>
                <a:ea typeface="MS PGothic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onsolas"/>
                <a:ea typeface="MS PGothic"/>
              </a:rPr>
              <a:t>+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Handling Reserved Words in a Lexer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Modifying the DFA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to account for reserved words: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Results in significant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complications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in the DFA.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Not feasible unless the DFA is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auto-generated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Easier approach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onsolas"/>
                <a:ea typeface="MS PGothic"/>
              </a:rPr>
              <a:t>Lexer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has a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list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of reserved words.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After an identifier has been recognized,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check list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2" marL="6858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Ok, since set of reserved words is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finite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and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fixed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at language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design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time.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2" marL="6858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Lucida Grande"/>
              <a:buChar char="↳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Can store in a way that allows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fast lookup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 [i.e., HashMap].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799"/>
              </a:spcBef>
              <a:buClr>
                <a:srgbClr val="e17f35"/>
              </a:buClr>
              <a:buSzPct val="75000"/>
              <a:buFont typeface="Wingdings" charset="2"/>
              <a:buChar char=""/>
            </a:pP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If a reserved word,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return appropriate token type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, otherwise </a:t>
            </a:r>
            <a:r>
              <a:rPr b="0" i="1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return identifier</a:t>
            </a:r>
            <a:r>
              <a:rPr b="0" lang="en-US" sz="18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18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 Functional Process Sketch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processChars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processes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 sequence of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characters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getChar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gets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next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input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character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and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assigns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it to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nextChar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addChar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puts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nextChar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into the place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where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lexeme/token is being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accumulated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lexeme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* </a:t>
            </a:r>
            <a:r>
              <a:rPr b="1" lang="en-US" sz="2000" spc="-1" strike="noStrike" u="sng">
                <a:solidFill>
                  <a:schemeClr val="accent3"/>
                </a:solidFill>
                <a:uFillTx/>
                <a:latin typeface="Cambria"/>
                <a:ea typeface="MS PGothic"/>
              </a:rPr>
              <a:t>lookup</a:t>
            </a:r>
            <a:r>
              <a:rPr b="0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:  determines whether </a:t>
            </a:r>
            <a:r>
              <a:rPr b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lexeme</a:t>
            </a:r>
            <a:r>
              <a:rPr b="0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 is a reserved word. *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addToken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adds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new token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to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list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of tokens.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Repeat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until reaching the end of the file.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Now,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construct DFA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that shows usage of these functions.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A Functional Process Sketch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327960" y="1361520"/>
            <a:ext cx="8488080" cy="3530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processChars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processes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 sequence of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characters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getChar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gets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next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input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character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and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assigns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it to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nextChar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addChar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puts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nextChar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into the place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where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lexeme/token is being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accumulated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 </a:t>
            </a:r>
            <a:r>
              <a:rPr b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lexeme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* </a:t>
            </a:r>
            <a:r>
              <a:rPr b="1" lang="en-US" sz="2000" spc="-1" strike="noStrike" u="sng">
                <a:solidFill>
                  <a:schemeClr val="accent3"/>
                </a:solidFill>
                <a:uFillTx/>
                <a:latin typeface="Cambria"/>
                <a:ea typeface="MS PGothic"/>
              </a:rPr>
              <a:t>lookup</a:t>
            </a:r>
            <a:r>
              <a:rPr b="0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:  determines whether </a:t>
            </a:r>
            <a:r>
              <a:rPr b="1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lexeme</a:t>
            </a:r>
            <a:r>
              <a:rPr b="0" lang="en-US" sz="2000" spc="-1" strike="noStrike">
                <a:solidFill>
                  <a:schemeClr val="accent3"/>
                </a:solidFill>
                <a:latin typeface="Cambria"/>
                <a:ea typeface="MS PGothic"/>
              </a:rPr>
              <a:t> is a reserved word. *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 u="sng">
                <a:solidFill>
                  <a:schemeClr val="accent1"/>
                </a:solidFill>
                <a:uFillTx/>
                <a:latin typeface="Consolas"/>
                <a:ea typeface="MS PGothic"/>
              </a:rPr>
              <a:t>addToken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: 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adds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new token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to the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list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of tokens.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marL="228600" indent="-228600">
              <a:lnSpc>
                <a:spcPct val="100000"/>
              </a:lnSpc>
              <a:spcBef>
                <a:spcPts val="799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Repeat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 until reaching the end of the file.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  <a:p>
            <a:pPr indent="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Now, </a:t>
            </a:r>
            <a:r>
              <a:rPr b="0" i="1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construct DFA </a:t>
            </a:r>
            <a:r>
              <a:rPr b="0" lang="en-US" sz="2000" spc="-1" strike="noStrike">
                <a:solidFill>
                  <a:schemeClr val="accent1"/>
                </a:solidFill>
                <a:latin typeface="Cambria"/>
                <a:ea typeface="MS PGothic"/>
              </a:rPr>
              <a:t>that shows usage of these functions.</a:t>
            </a:r>
            <a:endParaRPr b="0" lang="en-US" sz="2000" spc="-1" strike="noStrike">
              <a:solidFill>
                <a:schemeClr val="accent1"/>
              </a:solidFill>
              <a:latin typeface="Cambria"/>
            </a:endParaRPr>
          </a:p>
        </p:txBody>
      </p:sp>
      <p:sp>
        <p:nvSpPr>
          <p:cNvPr id="305" name="TextBox 3"/>
          <p:cNvSpPr/>
          <p:nvPr/>
        </p:nvSpPr>
        <p:spPr>
          <a:xfrm>
            <a:off x="438840" y="1659960"/>
            <a:ext cx="7968240" cy="1065240"/>
          </a:xfrm>
          <a:prstGeom prst="rect">
            <a:avLst/>
          </a:prstGeom>
          <a:solidFill>
            <a:srgbClr val="fffed6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 u="sng">
                <a:solidFill>
                  <a:srgbClr val="000000"/>
                </a:solidFill>
                <a:uFillTx/>
                <a:latin typeface="Rockwell"/>
                <a:ea typeface="MS PGothic"/>
              </a:rPr>
              <a:t>Our Project</a:t>
            </a:r>
            <a:r>
              <a:rPr b="0" lang="en-US" sz="2400" spc="-1" strike="noStrike">
                <a:solidFill>
                  <a:srgbClr val="000000"/>
                </a:solidFill>
                <a:latin typeface="Rockwell"/>
                <a:ea typeface="MS PGothic"/>
              </a:rPr>
              <a:t>:</a:t>
            </a:r>
            <a:endParaRPr b="0" lang="en-US" sz="2400" spc="-1" strike="noStrike">
              <a:latin typeface="Arial"/>
            </a:endParaRPr>
          </a:p>
          <a:p>
            <a:pPr marL="3474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accent3"/>
                </a:solidFill>
                <a:latin typeface="Rockwell"/>
                <a:ea typeface="MS PGothic"/>
              </a:rPr>
              <a:t>Will </a:t>
            </a:r>
            <a:r>
              <a:rPr b="1" lang="en-US" sz="2000" spc="-1" strike="noStrike">
                <a:solidFill>
                  <a:schemeClr val="accent3"/>
                </a:solidFill>
                <a:latin typeface="Rockwell"/>
                <a:ea typeface="MS PGothic"/>
              </a:rPr>
              <a:t>NOT</a:t>
            </a:r>
            <a:r>
              <a:rPr b="0" lang="en-US" sz="2000" spc="-1" strike="noStrike">
                <a:solidFill>
                  <a:schemeClr val="accent3"/>
                </a:solidFill>
                <a:latin typeface="Rockwell"/>
                <a:ea typeface="MS PGothic"/>
              </a:rPr>
              <a:t> address </a:t>
            </a:r>
            <a:r>
              <a:rPr b="0" i="1" lang="en-US" sz="2000" spc="-1" strike="noStrike">
                <a:solidFill>
                  <a:schemeClr val="accent3"/>
                </a:solidFill>
                <a:latin typeface="Rockwell"/>
                <a:ea typeface="MS PGothic"/>
              </a:rPr>
              <a:t>keyword</a:t>
            </a:r>
            <a:r>
              <a:rPr b="0" lang="en-US" sz="2000" spc="-1" strike="noStrike">
                <a:solidFill>
                  <a:schemeClr val="accent3"/>
                </a:solidFill>
                <a:latin typeface="Rockwell"/>
                <a:ea typeface="MS PGothic"/>
              </a:rPr>
              <a:t> </a:t>
            </a:r>
            <a:r>
              <a:rPr b="0" i="1" lang="en-US" sz="2000" spc="-1" strike="noStrike">
                <a:solidFill>
                  <a:schemeClr val="accent3"/>
                </a:solidFill>
                <a:latin typeface="Rockwell"/>
                <a:ea typeface="MS PGothic"/>
              </a:rPr>
              <a:t>lookup </a:t>
            </a:r>
            <a:r>
              <a:rPr b="0" lang="en-US" sz="2000" spc="-1" strike="noStrike">
                <a:solidFill>
                  <a:schemeClr val="accent3"/>
                </a:solidFill>
                <a:latin typeface="Rockwell"/>
                <a:ea typeface="MS PGothic"/>
              </a:rPr>
              <a:t>[identification] </a:t>
            </a:r>
            <a:r>
              <a:rPr b="0" i="1" lang="en-US" sz="2000" spc="-1" strike="noStrike">
                <a:solidFill>
                  <a:schemeClr val="accent3"/>
                </a:solidFill>
                <a:latin typeface="Rockwell"/>
                <a:ea typeface="MS PGothic"/>
              </a:rPr>
              <a:t>in the Lexer</a:t>
            </a:r>
            <a:r>
              <a:rPr b="0" lang="en-US" sz="2000" spc="-1" strike="noStrike">
                <a:solidFill>
                  <a:schemeClr val="accent3"/>
                </a:solidFill>
                <a:latin typeface="Rockwell"/>
                <a:ea typeface="MS PGothic"/>
              </a:rPr>
              <a:t>.</a:t>
            </a:r>
            <a:endParaRPr b="0" lang="en-US" sz="2000" spc="-1" strike="noStrike">
              <a:latin typeface="Arial"/>
            </a:endParaRPr>
          </a:p>
          <a:p>
            <a:pPr marL="347400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1f4aff"/>
                </a:solidFill>
                <a:latin typeface="Rockwell"/>
                <a:ea typeface="MS PGothic"/>
              </a:rPr>
              <a:t>Instead, we will handle </a:t>
            </a:r>
            <a:r>
              <a:rPr b="1" lang="en-US" sz="2000" spc="-1" strike="noStrike" u="sng">
                <a:solidFill>
                  <a:srgbClr val="1f4aff"/>
                </a:solidFill>
                <a:uFillTx/>
                <a:latin typeface="Rockwell"/>
                <a:ea typeface="MS PGothic"/>
              </a:rPr>
              <a:t>keywords</a:t>
            </a:r>
            <a:r>
              <a:rPr b="0" lang="en-US" sz="2000" spc="-1" strike="noStrike">
                <a:solidFill>
                  <a:srgbClr val="1f4aff"/>
                </a:solidFill>
                <a:latin typeface="Rockwell"/>
                <a:ea typeface="MS PGothic"/>
              </a:rPr>
              <a:t> during the </a:t>
            </a:r>
            <a:r>
              <a:rPr b="1" lang="en-US" sz="2000" spc="-1" strike="noStrike" u="sng">
                <a:solidFill>
                  <a:srgbClr val="1f4aff"/>
                </a:solidFill>
                <a:uFillTx/>
                <a:latin typeface="Rockwell"/>
                <a:ea typeface="MS PGothic"/>
              </a:rPr>
              <a:t>Analyzer</a:t>
            </a:r>
            <a:r>
              <a:rPr b="0" lang="en-US" sz="2000" spc="-1" strike="noStrike">
                <a:solidFill>
                  <a:srgbClr val="1f4aff"/>
                </a:solidFill>
                <a:latin typeface="Rockwell"/>
                <a:ea typeface="MS PGothic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327960" y="524520"/>
            <a:ext cx="82900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Arial"/>
                <a:ea typeface="MS PGothic"/>
              </a:rPr>
              <a:t>processChars</a:t>
            </a:r>
            <a:endParaRPr b="0" lang="en-US" sz="3600" spc="-1" strike="noStrike">
              <a:solidFill>
                <a:srgbClr val="000000"/>
              </a:solidFill>
              <a:latin typeface="Rockwel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07" name="Oval 3"/>
              <p:cNvSpPr txBox="1"/>
              <p:nvPr/>
            </p:nvSpPr>
            <p:spPr>
              <a:xfrm>
                <a:off x="1147680" y="2805120"/>
                <a:ext cx="685440" cy="685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𝑞</m:t>
                        </m:r>
                      </m:e>
                      <m:sub>
                        <m:r>
                          <m:t xml:space="preserve">0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p:cxnSp>
        <p:nvCxnSpPr>
          <p:cNvPr id="308" name="Straight Arrow Connector 11"/>
          <p:cNvCxnSpPr/>
          <p:nvPr/>
        </p:nvCxnSpPr>
        <p:spPr>
          <a:xfrm flipV="1">
            <a:off x="1490400" y="2151360"/>
            <a:ext cx="360" cy="66348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cxnSp>
        <p:nvCxnSpPr>
          <p:cNvPr id="309" name="Straight Arrow Connector 12"/>
          <p:cNvCxnSpPr/>
          <p:nvPr/>
        </p:nvCxnSpPr>
        <p:spPr>
          <a:xfrm>
            <a:off x="4789080" y="2140920"/>
            <a:ext cx="2487600" cy="3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sp>
        <p:nvSpPr>
          <p:cNvPr id="310" name="TextBox 14"/>
          <p:cNvSpPr/>
          <p:nvPr/>
        </p:nvSpPr>
        <p:spPr>
          <a:xfrm>
            <a:off x="5231880" y="730440"/>
            <a:ext cx="19173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Letter | Digit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11" name="Freeform 17"/>
          <p:cNvSpPr/>
          <p:nvPr/>
        </p:nvSpPr>
        <p:spPr>
          <a:xfrm rot="12598800">
            <a:off x="4564800" y="2913840"/>
            <a:ext cx="1036440" cy="1062360"/>
          </a:xfrm>
          <a:custGeom>
            <a:avLst/>
            <a:gdLst>
              <a:gd name="textAreaLeft" fmla="*/ 0 w 1036440"/>
              <a:gd name="textAreaRight" fmla="*/ 1036800 w 1036440"/>
              <a:gd name="textAreaTop" fmla="*/ 0 h 1062360"/>
              <a:gd name="textAreaBottom" fmla="*/ 1062720 h 1062360"/>
            </a:gdLst>
            <a:ahLst/>
            <a:rect l="textAreaLeft" t="textAreaTop" r="textAreaRight" b="textAreaBottom"/>
            <a:pathLst>
              <a:path w="752" h="632">
                <a:moveTo>
                  <a:pt x="384" y="0"/>
                </a:moveTo>
                <a:cubicBezTo>
                  <a:pt x="192" y="120"/>
                  <a:pt x="0" y="240"/>
                  <a:pt x="48" y="336"/>
                </a:cubicBezTo>
                <a:cubicBezTo>
                  <a:pt x="96" y="432"/>
                  <a:pt x="592" y="632"/>
                  <a:pt x="672" y="576"/>
                </a:cubicBezTo>
                <a:cubicBezTo>
                  <a:pt x="752" y="520"/>
                  <a:pt x="552" y="96"/>
                  <a:pt x="528" y="0"/>
                </a:cubicBezTo>
              </a:path>
            </a:pathLst>
          </a:custGeom>
          <a:noFill/>
          <a:ln w="2540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cxnSp>
        <p:nvCxnSpPr>
          <p:cNvPr id="312" name="Straight Arrow Connector 20"/>
          <p:cNvCxnSpPr>
            <a:endCxn id="313" idx="2"/>
          </p:cNvCxnSpPr>
          <p:nvPr/>
        </p:nvCxnSpPr>
        <p:spPr>
          <a:xfrm flipV="1">
            <a:off x="1490400" y="2148480"/>
            <a:ext cx="2611440" cy="900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314" name="TextBox 22"/>
          <p:cNvSpPr/>
          <p:nvPr/>
        </p:nvSpPr>
        <p:spPr>
          <a:xfrm>
            <a:off x="1872360" y="2152800"/>
            <a:ext cx="12693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addChar;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getChar;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3" name="Oval 4"/>
          <p:cNvSpPr/>
          <p:nvPr/>
        </p:nvSpPr>
        <p:spPr>
          <a:xfrm>
            <a:off x="4101480" y="1805760"/>
            <a:ext cx="685440" cy="68544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ckwell"/>
                <a:ea typeface="MS PGothic"/>
              </a:rPr>
              <a:t>id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15" name="Oval 4"/>
          <p:cNvSpPr/>
          <p:nvPr/>
        </p:nvSpPr>
        <p:spPr>
          <a:xfrm>
            <a:off x="4135680" y="3779280"/>
            <a:ext cx="685440" cy="68544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ckwell"/>
                <a:ea typeface="MS PGothic"/>
              </a:rPr>
              <a:t>int</a:t>
            </a:r>
            <a:endParaRPr b="0" lang="en-US" sz="2200" spc="-1" strike="noStrike">
              <a:latin typeface="Arial"/>
            </a:endParaRPr>
          </a:p>
        </p:txBody>
      </p:sp>
      <p:cxnSp>
        <p:nvCxnSpPr>
          <p:cNvPr id="316" name="Straight Arrow Connector 26"/>
          <p:cNvCxnSpPr/>
          <p:nvPr/>
        </p:nvCxnSpPr>
        <p:spPr>
          <a:xfrm flipV="1">
            <a:off x="1490400" y="3475440"/>
            <a:ext cx="360" cy="66384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cxnSp>
        <p:nvCxnSpPr>
          <p:cNvPr id="317" name="Straight Arrow Connector 27"/>
          <p:cNvCxnSpPr/>
          <p:nvPr/>
        </p:nvCxnSpPr>
        <p:spPr>
          <a:xfrm>
            <a:off x="1485720" y="4122000"/>
            <a:ext cx="265212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318" name="TextBox 28"/>
          <p:cNvSpPr/>
          <p:nvPr/>
        </p:nvSpPr>
        <p:spPr>
          <a:xfrm>
            <a:off x="1872360" y="3479760"/>
            <a:ext cx="12693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addChar;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getChar;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9" name="TextBox 30"/>
          <p:cNvSpPr/>
          <p:nvPr/>
        </p:nvSpPr>
        <p:spPr>
          <a:xfrm>
            <a:off x="1924920" y="4155120"/>
            <a:ext cx="11070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Digit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20" name="Freeform 17"/>
          <p:cNvSpPr/>
          <p:nvPr/>
        </p:nvSpPr>
        <p:spPr>
          <a:xfrm rot="12669600">
            <a:off x="4548600" y="952560"/>
            <a:ext cx="1036440" cy="1062360"/>
          </a:xfrm>
          <a:custGeom>
            <a:avLst/>
            <a:gdLst>
              <a:gd name="textAreaLeft" fmla="*/ 0 w 1036440"/>
              <a:gd name="textAreaRight" fmla="*/ 1036800 w 1036440"/>
              <a:gd name="textAreaTop" fmla="*/ 0 h 1062360"/>
              <a:gd name="textAreaBottom" fmla="*/ 1062720 h 1062360"/>
            </a:gdLst>
            <a:ahLst/>
            <a:rect l="textAreaLeft" t="textAreaTop" r="textAreaRight" b="textAreaBottom"/>
            <a:pathLst>
              <a:path w="752" h="632">
                <a:moveTo>
                  <a:pt x="384" y="0"/>
                </a:moveTo>
                <a:cubicBezTo>
                  <a:pt x="192" y="120"/>
                  <a:pt x="0" y="240"/>
                  <a:pt x="48" y="336"/>
                </a:cubicBezTo>
                <a:cubicBezTo>
                  <a:pt x="96" y="432"/>
                  <a:pt x="592" y="632"/>
                  <a:pt x="672" y="576"/>
                </a:cubicBezTo>
                <a:cubicBezTo>
                  <a:pt x="752" y="520"/>
                  <a:pt x="552" y="96"/>
                  <a:pt x="528" y="0"/>
                </a:cubicBezTo>
              </a:path>
            </a:pathLst>
          </a:custGeom>
          <a:noFill/>
          <a:ln w="25400">
            <a:solidFill>
              <a:srgbClr val="000000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Box 32"/>
          <p:cNvSpPr/>
          <p:nvPr/>
        </p:nvSpPr>
        <p:spPr>
          <a:xfrm>
            <a:off x="3510000" y="950400"/>
            <a:ext cx="12693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addChar;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getChar;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2" name="TextBox 33"/>
          <p:cNvSpPr/>
          <p:nvPr/>
        </p:nvSpPr>
        <p:spPr>
          <a:xfrm>
            <a:off x="1924920" y="1712880"/>
            <a:ext cx="11070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Letter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23" name="TextBox 36"/>
          <p:cNvSpPr/>
          <p:nvPr/>
        </p:nvSpPr>
        <p:spPr>
          <a:xfrm>
            <a:off x="3517920" y="2877480"/>
            <a:ext cx="12693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addChar;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getChar;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4" name="TextBox 37"/>
          <p:cNvSpPr/>
          <p:nvPr/>
        </p:nvSpPr>
        <p:spPr>
          <a:xfrm>
            <a:off x="5293440" y="2827080"/>
            <a:ext cx="92988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Digit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25" name="TextBox 40"/>
          <p:cNvSpPr/>
          <p:nvPr/>
        </p:nvSpPr>
        <p:spPr>
          <a:xfrm>
            <a:off x="5432040" y="1705320"/>
            <a:ext cx="17514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id boundary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26" name="TextBox 41"/>
          <p:cNvSpPr/>
          <p:nvPr/>
        </p:nvSpPr>
        <p:spPr>
          <a:xfrm>
            <a:off x="5589000" y="2194200"/>
            <a:ext cx="1269360" cy="363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000c3e">
                <a:lumMod val="50000"/>
                <a:lumOff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4aff"/>
                </a:solidFill>
                <a:latin typeface="Consolas"/>
                <a:ea typeface="MS PGothic"/>
              </a:rPr>
              <a:t>lookup;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7" name="Oval 4"/>
          <p:cNvSpPr/>
          <p:nvPr/>
        </p:nvSpPr>
        <p:spPr>
          <a:xfrm>
            <a:off x="6928920" y="2805480"/>
            <a:ext cx="685440" cy="685440"/>
          </a:xfrm>
          <a:prstGeom prst="ellipse">
            <a:avLst/>
          </a:prstGeom>
          <a:solidFill>
            <a:schemeClr val="accent1"/>
          </a:solidFill>
          <a:ln w="571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Rockwell"/>
                <a:ea typeface="MS PGothic"/>
              </a:rPr>
              <a:t>token</a:t>
            </a:r>
            <a:endParaRPr b="0" lang="en-US" sz="1800" spc="-1" strike="noStrike">
              <a:latin typeface="Arial"/>
            </a:endParaRPr>
          </a:p>
        </p:txBody>
      </p:sp>
      <p:cxnSp>
        <p:nvCxnSpPr>
          <p:cNvPr id="328" name="Straight Arrow Connector 46"/>
          <p:cNvCxnSpPr/>
          <p:nvPr/>
        </p:nvCxnSpPr>
        <p:spPr>
          <a:xfrm>
            <a:off x="4838400" y="4113000"/>
            <a:ext cx="2441880" cy="360"/>
          </a:xfrm>
          <a:prstGeom prst="straightConnector1">
            <a:avLst/>
          </a:prstGeom>
          <a:ln>
            <a:solidFill>
              <a:srgbClr val="000000"/>
            </a:solidFill>
            <a:round/>
          </a:ln>
        </p:spPr>
      </p:cxnSp>
      <p:cxnSp>
        <p:nvCxnSpPr>
          <p:cNvPr id="329" name="Straight Arrow Connector 47"/>
          <p:cNvCxnSpPr/>
          <p:nvPr/>
        </p:nvCxnSpPr>
        <p:spPr>
          <a:xfrm>
            <a:off x="7271640" y="2136960"/>
            <a:ext cx="360" cy="65880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cxnSp>
        <p:nvCxnSpPr>
          <p:cNvPr id="330" name="Straight Arrow Connector 52"/>
          <p:cNvCxnSpPr>
            <a:endCxn id="327" idx="4"/>
          </p:cNvCxnSpPr>
          <p:nvPr/>
        </p:nvCxnSpPr>
        <p:spPr>
          <a:xfrm flipV="1">
            <a:off x="7271640" y="3491280"/>
            <a:ext cx="360" cy="62208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331" name="TextBox 57"/>
          <p:cNvSpPr/>
          <p:nvPr/>
        </p:nvSpPr>
        <p:spPr>
          <a:xfrm>
            <a:off x="5005440" y="4135680"/>
            <a:ext cx="190872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i="1" lang="en-US" sz="2200" spc="-1" strike="noStrike">
                <a:solidFill>
                  <a:srgbClr val="000000"/>
                </a:solidFill>
                <a:latin typeface="Rockwell"/>
                <a:ea typeface="MS PGothic"/>
              </a:rPr>
              <a:t>int boundary</a:t>
            </a:r>
            <a:endParaRPr b="0" lang="en-US" sz="2200" spc="-1" strike="noStrike">
              <a:latin typeface="Arial"/>
            </a:endParaRPr>
          </a:p>
        </p:txBody>
      </p:sp>
      <p:cxnSp>
        <p:nvCxnSpPr>
          <p:cNvPr id="332" name="Straight Arrow Connector 59"/>
          <p:cNvCxnSpPr/>
          <p:nvPr/>
        </p:nvCxnSpPr>
        <p:spPr>
          <a:xfrm>
            <a:off x="7614360" y="3158640"/>
            <a:ext cx="100404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333" name="TextBox 61"/>
          <p:cNvSpPr/>
          <p:nvPr/>
        </p:nvSpPr>
        <p:spPr>
          <a:xfrm>
            <a:off x="7582680" y="2754720"/>
            <a:ext cx="14734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c3e"/>
                </a:solidFill>
                <a:latin typeface="Consolas"/>
                <a:ea typeface="MS PGothic"/>
              </a:rPr>
              <a:t>addToken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4" name="TextBox 62"/>
          <p:cNvSpPr/>
          <p:nvPr/>
        </p:nvSpPr>
        <p:spPr>
          <a:xfrm>
            <a:off x="273600" y="2783880"/>
            <a:ext cx="938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chars</a:t>
            </a:r>
            <a:endParaRPr b="0" lang="en-US" sz="1800" spc="-1" strike="noStrike">
              <a:latin typeface="Arial"/>
            </a:endParaRPr>
          </a:p>
        </p:txBody>
      </p:sp>
      <p:cxnSp>
        <p:nvCxnSpPr>
          <p:cNvPr id="335" name="Straight Arrow Connector 63"/>
          <p:cNvCxnSpPr/>
          <p:nvPr/>
        </p:nvCxnSpPr>
        <p:spPr>
          <a:xfrm>
            <a:off x="366480" y="3171240"/>
            <a:ext cx="781560" cy="360"/>
          </a:xfrm>
          <a:prstGeom prst="straightConnector1">
            <a:avLst/>
          </a:prstGeom>
          <a:ln>
            <a:solidFill>
              <a:srgbClr val="000000"/>
            </a:solidFill>
            <a:round/>
            <a:tailEnd len="med" type="arrow" w="med"/>
          </a:ln>
        </p:spPr>
      </p:cxnSp>
      <p:sp>
        <p:nvSpPr>
          <p:cNvPr id="336" name="TextBox 38"/>
          <p:cNvSpPr/>
          <p:nvPr/>
        </p:nvSpPr>
        <p:spPr>
          <a:xfrm>
            <a:off x="7754400" y="3257640"/>
            <a:ext cx="1092600" cy="363600"/>
          </a:xfrm>
          <a:prstGeom prst="rect">
            <a:avLst/>
          </a:prstGeom>
          <a:noFill/>
          <a:ln w="190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MS PGothic"/>
              </a:rPr>
              <a:t>repeat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PNE Theme Slide Deck</Template>
  <TotalTime>14377</TotalTime>
  <Application>LibreOffice/7.4.1.2$Linux_X86_64 LibreOffice_project/40$Build-2</Application>
  <AppVersion>15.0000</AppVersion>
  <Words>2962</Words>
  <Paragraphs>473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2018-12-09T21:35:01Z</dcterms:created>
  <dc:creator>Taylor, Curtis</dc:creator>
  <dc:description/>
  <dc:language>en-US</dc:language>
  <cp:lastModifiedBy/>
  <cp:lastPrinted>2018-12-14T17:35:19Z</cp:lastPrinted>
  <dcterms:modified xsi:type="dcterms:W3CDTF">2022-10-06T16:00:26Z</dcterms:modified>
  <cp:revision>161</cp:revision>
  <dc:subject/>
  <dc:title>Commitment to Diversity and Inclusion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46</vt:i4>
  </property>
</Properties>
</file>